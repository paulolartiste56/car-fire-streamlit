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Notre usine a été détruite en TP : le réacteur a explosé. Notre rôle a changé : nous sommes maintenant responsables de la sécurisation. Objectif de la soutenance : montrer comment on passe d'une usine à SL 0 — sans aucune défense — à une usine qui résiste au profil d'attaquant qu'on a nous-mêmes incarné, et qui survit à un incident. Fil rouge : de l'explosion à la maîtrise.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détaille la chaîne d'attaque qu'on a réellement exécutée. Point clé pour le jury : à aucun moment on n'a exploité une faille logicielle inédite. Tout repose sur l'absence de contrôles. L'étape 1 est physique — c'est là qu'on récupère les mots de passe. L'étape 5 est le coup fatal : une seule ligne, pressure_sp := 65535, sature la consigne de pression et empêche la vanne de purge de s'ouvrir. Chaque étape correspondra à une vulnérabilité et donc à un correctif.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qu'on a trouvée. Deux sous-réseaux — bureautique/DMZ à gauche, procédé/ICS à droite — séparés par un routeur qui contient une règle 'tout autoriser' laissée en production. Le protocole de commande, Modbus, circule en clair sans authentification. Toutes les interfaces d'admin sont en HTTP. Et un réseau d'administration relie tout le monde en contournant le pare-feu. Résultat : SL 0, aucune défense.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retenu 13 vulnérabilités. Ici les 6 qui portent la chaîne d'attaque. Le message : chaque étape de notre attaque correspond exactement à une vulnérabilité, et donc à un correctif ciblé. En rouge le critique, en orange le majeur. Chacune est rattachée à une exigence système de l'IEC 62443-3-3, la colonne SR. Les 7 autres sont structurelles — la plus grave étant l'absence totale de barrière de sécurité physique indépendante.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on priorise ? Avec les Security Levels de l'IEC 62443. On qualifie d'abord l'attaquant. Le nôtre, au TP, correspond pile à la définition du SL 2 : intentionnel, moyens faibles, compétences génériques. L'usine, elle, est à SL 0. Donc l'écart minimum à combler partout, c'est SL 0 → SL 2. Et sur la zone qui commande directement le réacteur, on vise SL 3, parce que les conséquences sont physiques. C'est cet écart, pondéré par l'effet sur la chaîne d'attaque, qui donne l'ordre des correctifs.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cible applique le modèle Purdue et le découpage en zones et conduits de l'IEC 62443. Cinq niveaux, chacun avec son niveau de sécurité cible. Deux idées fortes. Un : chaque conduit n'autorise qu'une liste explicite de flux, tout le reste est refusé ET journalisé. Le pare-feu entre l'IHM et l'automate ne fait plus que passer/bloquer : il inspecte le Modbus, n'autorise que les bons codes fonction, et borne les valeurs de consigne — ce qui aurait bloqué notre pressure_sp := 65535. Deux : la barrière SIL 2 est volontairement HORS du réseau. Même si l'automate est entièrement compromis, elle met le réacteur en sécurité. On réintroduit une sûreté physique que le numérique ne peut plus annuler.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correctifs sont regroupés en trois lots, classés par priorité. Le lot 0, en deux semaines, coupe la chaîne d'attaque : il ferme le pare-feu, supprime les mots de passe par défaut, allume la détection. Le lot 1 consolide le SL 2. Le lot 2 est structurel : recâblage, pare-feu industriel, barrière SIL 2, et atteint le SL 3. La règle de priorisation : on traite d'abord ce qui rouvrirait immédiatement la porte qu'on a empruntée au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lecture économique. Le programme complet coûte 222 570 €. Mais attention : 87 750 € là-dedans ne sont pas des dépenses de sécurité, c'est le coût de l'indisponibilité à 6 500 €/h. En adossant les travaux aux arrêts de maintenance déjà planifiés, on tombe à 134 820 €. En face : un seul incident comme celui du TP, c'est 72 heures d'arrêt, soit 468 000 € — hors dégâts matériels et humains. Le lot 0 se rembourse en moins de trois heures d'arrêt évité. La question pour la direction n'est pas 'faut-il dépenser', c'est 'accepte-t-on de rester exposé'.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usine ne se sécurise pas en l'arrêtant. Trois principes. Un : on valide tout hors ligne sur un jumeau numérique, et le pare-feu tourne 72 h en mode 'journalisation seule' pour repérer les flux légitimes oubliés avant de bloquer pour de vrai. Deux : on groupe les arrêts sur les fenêtres de maintenance existantes — c'est ce qui fait fondre le coût. Trois : jamais de déploiement sans point de retour. Et on pilote par indicateurs mesurables.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de contingence part d'un principe assumé : l'attaque réussira un jour. L'objectif n'est pas de l'empêcher absolument, mais de savoir la voir, l'arrêter, et redémarrer proprement. Quatre phases chronométrées, de la détection en moins de 15 minutes à la reprise en moins de 8 heures. Trois modes dégradés : le repli automatique par la barrière SIL 2, la conduite locale pour continuer à produire, et le respect des obligations NIS 2. La liste de contacts est sur papier — elle doit rester lisible quand le système d'information ne l'est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synthèse. L'usine partait vraiment de zéro, et c'est justement ce qui rend le redressement accessible. Pour 17 850 € et deux semaines, on coupe la chaîne d'attaque et on atteint le niveau qui correspond à l'attaquant qu'on a rencontré. Les lots suivants montent à SL 3 et surtout réintroduisent une sûreté physique. La question qu'on pose à la direction, c'est celle-ci : accepte-t-on de rester exposé à un arrêt de 468 000 € que quatre jours de travail rendent improbable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Nous sommes prêts pour vos questions. Nous avons anticipé notamment : pourquoi viser SL 3 et pas SL 4, la faisabilité réelle du chiffrement de Modbus, et l'impact d'un faux positif de l'IDS sur la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4796F"/>
          </a:solidFill>
          <a:ln/>
        </p:spPr>
      </p:sp>
      <p:sp>
        <p:nvSpPr>
          <p:cNvPr id="3" name="Text 1"/>
          <p:cNvSpPr txBox="1"/>
          <p:nvPr/>
        </p:nvSpPr>
        <p:spPr>
          <a:xfrm>
            <a:off x="640080" y="1371600"/>
            <a:ext cx="10972800" cy="365760"/>
          </a:xfrm>
          <a:prstGeom prst="rect">
            <a:avLst/>
          </a:prstGeom>
          <a:noFill/>
          <a:ln/>
        </p:spPr>
        <p:txBody>
          <a:bodyPr wrap="square" lIns="0" tIns="0" rIns="0" bIns="0" rtlCol="0" anchor="ctr"/>
          <a:lstStyle/>
          <a:p>
            <a:pPr indent="0" marL="0">
              <a:buNone/>
            </a:pPr>
            <a:r>
              <a:rPr lang="en-US" sz="1300" spc="200" kern="0" dirty="0">
                <a:solidFill>
                  <a:srgbClr val="6E7C87"/>
                </a:solidFill>
                <a:latin typeface="Calibri" pitchFamily="34" charset="0"/>
                <a:ea typeface="Calibri" pitchFamily="34" charset="-122"/>
                <a:cs typeface="Calibri" pitchFamily="34" charset="-120"/>
              </a:rPr>
              <a:t>ECAM 5N — PROMOTION 2027    ·    PROJET ENCADRÉ · CYBERSÉCURITÉ INDUSTRIELLE</a:t>
            </a:r>
            <a:endParaRPr lang="en-US" sz="1300" dirty="0"/>
          </a:p>
        </p:txBody>
      </p:sp>
      <p:sp>
        <p:nvSpPr>
          <p:cNvPr id="4" name="Text 2"/>
          <p:cNvSpPr txBox="1"/>
          <p:nvPr/>
        </p:nvSpPr>
        <p:spPr>
          <a:xfrm>
            <a:off x="640080" y="1920240"/>
            <a:ext cx="10972800" cy="2103120"/>
          </a:xfrm>
          <a:prstGeom prst="rect">
            <a:avLst/>
          </a:prstGeom>
          <a:noFill/>
          <a:ln/>
        </p:spPr>
        <p:txBody>
          <a:bodyPr wrap="square" lIns="0" tIns="0" rIns="0" bIns="0" rtlCol="0" anchor="t"/>
          <a:lstStyle/>
          <a:p>
            <a:pPr indent="0" marL="0">
              <a:lnSpc>
                <a:spcPct val="95000"/>
              </a:lnSpc>
              <a:buNone/>
            </a:pPr>
            <a:r>
              <a:rPr lang="en-US" sz="6000" b="1" dirty="0">
                <a:solidFill>
                  <a:srgbClr val="ECF1F5"/>
                </a:solidFill>
                <a:latin typeface="Cambria" pitchFamily="34" charset="0"/>
                <a:ea typeface="Cambria" pitchFamily="34" charset="-122"/>
                <a:cs typeface="Cambria" pitchFamily="34" charset="-120"/>
              </a:rPr>
              <a:t>De l'explosion
</a:t>
            </a:r>
            <a:pPr indent="0" marL="0">
              <a:lnSpc>
                <a:spcPct val="95000"/>
              </a:lnSpc>
              <a:buNone/>
            </a:pPr>
            <a:r>
              <a:rPr lang="en-US" sz="6000" b="1" dirty="0">
                <a:solidFill>
                  <a:srgbClr val="ECF1F5"/>
                </a:solidFill>
                <a:latin typeface="Cambria" pitchFamily="34" charset="0"/>
                <a:ea typeface="Cambria" pitchFamily="34" charset="-122"/>
                <a:cs typeface="Cambria" pitchFamily="34" charset="-120"/>
              </a:rPr>
              <a:t>au niveau </a:t>
            </a:r>
            <a:pPr indent="0" marL="0">
              <a:lnSpc>
                <a:spcPct val="95000"/>
              </a:lnSpc>
              <a:buNone/>
            </a:pPr>
            <a:r>
              <a:rPr lang="en-US" sz="6000" b="1" dirty="0">
                <a:solidFill>
                  <a:srgbClr val="5AA6DC"/>
                </a:solidFill>
                <a:latin typeface="Cambria" pitchFamily="34" charset="0"/>
                <a:ea typeface="Cambria" pitchFamily="34" charset="-122"/>
                <a:cs typeface="Cambria" pitchFamily="34" charset="-120"/>
              </a:rPr>
              <a:t>SL 3</a:t>
            </a:r>
            <a:endParaRPr lang="en-US" sz="6000" dirty="0"/>
          </a:p>
        </p:txBody>
      </p:sp>
      <p:sp>
        <p:nvSpPr>
          <p:cNvPr id="5" name="Text 3"/>
          <p:cNvSpPr txBox="1"/>
          <p:nvPr/>
        </p:nvSpPr>
        <p:spPr>
          <a:xfrm>
            <a:off x="640080" y="4297680"/>
            <a:ext cx="8686800" cy="822960"/>
          </a:xfrm>
          <a:prstGeom prst="rect">
            <a:avLst/>
          </a:prstGeom>
          <a:noFill/>
          <a:ln/>
        </p:spPr>
        <p:txBody>
          <a:bodyPr wrap="square" lIns="0" tIns="0" rIns="0" bIns="0" rtlCol="0" anchor="ctr"/>
          <a:lstStyle/>
          <a:p>
            <a:pPr indent="0" marL="0">
              <a:buNone/>
            </a:pPr>
            <a:r>
              <a:rPr lang="en-US" sz="1800" dirty="0">
                <a:solidFill>
                  <a:srgbClr val="9DABB6"/>
                </a:solidFill>
                <a:latin typeface="Calibri" pitchFamily="34" charset="0"/>
                <a:ea typeface="Calibri" pitchFamily="34" charset="-122"/>
                <a:cs typeface="Calibri" pitchFamily="34" charset="-120"/>
              </a:rPr>
              <a:t>Plan de sécurisation de l'usine GRFICS après le TP d'attaque : correctifs, architecture cible et plan de contingence.</a:t>
            </a:r>
            <a:endParaRPr lang="en-US" sz="1800" dirty="0"/>
          </a:p>
        </p:txBody>
      </p:sp>
      <p:sp>
        <p:nvSpPr>
          <p:cNvPr id="6" name="Text 4"/>
          <p:cNvSpPr txBox="1"/>
          <p:nvPr/>
        </p:nvSpPr>
        <p:spPr>
          <a:xfrm>
            <a:off x="640080" y="5394960"/>
            <a:ext cx="10972800" cy="365760"/>
          </a:xfrm>
          <a:prstGeom prst="rect">
            <a:avLst/>
          </a:prstGeom>
          <a:noFill/>
          <a:ln/>
        </p:spPr>
        <p:txBody>
          <a:bodyPr wrap="square" lIns="0" tIns="0" rIns="0" bIns="0" rtlCol="0" anchor="ctr"/>
          <a:lstStyle/>
          <a:p>
            <a:pPr indent="0" marL="0">
              <a:buNone/>
            </a:pPr>
            <a:r>
              <a:rPr lang="en-US" sz="1300" b="1" spc="100" kern="0" dirty="0">
                <a:solidFill>
                  <a:srgbClr val="9DABB6"/>
                </a:solidFill>
                <a:latin typeface="Calibri" pitchFamily="34" charset="0"/>
                <a:ea typeface="Calibri" pitchFamily="34" charset="-122"/>
                <a:cs typeface="Calibri" pitchFamily="34" charset="-120"/>
              </a:rPr>
              <a:t>Thiboult · Grot · Gledel · Idigov</a:t>
            </a:r>
            <a:pPr indent="0" marL="0">
              <a:buNone/>
            </a:pPr>
            <a:r>
              <a:rPr lang="en-US" sz="1300" spc="100" kern="0" dirty="0">
                <a:solidFill>
                  <a:srgbClr val="E4796F"/>
                </a:solidFill>
                <a:latin typeface="Calibri" pitchFamily="34" charset="0"/>
                <a:ea typeface="Calibri" pitchFamily="34" charset="-122"/>
                <a:cs typeface="Calibri" pitchFamily="34" charset="-120"/>
              </a:rPr>
              <a:t>      état final du TP : réacteur en explosion</a:t>
            </a:r>
            <a:endParaRPr lang="en-US" sz="1300" dirty="0"/>
          </a:p>
        </p:txBody>
      </p:sp>
      <p:sp>
        <p:nvSpPr>
          <p:cNvPr id="7" name="Text 5"/>
          <p:cNvSpPr txBox="1"/>
          <p:nvPr/>
        </p:nvSpPr>
        <p:spPr>
          <a:xfrm>
            <a:off x="640080" y="5989320"/>
            <a:ext cx="10972800" cy="274320"/>
          </a:xfrm>
          <a:prstGeom prst="rect">
            <a:avLst/>
          </a:prstGeom>
          <a:noFill/>
          <a:ln/>
        </p:spPr>
        <p:txBody>
          <a:bodyPr wrap="square" lIns="0" tIns="0" rIns="0" bIns="0" rtlCol="0" anchor="ctr"/>
          <a:lstStyle/>
          <a:p>
            <a:pPr indent="0" marL="0">
              <a:buNone/>
            </a:pPr>
            <a:r>
              <a:rPr lang="en-US" sz="1100" dirty="0">
                <a:solidFill>
                  <a:srgbClr val="6E7C87"/>
                </a:solidFill>
                <a:latin typeface="Calibri" pitchFamily="34" charset="0"/>
                <a:ea typeface="Calibri" pitchFamily="34" charset="-122"/>
                <a:cs typeface="Calibri" pitchFamily="34" charset="-120"/>
              </a:rPr>
              <a:t>Environnement d'étude : GRFICSv3 (Fortiphyd Logic) — réacteur chimique simulé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4796F"/>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E4796F"/>
                </a:solidFill>
                <a:latin typeface="Calibri" pitchFamily="34" charset="0"/>
                <a:ea typeface="Calibri" pitchFamily="34" charset="-122"/>
                <a:cs typeface="Calibri" pitchFamily="34" charset="-120"/>
              </a:rPr>
              <a:t>POINT DE DÉPART</a:t>
            </a:r>
            <a:pPr algn="l" indent="0" marL="0">
              <a:buNone/>
            </a:pPr>
            <a:r>
              <a:rPr lang="en-US" sz="1100" spc="200" kern="0" dirty="0">
                <a:solidFill>
                  <a:srgbClr val="6E7C87"/>
                </a:solidFill>
                <a:latin typeface="Calibri" pitchFamily="34" charset="0"/>
                <a:ea typeface="Calibri" pitchFamily="34" charset="-122"/>
                <a:cs typeface="Calibri" pitchFamily="34" charset="-120"/>
              </a:rPr>
              <a:t>   CE QUE NOUS AVONS RÉUSSI À FAIRE</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Cinq étapes, aucune faille exotique</a:t>
            </a:r>
            <a:endParaRPr lang="en-US" sz="3400" dirty="0"/>
          </a:p>
        </p:txBody>
      </p:sp>
      <p:sp>
        <p:nvSpPr>
          <p:cNvPr id="5" name="Shape 3"/>
          <p:cNvSpPr/>
          <p:nvPr/>
        </p:nvSpPr>
        <p:spPr>
          <a:xfrm>
            <a:off x="502920" y="1828800"/>
            <a:ext cx="11155680" cy="841248"/>
          </a:xfrm>
          <a:prstGeom prst="roundRect">
            <a:avLst>
              <a:gd name="adj" fmla="val 6522"/>
            </a:avLst>
          </a:prstGeom>
          <a:solidFill>
            <a:srgbClr val="1B242C"/>
          </a:solidFill>
          <a:ln w="12700">
            <a:solidFill>
              <a:srgbClr val="313D47"/>
            </a:solidFill>
            <a:prstDash val="solid"/>
          </a:ln>
        </p:spPr>
      </p:sp>
      <p:sp>
        <p:nvSpPr>
          <p:cNvPr id="6" name="Text 4"/>
          <p:cNvSpPr txBox="1"/>
          <p:nvPr/>
        </p:nvSpPr>
        <p:spPr>
          <a:xfrm>
            <a:off x="594360" y="1828800"/>
            <a:ext cx="731520" cy="841248"/>
          </a:xfrm>
          <a:prstGeom prst="rect">
            <a:avLst/>
          </a:prstGeom>
          <a:noFill/>
          <a:ln/>
        </p:spPr>
        <p:txBody>
          <a:bodyPr wrap="square" lIns="0" tIns="0" rIns="0" bIns="0" rtlCol="0" anchor="ctr"/>
          <a:lstStyle/>
          <a:p>
            <a:pPr algn="ctr" indent="0" marL="0">
              <a:buNone/>
            </a:pPr>
            <a:r>
              <a:rPr lang="en-US" sz="3000" b="1" dirty="0">
                <a:solidFill>
                  <a:srgbClr val="E4796F"/>
                </a:solidFill>
                <a:latin typeface="Cambria" pitchFamily="34" charset="0"/>
                <a:ea typeface="Cambria" pitchFamily="34" charset="-122"/>
                <a:cs typeface="Cambria" pitchFamily="34" charset="-120"/>
              </a:rPr>
              <a:t>1</a:t>
            </a:r>
            <a:endParaRPr lang="en-US" sz="3000" dirty="0"/>
          </a:p>
        </p:txBody>
      </p:sp>
      <p:sp>
        <p:nvSpPr>
          <p:cNvPr id="7" name="Text 5"/>
          <p:cNvSpPr txBox="1"/>
          <p:nvPr/>
        </p:nvSpPr>
        <p:spPr>
          <a:xfrm>
            <a:off x="1371600" y="1828800"/>
            <a:ext cx="10149840" cy="841248"/>
          </a:xfrm>
          <a:prstGeom prst="rect">
            <a:avLst/>
          </a:prstGeom>
          <a:noFill/>
          <a:ln/>
        </p:spPr>
        <p:txBody>
          <a:bodyPr wrap="square" lIns="508" tIns="508" rIns="508" bIns="508" rtlCol="0" anchor="ctr"/>
          <a:lstStyle/>
          <a:p>
            <a:pPr indent="0" marL="0">
              <a:buNone/>
            </a:pPr>
            <a:r>
              <a:rPr lang="en-US" sz="1450" dirty="0">
                <a:solidFill>
                  <a:srgbClr val="9DABB6"/>
                </a:solidFill>
                <a:latin typeface="Calibri" pitchFamily="34" charset="0"/>
                <a:ea typeface="Calibri" pitchFamily="34" charset="-122"/>
                <a:cs typeface="Calibri" pitchFamily="34" charset="-120"/>
              </a:rPr>
              <a:t>Reconnaissance physique — porte mal fermée, mots de passe dans une poubelle, armoire ouverte, IHM sans authentification. Mots de passe du routeur (post-it) et du poste d'ingénierie (rangée du clavier).</a:t>
            </a:r>
            <a:endParaRPr lang="en-US" sz="1450" dirty="0"/>
          </a:p>
        </p:txBody>
      </p:sp>
      <p:sp>
        <p:nvSpPr>
          <p:cNvPr id="8" name="Shape 6"/>
          <p:cNvSpPr/>
          <p:nvPr/>
        </p:nvSpPr>
        <p:spPr>
          <a:xfrm>
            <a:off x="502920" y="2779776"/>
            <a:ext cx="11155680" cy="841248"/>
          </a:xfrm>
          <a:prstGeom prst="roundRect">
            <a:avLst>
              <a:gd name="adj" fmla="val 6522"/>
            </a:avLst>
          </a:prstGeom>
          <a:solidFill>
            <a:srgbClr val="1B242C"/>
          </a:solidFill>
          <a:ln w="12700">
            <a:solidFill>
              <a:srgbClr val="313D47"/>
            </a:solidFill>
            <a:prstDash val="solid"/>
          </a:ln>
        </p:spPr>
      </p:sp>
      <p:sp>
        <p:nvSpPr>
          <p:cNvPr id="9" name="Text 7"/>
          <p:cNvSpPr txBox="1"/>
          <p:nvPr/>
        </p:nvSpPr>
        <p:spPr>
          <a:xfrm>
            <a:off x="594360" y="2779776"/>
            <a:ext cx="731520" cy="841248"/>
          </a:xfrm>
          <a:prstGeom prst="rect">
            <a:avLst/>
          </a:prstGeom>
          <a:noFill/>
          <a:ln/>
        </p:spPr>
        <p:txBody>
          <a:bodyPr wrap="square" lIns="0" tIns="0" rIns="0" bIns="0" rtlCol="0" anchor="ctr"/>
          <a:lstStyle/>
          <a:p>
            <a:pPr algn="ctr" indent="0" marL="0">
              <a:buNone/>
            </a:pPr>
            <a:r>
              <a:rPr lang="en-US" sz="3000" b="1" dirty="0">
                <a:solidFill>
                  <a:srgbClr val="E4796F"/>
                </a:solidFill>
                <a:latin typeface="Cambria" pitchFamily="34" charset="0"/>
                <a:ea typeface="Cambria" pitchFamily="34" charset="-122"/>
                <a:cs typeface="Cambria" pitchFamily="34" charset="-120"/>
              </a:rPr>
              <a:t>2</a:t>
            </a:r>
            <a:endParaRPr lang="en-US" sz="3000" dirty="0"/>
          </a:p>
        </p:txBody>
      </p:sp>
      <p:sp>
        <p:nvSpPr>
          <p:cNvPr id="10" name="Text 8"/>
          <p:cNvSpPr txBox="1"/>
          <p:nvPr/>
        </p:nvSpPr>
        <p:spPr>
          <a:xfrm>
            <a:off x="1371600" y="2779776"/>
            <a:ext cx="10149840" cy="841248"/>
          </a:xfrm>
          <a:prstGeom prst="rect">
            <a:avLst/>
          </a:prstGeom>
          <a:noFill/>
          <a:ln/>
        </p:spPr>
        <p:txBody>
          <a:bodyPr wrap="square" lIns="508" tIns="508" rIns="508" bIns="508" rtlCol="0" anchor="ctr"/>
          <a:lstStyle/>
          <a:p>
            <a:pPr indent="0" marL="0">
              <a:buNone/>
            </a:pPr>
            <a:r>
              <a:rPr lang="en-US" sz="1450" dirty="0">
                <a:solidFill>
                  <a:srgbClr val="9DABB6"/>
                </a:solidFill>
                <a:latin typeface="Calibri" pitchFamily="34" charset="0"/>
                <a:ea typeface="Calibri" pitchFamily="34" charset="-122"/>
                <a:cs typeface="Calibri" pitchFamily="34" charset="-120"/>
              </a:rPr>
              <a:t>Découverte réseau — depuis Kali 192.168.90.6, nmap trouve l'IHM en 90.107:8080 et le routeur.</a:t>
            </a:r>
            <a:endParaRPr lang="en-US" sz="1450" dirty="0"/>
          </a:p>
        </p:txBody>
      </p:sp>
      <p:sp>
        <p:nvSpPr>
          <p:cNvPr id="11" name="Shape 9"/>
          <p:cNvSpPr/>
          <p:nvPr/>
        </p:nvSpPr>
        <p:spPr>
          <a:xfrm>
            <a:off x="502920" y="3730752"/>
            <a:ext cx="11155680" cy="841248"/>
          </a:xfrm>
          <a:prstGeom prst="roundRect">
            <a:avLst>
              <a:gd name="adj" fmla="val 6522"/>
            </a:avLst>
          </a:prstGeom>
          <a:solidFill>
            <a:srgbClr val="1B242C"/>
          </a:solidFill>
          <a:ln w="12700">
            <a:solidFill>
              <a:srgbClr val="313D47"/>
            </a:solidFill>
            <a:prstDash val="solid"/>
          </a:ln>
        </p:spPr>
      </p:sp>
      <p:sp>
        <p:nvSpPr>
          <p:cNvPr id="12" name="Text 10"/>
          <p:cNvSpPr txBox="1"/>
          <p:nvPr/>
        </p:nvSpPr>
        <p:spPr>
          <a:xfrm>
            <a:off x="594360" y="3730752"/>
            <a:ext cx="731520" cy="841248"/>
          </a:xfrm>
          <a:prstGeom prst="rect">
            <a:avLst/>
          </a:prstGeom>
          <a:noFill/>
          <a:ln/>
        </p:spPr>
        <p:txBody>
          <a:bodyPr wrap="square" lIns="0" tIns="0" rIns="0" bIns="0" rtlCol="0" anchor="ctr"/>
          <a:lstStyle/>
          <a:p>
            <a:pPr algn="ctr" indent="0" marL="0">
              <a:buNone/>
            </a:pPr>
            <a:r>
              <a:rPr lang="en-US" sz="3000" b="1" dirty="0">
                <a:solidFill>
                  <a:srgbClr val="E4796F"/>
                </a:solidFill>
                <a:latin typeface="Cambria" pitchFamily="34" charset="0"/>
                <a:ea typeface="Cambria" pitchFamily="34" charset="-122"/>
                <a:cs typeface="Cambria" pitchFamily="34" charset="-120"/>
              </a:rPr>
              <a:t>3</a:t>
            </a:r>
            <a:endParaRPr lang="en-US" sz="3000" dirty="0"/>
          </a:p>
        </p:txBody>
      </p:sp>
      <p:sp>
        <p:nvSpPr>
          <p:cNvPr id="13" name="Text 11"/>
          <p:cNvSpPr txBox="1"/>
          <p:nvPr/>
        </p:nvSpPr>
        <p:spPr>
          <a:xfrm>
            <a:off x="1371600" y="3730752"/>
            <a:ext cx="10149840" cy="841248"/>
          </a:xfrm>
          <a:prstGeom prst="rect">
            <a:avLst/>
          </a:prstGeom>
          <a:noFill/>
          <a:ln/>
        </p:spPr>
        <p:txBody>
          <a:bodyPr wrap="square" lIns="508" tIns="508" rIns="508" bIns="508" rtlCol="0" anchor="ctr"/>
          <a:lstStyle/>
          <a:p>
            <a:pPr indent="0" marL="0">
              <a:buNone/>
            </a:pPr>
            <a:r>
              <a:rPr lang="en-US" sz="1450" dirty="0">
                <a:solidFill>
                  <a:srgbClr val="9DABB6"/>
                </a:solidFill>
                <a:latin typeface="Calibri" pitchFamily="34" charset="0"/>
                <a:ea typeface="Calibri" pitchFamily="34" charset="-122"/>
                <a:cs typeface="Calibri" pitchFamily="34" charset="-120"/>
              </a:rPr>
              <a:t>Homme du milieu — arpspoof entre l'IHM et l'automate ; Wireshark capture du Modbus EN CLAIR → le sous-réseau OT 192.168.95.x est révélé.</a:t>
            </a:r>
            <a:endParaRPr lang="en-US" sz="1450" dirty="0"/>
          </a:p>
        </p:txBody>
      </p:sp>
      <p:sp>
        <p:nvSpPr>
          <p:cNvPr id="14" name="Shape 12"/>
          <p:cNvSpPr/>
          <p:nvPr/>
        </p:nvSpPr>
        <p:spPr>
          <a:xfrm>
            <a:off x="502920" y="4681728"/>
            <a:ext cx="11155680" cy="841248"/>
          </a:xfrm>
          <a:prstGeom prst="roundRect">
            <a:avLst>
              <a:gd name="adj" fmla="val 6522"/>
            </a:avLst>
          </a:prstGeom>
          <a:solidFill>
            <a:srgbClr val="1B242C"/>
          </a:solidFill>
          <a:ln w="12700">
            <a:solidFill>
              <a:srgbClr val="313D47"/>
            </a:solidFill>
            <a:prstDash val="solid"/>
          </a:ln>
        </p:spPr>
      </p:sp>
      <p:sp>
        <p:nvSpPr>
          <p:cNvPr id="15" name="Text 13"/>
          <p:cNvSpPr txBox="1"/>
          <p:nvPr/>
        </p:nvSpPr>
        <p:spPr>
          <a:xfrm>
            <a:off x="594360" y="4681728"/>
            <a:ext cx="731520" cy="841248"/>
          </a:xfrm>
          <a:prstGeom prst="rect">
            <a:avLst/>
          </a:prstGeom>
          <a:noFill/>
          <a:ln/>
        </p:spPr>
        <p:txBody>
          <a:bodyPr wrap="square" lIns="0" tIns="0" rIns="0" bIns="0" rtlCol="0" anchor="ctr"/>
          <a:lstStyle/>
          <a:p>
            <a:pPr algn="ctr" indent="0" marL="0">
              <a:buNone/>
            </a:pPr>
            <a:r>
              <a:rPr lang="en-US" sz="3000" b="1" dirty="0">
                <a:solidFill>
                  <a:srgbClr val="E4796F"/>
                </a:solidFill>
                <a:latin typeface="Cambria" pitchFamily="34" charset="0"/>
                <a:ea typeface="Cambria" pitchFamily="34" charset="-122"/>
                <a:cs typeface="Cambria" pitchFamily="34" charset="-120"/>
              </a:rPr>
              <a:t>4</a:t>
            </a:r>
            <a:endParaRPr lang="en-US" sz="3000" dirty="0"/>
          </a:p>
        </p:txBody>
      </p:sp>
      <p:sp>
        <p:nvSpPr>
          <p:cNvPr id="16" name="Text 14"/>
          <p:cNvSpPr txBox="1"/>
          <p:nvPr/>
        </p:nvSpPr>
        <p:spPr>
          <a:xfrm>
            <a:off x="1371600" y="4681728"/>
            <a:ext cx="10149840" cy="841248"/>
          </a:xfrm>
          <a:prstGeom prst="rect">
            <a:avLst/>
          </a:prstGeom>
          <a:noFill/>
          <a:ln/>
        </p:spPr>
        <p:txBody>
          <a:bodyPr wrap="square" lIns="508" tIns="508" rIns="508" bIns="508" rtlCol="0" anchor="ctr"/>
          <a:lstStyle/>
          <a:p>
            <a:pPr indent="0" marL="0">
              <a:buNone/>
            </a:pPr>
            <a:r>
              <a:rPr lang="en-US" sz="1450" dirty="0">
                <a:solidFill>
                  <a:srgbClr val="9DABB6"/>
                </a:solidFill>
                <a:latin typeface="Calibri" pitchFamily="34" charset="0"/>
                <a:ea typeface="Calibri" pitchFamily="34" charset="-122"/>
                <a:cs typeface="Calibri" pitchFamily="34" charset="-120"/>
              </a:rPr>
              <a:t>Cartographie OT — nmap -p 502 + Metasploit modbus_banner_grabbing : 6 esclaves dont le réacteur .95.14.</a:t>
            </a:r>
            <a:endParaRPr lang="en-US" sz="1450" dirty="0"/>
          </a:p>
        </p:txBody>
      </p:sp>
      <p:sp>
        <p:nvSpPr>
          <p:cNvPr id="17" name="Shape 15"/>
          <p:cNvSpPr/>
          <p:nvPr/>
        </p:nvSpPr>
        <p:spPr>
          <a:xfrm>
            <a:off x="502920" y="5632704"/>
            <a:ext cx="11155680" cy="841248"/>
          </a:xfrm>
          <a:prstGeom prst="roundRect">
            <a:avLst>
              <a:gd name="adj" fmla="val 6522"/>
            </a:avLst>
          </a:prstGeom>
          <a:solidFill>
            <a:srgbClr val="1B242C"/>
          </a:solidFill>
          <a:ln w="12700">
            <a:solidFill>
              <a:srgbClr val="313D47"/>
            </a:solidFill>
            <a:prstDash val="solid"/>
          </a:ln>
        </p:spPr>
      </p:sp>
      <p:sp>
        <p:nvSpPr>
          <p:cNvPr id="18" name="Text 16"/>
          <p:cNvSpPr txBox="1"/>
          <p:nvPr/>
        </p:nvSpPr>
        <p:spPr>
          <a:xfrm>
            <a:off x="594360" y="5632704"/>
            <a:ext cx="731520" cy="841248"/>
          </a:xfrm>
          <a:prstGeom prst="rect">
            <a:avLst/>
          </a:prstGeom>
          <a:noFill/>
          <a:ln/>
        </p:spPr>
        <p:txBody>
          <a:bodyPr wrap="square" lIns="0" tIns="0" rIns="0" bIns="0" rtlCol="0" anchor="ctr"/>
          <a:lstStyle/>
          <a:p>
            <a:pPr algn="ctr" indent="0" marL="0">
              <a:buNone/>
            </a:pPr>
            <a:r>
              <a:rPr lang="en-US" sz="3000" b="1" dirty="0">
                <a:solidFill>
                  <a:srgbClr val="E4796F"/>
                </a:solidFill>
                <a:latin typeface="Cambria" pitchFamily="34" charset="0"/>
                <a:ea typeface="Cambria" pitchFamily="34" charset="-122"/>
                <a:cs typeface="Cambria" pitchFamily="34" charset="-120"/>
              </a:rPr>
              <a:t>5</a:t>
            </a:r>
            <a:endParaRPr lang="en-US" sz="3000" dirty="0"/>
          </a:p>
        </p:txBody>
      </p:sp>
      <p:sp>
        <p:nvSpPr>
          <p:cNvPr id="19" name="Text 17"/>
          <p:cNvSpPr txBox="1"/>
          <p:nvPr/>
        </p:nvSpPr>
        <p:spPr>
          <a:xfrm>
            <a:off x="1371600" y="5632704"/>
            <a:ext cx="10149840" cy="841248"/>
          </a:xfrm>
          <a:prstGeom prst="rect">
            <a:avLst/>
          </a:prstGeom>
          <a:noFill/>
          <a:ln/>
        </p:spPr>
        <p:txBody>
          <a:bodyPr wrap="square" lIns="508" tIns="508" rIns="508" bIns="508" rtlCol="0" anchor="ctr"/>
          <a:lstStyle/>
          <a:p>
            <a:pPr indent="0" marL="0">
              <a:buNone/>
            </a:pPr>
            <a:r>
              <a:rPr lang="en-US" sz="1450" dirty="0">
                <a:solidFill>
                  <a:srgbClr val="9DABB6"/>
                </a:solidFill>
                <a:latin typeface="Calibri" pitchFamily="34" charset="0"/>
                <a:ea typeface="Calibri" pitchFamily="34" charset="-122"/>
                <a:cs typeface="Calibri" pitchFamily="34" charset="-120"/>
              </a:rPr>
              <a:t>Sabotage — poste d'ingénierie (noVNC 95.5:6080) → pressure_sp := 65535 injecté dans OpenPLC → la purge ne s'ouvre plus → EXPLOSION.</a:t>
            </a:r>
            <a:endParaRPr lang="en-US" sz="1450" dirty="0"/>
          </a:p>
        </p:txBody>
      </p:sp>
      <p:sp>
        <p:nvSpPr>
          <p:cNvPr id="20" name="Text 18"/>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02 / 12 · L'attaque</a:t>
            </a:r>
            <a:pPr algn="l" indent="0" marL="0">
              <a:buNone/>
            </a:pPr>
            <a:r>
              <a:rPr lang="en-US" sz="950" dirty="0">
                <a:solidFill>
                  <a:srgbClr val="6E7C87"/>
                </a:solidFill>
                <a:latin typeface="Calibri" pitchFamily="34" charset="0"/>
                <a:ea typeface="Calibri" pitchFamily="34" charset="-122"/>
                <a:cs typeface="Calibri" pitchFamily="34" charset="-120"/>
              </a:rPr>
              <a:t>        MITRE ATT&amp;CK ICS : T0830 · T0843 · T0855 · T0836</a:t>
            </a:r>
            <a:endParaRPr lang="en-US" sz="950" dirty="0"/>
          </a:p>
        </p:txBody>
      </p:sp>
      <p:sp>
        <p:nvSpPr>
          <p:cNvPr id="21" name="Shape 19"/>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4796F"/>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E4796F"/>
                </a:solidFill>
                <a:latin typeface="Calibri" pitchFamily="34" charset="0"/>
                <a:ea typeface="Calibri" pitchFamily="34" charset="-122"/>
                <a:cs typeface="Calibri" pitchFamily="34" charset="-120"/>
              </a:rPr>
              <a:t>BARÈME /3</a:t>
            </a:r>
            <a:pPr algn="l" indent="0" marL="0">
              <a:buNone/>
            </a:pPr>
            <a:r>
              <a:rPr lang="en-US" sz="1100" spc="200" kern="0" dirty="0">
                <a:solidFill>
                  <a:srgbClr val="6E7C87"/>
                </a:solidFill>
                <a:latin typeface="Calibri" pitchFamily="34" charset="0"/>
                <a:ea typeface="Calibri" pitchFamily="34" charset="-122"/>
                <a:cs typeface="Calibri" pitchFamily="34" charset="-120"/>
              </a:rPr>
              <a:t>   ARCHITECTURE INITIALE — FLUX &amp; PROTOCOLES</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Deux réseaux à plat, un pare-feu ouvert</a:t>
            </a:r>
            <a:endParaRPr lang="en-US" sz="3400" dirty="0"/>
          </a:p>
        </p:txBody>
      </p:sp>
      <p:sp>
        <p:nvSpPr>
          <p:cNvPr id="5" name="Shape 3"/>
          <p:cNvSpPr/>
          <p:nvPr/>
        </p:nvSpPr>
        <p:spPr>
          <a:xfrm>
            <a:off x="502920" y="2011680"/>
            <a:ext cx="4572000" cy="2743200"/>
          </a:xfrm>
          <a:prstGeom prst="roundRect">
            <a:avLst>
              <a:gd name="adj" fmla="val 1667"/>
            </a:avLst>
          </a:prstGeom>
          <a:solidFill>
            <a:srgbClr val="0B1116"/>
          </a:solidFill>
          <a:ln w="19050">
            <a:solidFill>
              <a:srgbClr val="E0A64A"/>
            </a:solidFill>
            <a:prstDash val="solid"/>
          </a:ln>
        </p:spPr>
      </p:sp>
      <p:sp>
        <p:nvSpPr>
          <p:cNvPr id="6" name="Text 4"/>
          <p:cNvSpPr txBox="1"/>
          <p:nvPr/>
        </p:nvSpPr>
        <p:spPr>
          <a:xfrm>
            <a:off x="640080" y="2103120"/>
            <a:ext cx="4297680" cy="320040"/>
          </a:xfrm>
          <a:prstGeom prst="rect">
            <a:avLst/>
          </a:prstGeom>
          <a:noFill/>
          <a:ln/>
        </p:spPr>
        <p:txBody>
          <a:bodyPr wrap="square" lIns="0" tIns="0" rIns="0" bIns="0" rtlCol="0" anchor="ctr"/>
          <a:lstStyle/>
          <a:p>
            <a:pPr indent="0" marL="0">
              <a:buNone/>
            </a:pPr>
            <a:r>
              <a:rPr lang="en-US" sz="1200" b="1" spc="100" kern="0" dirty="0">
                <a:solidFill>
                  <a:srgbClr val="E0A64A"/>
                </a:solidFill>
                <a:latin typeface="Calibri" pitchFamily="34" charset="0"/>
                <a:ea typeface="Calibri" pitchFamily="34" charset="-122"/>
                <a:cs typeface="Calibri" pitchFamily="34" charset="-120"/>
              </a:rPr>
              <a:t>DMZ · 192.168.90.0/24</a:t>
            </a:r>
            <a:endParaRPr lang="en-US" sz="1200" dirty="0"/>
          </a:p>
        </p:txBody>
      </p:sp>
      <p:sp>
        <p:nvSpPr>
          <p:cNvPr id="7" name="Shape 5"/>
          <p:cNvSpPr/>
          <p:nvPr/>
        </p:nvSpPr>
        <p:spPr>
          <a:xfrm>
            <a:off x="667512" y="2560320"/>
            <a:ext cx="4242816" cy="566928"/>
          </a:xfrm>
          <a:prstGeom prst="roundRect">
            <a:avLst>
              <a:gd name="adj" fmla="val 9677"/>
            </a:avLst>
          </a:prstGeom>
          <a:solidFill>
            <a:srgbClr val="1B242C"/>
          </a:solidFill>
          <a:ln w="12700">
            <a:solidFill>
              <a:srgbClr val="313D47"/>
            </a:solidFill>
            <a:prstDash val="solid"/>
          </a:ln>
        </p:spPr>
      </p:sp>
      <p:sp>
        <p:nvSpPr>
          <p:cNvPr id="8" name="Text 6"/>
          <p:cNvSpPr txBox="1"/>
          <p:nvPr/>
        </p:nvSpPr>
        <p:spPr>
          <a:xfrm>
            <a:off x="777240" y="2560320"/>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IHM Scada-LTS  </a:t>
            </a:r>
            <a:pPr indent="0" marL="0">
              <a:buNone/>
            </a:pPr>
            <a:r>
              <a:rPr lang="en-US" sz="1200" dirty="0">
                <a:solidFill>
                  <a:srgbClr val="5AA6DC"/>
                </a:solidFill>
                <a:latin typeface="Calibri" pitchFamily="34" charset="0"/>
                <a:ea typeface="Calibri" pitchFamily="34" charset="-122"/>
                <a:cs typeface="Calibri" pitchFamily="34" charset="-120"/>
              </a:rPr>
              <a:t>· .90.107 · HTTP 8080</a:t>
            </a:r>
            <a:endParaRPr lang="en-US" sz="1200" dirty="0"/>
          </a:p>
        </p:txBody>
      </p:sp>
      <p:sp>
        <p:nvSpPr>
          <p:cNvPr id="9" name="Shape 7"/>
          <p:cNvSpPr/>
          <p:nvPr/>
        </p:nvSpPr>
        <p:spPr>
          <a:xfrm>
            <a:off x="667512" y="3236976"/>
            <a:ext cx="4242816" cy="566928"/>
          </a:xfrm>
          <a:prstGeom prst="roundRect">
            <a:avLst>
              <a:gd name="adj" fmla="val 9677"/>
            </a:avLst>
          </a:prstGeom>
          <a:solidFill>
            <a:srgbClr val="1B242C"/>
          </a:solidFill>
          <a:ln w="12700">
            <a:solidFill>
              <a:srgbClr val="313D47"/>
            </a:solidFill>
            <a:prstDash val="solid"/>
          </a:ln>
        </p:spPr>
      </p:sp>
      <p:sp>
        <p:nvSpPr>
          <p:cNvPr id="10" name="Text 8"/>
          <p:cNvSpPr txBox="1"/>
          <p:nvPr/>
        </p:nvSpPr>
        <p:spPr>
          <a:xfrm>
            <a:off x="777240" y="3236976"/>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Kali attaquant  </a:t>
            </a:r>
            <a:pPr indent="0" marL="0">
              <a:buNone/>
            </a:pPr>
            <a:r>
              <a:rPr lang="en-US" sz="1200" dirty="0">
                <a:solidFill>
                  <a:srgbClr val="5AA6DC"/>
                </a:solidFill>
                <a:latin typeface="Calibri" pitchFamily="34" charset="0"/>
                <a:ea typeface="Calibri" pitchFamily="34" charset="-122"/>
                <a:cs typeface="Calibri" pitchFamily="34" charset="-120"/>
              </a:rPr>
              <a:t>· .90.6 · noVNC</a:t>
            </a:r>
            <a:endParaRPr lang="en-US" sz="1200" dirty="0"/>
          </a:p>
        </p:txBody>
      </p:sp>
      <p:sp>
        <p:nvSpPr>
          <p:cNvPr id="11" name="Shape 9"/>
          <p:cNvSpPr/>
          <p:nvPr/>
        </p:nvSpPr>
        <p:spPr>
          <a:xfrm>
            <a:off x="667512" y="3913632"/>
            <a:ext cx="4242816" cy="566928"/>
          </a:xfrm>
          <a:prstGeom prst="roundRect">
            <a:avLst>
              <a:gd name="adj" fmla="val 9677"/>
            </a:avLst>
          </a:prstGeom>
          <a:solidFill>
            <a:srgbClr val="1B242C"/>
          </a:solidFill>
          <a:ln w="12700">
            <a:solidFill>
              <a:srgbClr val="313D47"/>
            </a:solidFill>
            <a:prstDash val="solid"/>
          </a:ln>
        </p:spPr>
      </p:sp>
      <p:sp>
        <p:nvSpPr>
          <p:cNvPr id="12" name="Text 10"/>
          <p:cNvSpPr txBox="1"/>
          <p:nvPr/>
        </p:nvSpPr>
        <p:spPr>
          <a:xfrm>
            <a:off x="777240" y="3913632"/>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Caldera  </a:t>
            </a:r>
            <a:pPr indent="0" marL="0">
              <a:buNone/>
            </a:pPr>
            <a:r>
              <a:rPr lang="en-US" sz="1200" dirty="0">
                <a:solidFill>
                  <a:srgbClr val="5AA6DC"/>
                </a:solidFill>
                <a:latin typeface="Calibri" pitchFamily="34" charset="0"/>
                <a:ea typeface="Calibri" pitchFamily="34" charset="-122"/>
                <a:cs typeface="Calibri" pitchFamily="34" charset="-120"/>
              </a:rPr>
              <a:t>· .90.250 · plugin Modbus</a:t>
            </a:r>
            <a:endParaRPr lang="en-US" sz="1200" dirty="0"/>
          </a:p>
        </p:txBody>
      </p:sp>
      <p:sp>
        <p:nvSpPr>
          <p:cNvPr id="13" name="Shape 11"/>
          <p:cNvSpPr/>
          <p:nvPr/>
        </p:nvSpPr>
        <p:spPr>
          <a:xfrm>
            <a:off x="5349240" y="2743200"/>
            <a:ext cx="1508760" cy="1280160"/>
          </a:xfrm>
          <a:prstGeom prst="roundRect">
            <a:avLst>
              <a:gd name="adj" fmla="val 4286"/>
            </a:avLst>
          </a:prstGeom>
          <a:solidFill>
            <a:srgbClr val="2A1614"/>
          </a:solidFill>
          <a:ln w="19050">
            <a:solidFill>
              <a:srgbClr val="E4796F"/>
            </a:solidFill>
            <a:prstDash val="solid"/>
          </a:ln>
        </p:spPr>
      </p:sp>
      <p:sp>
        <p:nvSpPr>
          <p:cNvPr id="14" name="Text 12"/>
          <p:cNvSpPr txBox="1"/>
          <p:nvPr/>
        </p:nvSpPr>
        <p:spPr>
          <a:xfrm>
            <a:off x="5349240" y="2743200"/>
            <a:ext cx="1508760" cy="1280160"/>
          </a:xfrm>
          <a:prstGeom prst="rect">
            <a:avLst/>
          </a:prstGeom>
          <a:noFill/>
          <a:ln/>
        </p:spPr>
        <p:txBody>
          <a:bodyPr wrap="square" lIns="0" tIns="0" rIns="0" bIns="0" rtlCol="0" anchor="ctr"/>
          <a:lstStyle/>
          <a:p>
            <a:pPr algn="ctr" indent="0" marL="0">
              <a:lnSpc>
                <a:spcPct val="105000"/>
              </a:lnSpc>
              <a:buNone/>
            </a:pPr>
            <a:r>
              <a:rPr lang="en-US" sz="1050" b="1" dirty="0">
                <a:solidFill>
                  <a:srgbClr val="E4796F"/>
                </a:solidFill>
                <a:latin typeface="Calibri" pitchFamily="34" charset="0"/>
                <a:ea typeface="Calibri" pitchFamily="34" charset="-122"/>
                <a:cs typeface="Calibri" pitchFamily="34" charset="-120"/>
              </a:rPr>
              <a:t>ROUTEUR
iptables
</a:t>
            </a:r>
            <a:pPr algn="ctr" indent="0" marL="0">
              <a:lnSpc>
                <a:spcPct val="105000"/>
              </a:lnSpc>
              <a:buNone/>
            </a:pPr>
            <a:r>
              <a:rPr lang="en-US" sz="1050" dirty="0">
                <a:solidFill>
                  <a:srgbClr val="ECF1F5"/>
                </a:solidFill>
                <a:latin typeface="Calibri" pitchFamily="34" charset="0"/>
                <a:ea typeface="Calibri" pitchFamily="34" charset="-122"/>
                <a:cs typeface="Calibri" pitchFamily="34" charset="-120"/>
              </a:rPr>
              <a:t>« allow all »
</a:t>
            </a:r>
            <a:pPr algn="ctr" indent="0" marL="0">
              <a:lnSpc>
                <a:spcPct val="105000"/>
              </a:lnSpc>
              <a:buNone/>
            </a:pPr>
            <a:r>
              <a:rPr lang="en-US" sz="1050" dirty="0">
                <a:solidFill>
                  <a:srgbClr val="E4796F"/>
                </a:solidFill>
                <a:latin typeface="Calibri" pitchFamily="34" charset="0"/>
                <a:ea typeface="Calibri" pitchFamily="34" charset="-122"/>
                <a:cs typeface="Calibri" pitchFamily="34" charset="-120"/>
              </a:rPr>
              <a:t>admin:password</a:t>
            </a:r>
            <a:endParaRPr lang="en-US" sz="1050" dirty="0"/>
          </a:p>
        </p:txBody>
      </p:sp>
      <p:sp>
        <p:nvSpPr>
          <p:cNvPr id="15" name="Shape 13"/>
          <p:cNvSpPr/>
          <p:nvPr/>
        </p:nvSpPr>
        <p:spPr>
          <a:xfrm>
            <a:off x="7114032" y="2011680"/>
            <a:ext cx="4572000" cy="2743200"/>
          </a:xfrm>
          <a:prstGeom prst="roundRect">
            <a:avLst>
              <a:gd name="adj" fmla="val 1667"/>
            </a:avLst>
          </a:prstGeom>
          <a:solidFill>
            <a:srgbClr val="0B1116"/>
          </a:solidFill>
          <a:ln w="19050">
            <a:solidFill>
              <a:srgbClr val="5AA6DC"/>
            </a:solidFill>
            <a:prstDash val="solid"/>
          </a:ln>
        </p:spPr>
      </p:sp>
      <p:sp>
        <p:nvSpPr>
          <p:cNvPr id="16" name="Text 14"/>
          <p:cNvSpPr txBox="1"/>
          <p:nvPr/>
        </p:nvSpPr>
        <p:spPr>
          <a:xfrm>
            <a:off x="7251192" y="2103120"/>
            <a:ext cx="4297680" cy="320040"/>
          </a:xfrm>
          <a:prstGeom prst="rect">
            <a:avLst/>
          </a:prstGeom>
          <a:noFill/>
          <a:ln/>
        </p:spPr>
        <p:txBody>
          <a:bodyPr wrap="square" lIns="0" tIns="0" rIns="0" bIns="0" rtlCol="0" anchor="ctr"/>
          <a:lstStyle/>
          <a:p>
            <a:pPr indent="0" marL="0">
              <a:buNone/>
            </a:pPr>
            <a:r>
              <a:rPr lang="en-US" sz="1200" b="1" spc="100" kern="0" dirty="0">
                <a:solidFill>
                  <a:srgbClr val="5AA6DC"/>
                </a:solidFill>
                <a:latin typeface="Calibri" pitchFamily="34" charset="0"/>
                <a:ea typeface="Calibri" pitchFamily="34" charset="-122"/>
                <a:cs typeface="Calibri" pitchFamily="34" charset="-120"/>
              </a:rPr>
              <a:t>ICS · 192.168.95.0/24</a:t>
            </a:r>
            <a:endParaRPr lang="en-US" sz="1200" dirty="0"/>
          </a:p>
        </p:txBody>
      </p:sp>
      <p:sp>
        <p:nvSpPr>
          <p:cNvPr id="17" name="Shape 15"/>
          <p:cNvSpPr/>
          <p:nvPr/>
        </p:nvSpPr>
        <p:spPr>
          <a:xfrm>
            <a:off x="7278624" y="2560320"/>
            <a:ext cx="4242816" cy="566928"/>
          </a:xfrm>
          <a:prstGeom prst="roundRect">
            <a:avLst>
              <a:gd name="adj" fmla="val 9677"/>
            </a:avLst>
          </a:prstGeom>
          <a:solidFill>
            <a:srgbClr val="1B242C"/>
          </a:solidFill>
          <a:ln w="12700">
            <a:solidFill>
              <a:srgbClr val="313D47"/>
            </a:solidFill>
            <a:prstDash val="solid"/>
          </a:ln>
        </p:spPr>
      </p:sp>
      <p:sp>
        <p:nvSpPr>
          <p:cNvPr id="18" name="Text 16"/>
          <p:cNvSpPr txBox="1"/>
          <p:nvPr/>
        </p:nvSpPr>
        <p:spPr>
          <a:xfrm>
            <a:off x="7388352" y="2560320"/>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Automate OpenPLC  </a:t>
            </a:r>
            <a:pPr indent="0" marL="0">
              <a:buNone/>
            </a:pPr>
            <a:r>
              <a:rPr lang="en-US" sz="1200" dirty="0">
                <a:solidFill>
                  <a:srgbClr val="5AA6DC"/>
                </a:solidFill>
                <a:latin typeface="Calibri" pitchFamily="34" charset="0"/>
                <a:ea typeface="Calibri" pitchFamily="34" charset="-122"/>
                <a:cs typeface="Calibri" pitchFamily="34" charset="-120"/>
              </a:rPr>
              <a:t>· .95.2 · 502 + 8080</a:t>
            </a:r>
            <a:endParaRPr lang="en-US" sz="1200" dirty="0"/>
          </a:p>
        </p:txBody>
      </p:sp>
      <p:sp>
        <p:nvSpPr>
          <p:cNvPr id="19" name="Shape 17"/>
          <p:cNvSpPr/>
          <p:nvPr/>
        </p:nvSpPr>
        <p:spPr>
          <a:xfrm>
            <a:off x="7278624" y="3236976"/>
            <a:ext cx="4242816" cy="566928"/>
          </a:xfrm>
          <a:prstGeom prst="roundRect">
            <a:avLst>
              <a:gd name="adj" fmla="val 9677"/>
            </a:avLst>
          </a:prstGeom>
          <a:solidFill>
            <a:srgbClr val="1B242C"/>
          </a:solidFill>
          <a:ln w="12700">
            <a:solidFill>
              <a:srgbClr val="313D47"/>
            </a:solidFill>
            <a:prstDash val="solid"/>
          </a:ln>
        </p:spPr>
      </p:sp>
      <p:sp>
        <p:nvSpPr>
          <p:cNvPr id="20" name="Text 18"/>
          <p:cNvSpPr txBox="1"/>
          <p:nvPr/>
        </p:nvSpPr>
        <p:spPr>
          <a:xfrm>
            <a:off x="7388352" y="3236976"/>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Poste d'ingénierie  </a:t>
            </a:r>
            <a:pPr indent="0" marL="0">
              <a:buNone/>
            </a:pPr>
            <a:r>
              <a:rPr lang="en-US" sz="1200" dirty="0">
                <a:solidFill>
                  <a:srgbClr val="5AA6DC"/>
                </a:solidFill>
                <a:latin typeface="Calibri" pitchFamily="34" charset="0"/>
                <a:ea typeface="Calibri" pitchFamily="34" charset="-122"/>
                <a:cs typeface="Calibri" pitchFamily="34" charset="-120"/>
              </a:rPr>
              <a:t>· .95.5 · noVNC</a:t>
            </a:r>
            <a:endParaRPr lang="en-US" sz="1200" dirty="0"/>
          </a:p>
        </p:txBody>
      </p:sp>
      <p:sp>
        <p:nvSpPr>
          <p:cNvPr id="21" name="Shape 19"/>
          <p:cNvSpPr/>
          <p:nvPr/>
        </p:nvSpPr>
        <p:spPr>
          <a:xfrm>
            <a:off x="7278624" y="3913632"/>
            <a:ext cx="4242816" cy="566928"/>
          </a:xfrm>
          <a:prstGeom prst="roundRect">
            <a:avLst>
              <a:gd name="adj" fmla="val 9677"/>
            </a:avLst>
          </a:prstGeom>
          <a:solidFill>
            <a:srgbClr val="1B242C"/>
          </a:solidFill>
          <a:ln w="12700">
            <a:solidFill>
              <a:srgbClr val="313D47"/>
            </a:solidFill>
            <a:prstDash val="solid"/>
          </a:ln>
        </p:spPr>
      </p:sp>
      <p:sp>
        <p:nvSpPr>
          <p:cNvPr id="22" name="Text 20"/>
          <p:cNvSpPr txBox="1"/>
          <p:nvPr/>
        </p:nvSpPr>
        <p:spPr>
          <a:xfrm>
            <a:off x="7388352" y="3913632"/>
            <a:ext cx="4114800" cy="566928"/>
          </a:xfrm>
          <a:prstGeom prst="rect">
            <a:avLst/>
          </a:prstGeom>
          <a:noFill/>
          <a:ln/>
        </p:spPr>
        <p:txBody>
          <a:bodyPr wrap="square" lIns="0" tIns="0" rIns="0" bIns="0" rtlCol="0" anchor="ctr"/>
          <a:lstStyle/>
          <a:p>
            <a:pPr indent="0" marL="0">
              <a:buNone/>
            </a:pPr>
            <a:r>
              <a:rPr lang="en-US" sz="1200" b="1" dirty="0">
                <a:solidFill>
                  <a:srgbClr val="ECF1F5"/>
                </a:solidFill>
                <a:latin typeface="Calibri" pitchFamily="34" charset="0"/>
                <a:ea typeface="Calibri" pitchFamily="34" charset="-122"/>
                <a:cs typeface="Calibri" pitchFamily="34" charset="-120"/>
              </a:rPr>
              <a:t>Réacteur + E/S  </a:t>
            </a:r>
            <a:pPr indent="0" marL="0">
              <a:buNone/>
            </a:pPr>
            <a:r>
              <a:rPr lang="en-US" sz="1200" dirty="0">
                <a:solidFill>
                  <a:srgbClr val="5AA6DC"/>
                </a:solidFill>
                <a:latin typeface="Calibri" pitchFamily="34" charset="0"/>
                <a:ea typeface="Calibri" pitchFamily="34" charset="-122"/>
                <a:cs typeface="Calibri" pitchFamily="34" charset="-120"/>
              </a:rPr>
              <a:t>· .95.10→.15 · Modbus</a:t>
            </a:r>
            <a:endParaRPr lang="en-US" sz="1200" dirty="0"/>
          </a:p>
        </p:txBody>
      </p:sp>
      <p:sp>
        <p:nvSpPr>
          <p:cNvPr id="23" name="Shape 21"/>
          <p:cNvSpPr/>
          <p:nvPr/>
        </p:nvSpPr>
        <p:spPr>
          <a:xfrm>
            <a:off x="502920" y="5074920"/>
            <a:ext cx="11155680" cy="960120"/>
          </a:xfrm>
          <a:prstGeom prst="roundRect">
            <a:avLst>
              <a:gd name="adj" fmla="val 5714"/>
            </a:avLst>
          </a:prstGeom>
          <a:solidFill>
            <a:srgbClr val="222E38"/>
          </a:solidFill>
          <a:ln w="12700">
            <a:solidFill>
              <a:srgbClr val="313D47"/>
            </a:solidFill>
            <a:prstDash val="solid"/>
          </a:ln>
        </p:spPr>
      </p:sp>
      <p:sp>
        <p:nvSpPr>
          <p:cNvPr id="24" name="Text 22"/>
          <p:cNvSpPr txBox="1"/>
          <p:nvPr/>
        </p:nvSpPr>
        <p:spPr>
          <a:xfrm>
            <a:off x="685800" y="5120640"/>
            <a:ext cx="10789920" cy="868680"/>
          </a:xfrm>
          <a:prstGeom prst="rect">
            <a:avLst/>
          </a:prstGeom>
          <a:noFill/>
          <a:ln/>
        </p:spPr>
        <p:txBody>
          <a:bodyPr wrap="square" lIns="0" tIns="0" rIns="0" bIns="0" rtlCol="0" anchor="ctr"/>
          <a:lstStyle/>
          <a:p>
            <a:pPr indent="0" marL="0">
              <a:buNone/>
            </a:pPr>
            <a:r>
              <a:rPr lang="en-US" sz="1350" b="1" dirty="0">
                <a:solidFill>
                  <a:srgbClr val="ECF1F5"/>
                </a:solidFill>
                <a:latin typeface="Calibri" pitchFamily="34" charset="0"/>
                <a:ea typeface="Calibri" pitchFamily="34" charset="-122"/>
                <a:cs typeface="Calibri" pitchFamily="34" charset="-120"/>
              </a:rPr>
              <a:t>Flux : </a:t>
            </a:r>
            <a:pPr indent="0" marL="0">
              <a:buNone/>
            </a:pPr>
            <a:r>
              <a:rPr lang="en-US" sz="1350" dirty="0">
                <a:solidFill>
                  <a:srgbClr val="9DABB6"/>
                </a:solidFill>
                <a:latin typeface="Calibri" pitchFamily="34" charset="0"/>
                <a:ea typeface="Calibri" pitchFamily="34" charset="-122"/>
                <a:cs typeface="Calibri" pitchFamily="34" charset="-120"/>
              </a:rPr>
              <a:t>IHM → automate en Modbus/TCP 502 non authentifié · administration en HTTP · un réseau d'admin (bridge) relie tout HORS du pare-feu. La segmentation n'existe que sur le schéma.</a:t>
            </a:r>
            <a:endParaRPr lang="en-US" sz="1350" dirty="0"/>
          </a:p>
        </p:txBody>
      </p:sp>
      <p:sp>
        <p:nvSpPr>
          <p:cNvPr id="25" name="Text 23"/>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03 / 12 · Architecture initiale</a:t>
            </a:r>
            <a:pPr algn="l" indent="0" marL="0">
              <a:buNone/>
            </a:pPr>
            <a:r>
              <a:rPr lang="en-US" sz="950" dirty="0">
                <a:solidFill>
                  <a:srgbClr val="6E7C87"/>
                </a:solidFill>
                <a:latin typeface="Calibri" pitchFamily="34" charset="0"/>
                <a:ea typeface="Calibri" pitchFamily="34" charset="-122"/>
                <a:cs typeface="Calibri" pitchFamily="34" charset="-120"/>
              </a:rPr>
              <a:t>        Niveau de sécurité constaté : SL 0</a:t>
            </a:r>
            <a:endParaRPr lang="en-US" sz="950" dirty="0"/>
          </a:p>
        </p:txBody>
      </p:sp>
      <p:sp>
        <p:nvSpPr>
          <p:cNvPr id="26" name="Shape 24"/>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A64A"/>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E0A64A"/>
                </a:solidFill>
                <a:latin typeface="Calibri" pitchFamily="34" charset="0"/>
                <a:ea typeface="Calibri" pitchFamily="34" charset="-122"/>
                <a:cs typeface="Calibri" pitchFamily="34" charset="-120"/>
              </a:rPr>
              <a:t>BARÈME /4</a:t>
            </a:r>
            <a:pPr algn="l" indent="0" marL="0">
              <a:buNone/>
            </a:pPr>
            <a:r>
              <a:rPr lang="en-US" sz="1100" spc="200" kern="0" dirty="0">
                <a:solidFill>
                  <a:srgbClr val="6E7C87"/>
                </a:solidFill>
                <a:latin typeface="Calibri" pitchFamily="34" charset="0"/>
                <a:ea typeface="Calibri" pitchFamily="34" charset="-122"/>
                <a:cs typeface="Calibri" pitchFamily="34" charset="-120"/>
              </a:rPr>
              <a:t>   ANALYSE DES VULNÉRABILITÉS — LES 6 QUI COMPTENT</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Chaque étape de l'attaque = une vulnérabilité</a:t>
            </a:r>
            <a:endParaRPr lang="en-US" sz="3400" dirty="0"/>
          </a:p>
        </p:txBody>
      </p:sp>
      <p:sp>
        <p:nvSpPr>
          <p:cNvPr id="5" name="Shape 3"/>
          <p:cNvSpPr/>
          <p:nvPr/>
        </p:nvSpPr>
        <p:spPr>
          <a:xfrm>
            <a:off x="502920" y="1874520"/>
            <a:ext cx="3538728" cy="1234440"/>
          </a:xfrm>
          <a:prstGeom prst="roundRect">
            <a:avLst>
              <a:gd name="adj" fmla="val 4444"/>
            </a:avLst>
          </a:prstGeom>
          <a:solidFill>
            <a:srgbClr val="1B242C"/>
          </a:solidFill>
          <a:ln w="12700">
            <a:solidFill>
              <a:srgbClr val="313D47"/>
            </a:solidFill>
            <a:prstDash val="solid"/>
          </a:ln>
        </p:spPr>
      </p:sp>
      <p:sp>
        <p:nvSpPr>
          <p:cNvPr id="6" name="Shape 4"/>
          <p:cNvSpPr/>
          <p:nvPr/>
        </p:nvSpPr>
        <p:spPr>
          <a:xfrm>
            <a:off x="502920" y="1874520"/>
            <a:ext cx="64008" cy="1234440"/>
          </a:xfrm>
          <a:prstGeom prst="rect">
            <a:avLst/>
          </a:prstGeom>
          <a:solidFill>
            <a:srgbClr val="E4796F"/>
          </a:solidFill>
          <a:ln/>
        </p:spPr>
      </p:sp>
      <p:sp>
        <p:nvSpPr>
          <p:cNvPr id="7" name="Text 5"/>
          <p:cNvSpPr txBox="1"/>
          <p:nvPr/>
        </p:nvSpPr>
        <p:spPr>
          <a:xfrm>
            <a:off x="704088" y="1993392"/>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V1 · Pare-feu ouvert</a:t>
            </a:r>
            <a:endParaRPr lang="en-US" sz="1400" dirty="0"/>
          </a:p>
        </p:txBody>
      </p:sp>
      <p:sp>
        <p:nvSpPr>
          <p:cNvPr id="8" name="Text 6"/>
          <p:cNvSpPr txBox="1"/>
          <p:nvPr/>
        </p:nvSpPr>
        <p:spPr>
          <a:xfrm>
            <a:off x="704088" y="2331720"/>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Règle « allow all » + sortie libre de l'OT.</a:t>
            </a:r>
            <a:endParaRPr lang="en-US" sz="1200" dirty="0"/>
          </a:p>
        </p:txBody>
      </p:sp>
      <p:sp>
        <p:nvSpPr>
          <p:cNvPr id="9" name="Shape 7"/>
          <p:cNvSpPr/>
          <p:nvPr/>
        </p:nvSpPr>
        <p:spPr>
          <a:xfrm>
            <a:off x="704088" y="2743200"/>
            <a:ext cx="804672" cy="256032"/>
          </a:xfrm>
          <a:prstGeom prst="roundRect">
            <a:avLst>
              <a:gd name="adj" fmla="val 50000"/>
            </a:avLst>
          </a:prstGeom>
          <a:solidFill>
            <a:srgbClr val="0B1116"/>
          </a:solidFill>
          <a:ln w="12700">
            <a:solidFill>
              <a:srgbClr val="E4796F"/>
            </a:solidFill>
            <a:prstDash val="solid"/>
          </a:ln>
        </p:spPr>
      </p:sp>
      <p:sp>
        <p:nvSpPr>
          <p:cNvPr id="10" name="Text 8"/>
          <p:cNvSpPr txBox="1"/>
          <p:nvPr/>
        </p:nvSpPr>
        <p:spPr>
          <a:xfrm>
            <a:off x="704088" y="2743200"/>
            <a:ext cx="804672" cy="256032"/>
          </a:xfrm>
          <a:prstGeom prst="rect">
            <a:avLst/>
          </a:prstGeom>
          <a:noFill/>
          <a:ln/>
        </p:spPr>
        <p:txBody>
          <a:bodyPr wrap="square" lIns="0" tIns="0" rIns="0" bIns="0" rtlCol="0" anchor="ctr"/>
          <a:lstStyle/>
          <a:p>
            <a:pPr algn="ctr" indent="0" marL="0">
              <a:buNone/>
            </a:pPr>
            <a:r>
              <a:rPr lang="en-US" sz="950" b="1" dirty="0">
                <a:solidFill>
                  <a:srgbClr val="E4796F"/>
                </a:solidFill>
                <a:latin typeface="Calibri" pitchFamily="34" charset="0"/>
                <a:ea typeface="Calibri" pitchFamily="34" charset="-122"/>
                <a:cs typeface="Calibri" pitchFamily="34" charset="-120"/>
              </a:rPr>
              <a:t>SR 5.1/5.2</a:t>
            </a:r>
            <a:endParaRPr lang="en-US" sz="950" dirty="0"/>
          </a:p>
        </p:txBody>
      </p:sp>
      <p:sp>
        <p:nvSpPr>
          <p:cNvPr id="11" name="Shape 9"/>
          <p:cNvSpPr/>
          <p:nvPr/>
        </p:nvSpPr>
        <p:spPr>
          <a:xfrm>
            <a:off x="4297680" y="1874520"/>
            <a:ext cx="3538728" cy="1234440"/>
          </a:xfrm>
          <a:prstGeom prst="roundRect">
            <a:avLst>
              <a:gd name="adj" fmla="val 4444"/>
            </a:avLst>
          </a:prstGeom>
          <a:solidFill>
            <a:srgbClr val="1B242C"/>
          </a:solidFill>
          <a:ln w="12700">
            <a:solidFill>
              <a:srgbClr val="313D47"/>
            </a:solidFill>
            <a:prstDash val="solid"/>
          </a:ln>
        </p:spPr>
      </p:sp>
      <p:sp>
        <p:nvSpPr>
          <p:cNvPr id="12" name="Shape 10"/>
          <p:cNvSpPr/>
          <p:nvPr/>
        </p:nvSpPr>
        <p:spPr>
          <a:xfrm>
            <a:off x="4297680" y="1874520"/>
            <a:ext cx="64008" cy="1234440"/>
          </a:xfrm>
          <a:prstGeom prst="rect">
            <a:avLst/>
          </a:prstGeom>
          <a:solidFill>
            <a:srgbClr val="E4796F"/>
          </a:solidFill>
          <a:ln/>
        </p:spPr>
      </p:sp>
      <p:sp>
        <p:nvSpPr>
          <p:cNvPr id="13" name="Text 11"/>
          <p:cNvSpPr txBox="1"/>
          <p:nvPr/>
        </p:nvSpPr>
        <p:spPr>
          <a:xfrm>
            <a:off x="4498848" y="1993392"/>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V2 · Comptes par défaut</a:t>
            </a:r>
            <a:endParaRPr lang="en-US" sz="1400" dirty="0"/>
          </a:p>
        </p:txBody>
      </p:sp>
      <p:sp>
        <p:nvSpPr>
          <p:cNvPr id="14" name="Text 12"/>
          <p:cNvSpPr txBox="1"/>
          <p:nvPr/>
        </p:nvSpPr>
        <p:spPr>
          <a:xfrm>
            <a:off x="4498848" y="2331720"/>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admin, openplc, root:root, post-it.</a:t>
            </a:r>
            <a:endParaRPr lang="en-US" sz="1200" dirty="0"/>
          </a:p>
        </p:txBody>
      </p:sp>
      <p:sp>
        <p:nvSpPr>
          <p:cNvPr id="15" name="Shape 13"/>
          <p:cNvSpPr/>
          <p:nvPr/>
        </p:nvSpPr>
        <p:spPr>
          <a:xfrm>
            <a:off x="4498848" y="2743200"/>
            <a:ext cx="804672" cy="256032"/>
          </a:xfrm>
          <a:prstGeom prst="roundRect">
            <a:avLst>
              <a:gd name="adj" fmla="val 50000"/>
            </a:avLst>
          </a:prstGeom>
          <a:solidFill>
            <a:srgbClr val="0B1116"/>
          </a:solidFill>
          <a:ln w="12700">
            <a:solidFill>
              <a:srgbClr val="E4796F"/>
            </a:solidFill>
            <a:prstDash val="solid"/>
          </a:ln>
        </p:spPr>
      </p:sp>
      <p:sp>
        <p:nvSpPr>
          <p:cNvPr id="16" name="Text 14"/>
          <p:cNvSpPr txBox="1"/>
          <p:nvPr/>
        </p:nvSpPr>
        <p:spPr>
          <a:xfrm>
            <a:off x="4498848" y="2743200"/>
            <a:ext cx="804672" cy="256032"/>
          </a:xfrm>
          <a:prstGeom prst="rect">
            <a:avLst/>
          </a:prstGeom>
          <a:noFill/>
          <a:ln/>
        </p:spPr>
        <p:txBody>
          <a:bodyPr wrap="square" lIns="0" tIns="0" rIns="0" bIns="0" rtlCol="0" anchor="ctr"/>
          <a:lstStyle/>
          <a:p>
            <a:pPr algn="ctr" indent="0" marL="0">
              <a:buNone/>
            </a:pPr>
            <a:r>
              <a:rPr lang="en-US" sz="950" b="1" dirty="0">
                <a:solidFill>
                  <a:srgbClr val="E4796F"/>
                </a:solidFill>
                <a:latin typeface="Calibri" pitchFamily="34" charset="0"/>
                <a:ea typeface="Calibri" pitchFamily="34" charset="-122"/>
                <a:cs typeface="Calibri" pitchFamily="34" charset="-120"/>
              </a:rPr>
              <a:t>SR 1.1/1.5</a:t>
            </a:r>
            <a:endParaRPr lang="en-US" sz="950" dirty="0"/>
          </a:p>
        </p:txBody>
      </p:sp>
      <p:sp>
        <p:nvSpPr>
          <p:cNvPr id="17" name="Shape 15"/>
          <p:cNvSpPr/>
          <p:nvPr/>
        </p:nvSpPr>
        <p:spPr>
          <a:xfrm>
            <a:off x="8092440" y="1874520"/>
            <a:ext cx="3538728" cy="1234440"/>
          </a:xfrm>
          <a:prstGeom prst="roundRect">
            <a:avLst>
              <a:gd name="adj" fmla="val 4444"/>
            </a:avLst>
          </a:prstGeom>
          <a:solidFill>
            <a:srgbClr val="1B242C"/>
          </a:solidFill>
          <a:ln w="12700">
            <a:solidFill>
              <a:srgbClr val="313D47"/>
            </a:solidFill>
            <a:prstDash val="solid"/>
          </a:ln>
        </p:spPr>
      </p:sp>
      <p:sp>
        <p:nvSpPr>
          <p:cNvPr id="18" name="Shape 16"/>
          <p:cNvSpPr/>
          <p:nvPr/>
        </p:nvSpPr>
        <p:spPr>
          <a:xfrm>
            <a:off x="8092440" y="1874520"/>
            <a:ext cx="64008" cy="1234440"/>
          </a:xfrm>
          <a:prstGeom prst="rect">
            <a:avLst/>
          </a:prstGeom>
          <a:solidFill>
            <a:srgbClr val="E4796F"/>
          </a:solidFill>
          <a:ln/>
        </p:spPr>
      </p:sp>
      <p:sp>
        <p:nvSpPr>
          <p:cNvPr id="19" name="Text 17"/>
          <p:cNvSpPr txBox="1"/>
          <p:nvPr/>
        </p:nvSpPr>
        <p:spPr>
          <a:xfrm>
            <a:off x="8293608" y="1993392"/>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V3 · Modbus sans auth.</a:t>
            </a:r>
            <a:endParaRPr lang="en-US" sz="1400" dirty="0"/>
          </a:p>
        </p:txBody>
      </p:sp>
      <p:sp>
        <p:nvSpPr>
          <p:cNvPr id="20" name="Text 18"/>
          <p:cNvSpPr txBox="1"/>
          <p:nvPr/>
        </p:nvSpPr>
        <p:spPr>
          <a:xfrm>
            <a:off x="8293608" y="2331720"/>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Toute écriture de registre acceptée.</a:t>
            </a:r>
            <a:endParaRPr lang="en-US" sz="1200" dirty="0"/>
          </a:p>
        </p:txBody>
      </p:sp>
      <p:sp>
        <p:nvSpPr>
          <p:cNvPr id="21" name="Shape 19"/>
          <p:cNvSpPr/>
          <p:nvPr/>
        </p:nvSpPr>
        <p:spPr>
          <a:xfrm>
            <a:off x="8293608" y="2743200"/>
            <a:ext cx="804672" cy="256032"/>
          </a:xfrm>
          <a:prstGeom prst="roundRect">
            <a:avLst>
              <a:gd name="adj" fmla="val 50000"/>
            </a:avLst>
          </a:prstGeom>
          <a:solidFill>
            <a:srgbClr val="0B1116"/>
          </a:solidFill>
          <a:ln w="12700">
            <a:solidFill>
              <a:srgbClr val="E4796F"/>
            </a:solidFill>
            <a:prstDash val="solid"/>
          </a:ln>
        </p:spPr>
      </p:sp>
      <p:sp>
        <p:nvSpPr>
          <p:cNvPr id="22" name="Text 20"/>
          <p:cNvSpPr txBox="1"/>
          <p:nvPr/>
        </p:nvSpPr>
        <p:spPr>
          <a:xfrm>
            <a:off x="8293608" y="2743200"/>
            <a:ext cx="804672" cy="256032"/>
          </a:xfrm>
          <a:prstGeom prst="rect">
            <a:avLst/>
          </a:prstGeom>
          <a:noFill/>
          <a:ln/>
        </p:spPr>
        <p:txBody>
          <a:bodyPr wrap="square" lIns="0" tIns="0" rIns="0" bIns="0" rtlCol="0" anchor="ctr"/>
          <a:lstStyle/>
          <a:p>
            <a:pPr algn="ctr" indent="0" marL="0">
              <a:buNone/>
            </a:pPr>
            <a:r>
              <a:rPr lang="en-US" sz="950" b="1" dirty="0">
                <a:solidFill>
                  <a:srgbClr val="E4796F"/>
                </a:solidFill>
                <a:latin typeface="Calibri" pitchFamily="34" charset="0"/>
                <a:ea typeface="Calibri" pitchFamily="34" charset="-122"/>
                <a:cs typeface="Calibri" pitchFamily="34" charset="-120"/>
              </a:rPr>
              <a:t>SR 3.1/3.5</a:t>
            </a:r>
            <a:endParaRPr lang="en-US" sz="950" dirty="0"/>
          </a:p>
        </p:txBody>
      </p:sp>
      <p:sp>
        <p:nvSpPr>
          <p:cNvPr id="23" name="Shape 21"/>
          <p:cNvSpPr/>
          <p:nvPr/>
        </p:nvSpPr>
        <p:spPr>
          <a:xfrm>
            <a:off x="502920" y="3328416"/>
            <a:ext cx="3538728" cy="1234440"/>
          </a:xfrm>
          <a:prstGeom prst="roundRect">
            <a:avLst>
              <a:gd name="adj" fmla="val 4444"/>
            </a:avLst>
          </a:prstGeom>
          <a:solidFill>
            <a:srgbClr val="1B242C"/>
          </a:solidFill>
          <a:ln w="12700">
            <a:solidFill>
              <a:srgbClr val="313D47"/>
            </a:solidFill>
            <a:prstDash val="solid"/>
          </a:ln>
        </p:spPr>
      </p:sp>
      <p:sp>
        <p:nvSpPr>
          <p:cNvPr id="24" name="Shape 22"/>
          <p:cNvSpPr/>
          <p:nvPr/>
        </p:nvSpPr>
        <p:spPr>
          <a:xfrm>
            <a:off x="502920" y="3328416"/>
            <a:ext cx="64008" cy="1234440"/>
          </a:xfrm>
          <a:prstGeom prst="rect">
            <a:avLst/>
          </a:prstGeom>
          <a:solidFill>
            <a:srgbClr val="E4796F"/>
          </a:solidFill>
          <a:ln/>
        </p:spPr>
      </p:sp>
      <p:sp>
        <p:nvSpPr>
          <p:cNvPr id="25" name="Text 23"/>
          <p:cNvSpPr txBox="1"/>
          <p:nvPr/>
        </p:nvSpPr>
        <p:spPr>
          <a:xfrm>
            <a:off x="704088" y="3447288"/>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V4 · Dépôt de code libre</a:t>
            </a:r>
            <a:endParaRPr lang="en-US" sz="1400" dirty="0"/>
          </a:p>
        </p:txBody>
      </p:sp>
      <p:sp>
        <p:nvSpPr>
          <p:cNvPr id="26" name="Text 24"/>
          <p:cNvSpPr txBox="1"/>
          <p:nvPr/>
        </p:nvSpPr>
        <p:spPr>
          <a:xfrm>
            <a:off x="704088" y="3785616"/>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pressure_sp:=65535 téléversé sans contrôle.</a:t>
            </a:r>
            <a:endParaRPr lang="en-US" sz="1200" dirty="0"/>
          </a:p>
        </p:txBody>
      </p:sp>
      <p:sp>
        <p:nvSpPr>
          <p:cNvPr id="27" name="Shape 25"/>
          <p:cNvSpPr/>
          <p:nvPr/>
        </p:nvSpPr>
        <p:spPr>
          <a:xfrm>
            <a:off x="704088" y="4197096"/>
            <a:ext cx="541325" cy="256032"/>
          </a:xfrm>
          <a:prstGeom prst="roundRect">
            <a:avLst>
              <a:gd name="adj" fmla="val 50000"/>
            </a:avLst>
          </a:prstGeom>
          <a:solidFill>
            <a:srgbClr val="0B1116"/>
          </a:solidFill>
          <a:ln w="12700">
            <a:solidFill>
              <a:srgbClr val="E4796F"/>
            </a:solidFill>
            <a:prstDash val="solid"/>
          </a:ln>
        </p:spPr>
      </p:sp>
      <p:sp>
        <p:nvSpPr>
          <p:cNvPr id="28" name="Text 26"/>
          <p:cNvSpPr txBox="1"/>
          <p:nvPr/>
        </p:nvSpPr>
        <p:spPr>
          <a:xfrm>
            <a:off x="704088" y="4197096"/>
            <a:ext cx="541325" cy="256032"/>
          </a:xfrm>
          <a:prstGeom prst="rect">
            <a:avLst/>
          </a:prstGeom>
          <a:noFill/>
          <a:ln/>
        </p:spPr>
        <p:txBody>
          <a:bodyPr wrap="square" lIns="0" tIns="0" rIns="0" bIns="0" rtlCol="0" anchor="ctr"/>
          <a:lstStyle/>
          <a:p>
            <a:pPr algn="ctr" indent="0" marL="0">
              <a:buNone/>
            </a:pPr>
            <a:r>
              <a:rPr lang="en-US" sz="950" b="1" dirty="0">
                <a:solidFill>
                  <a:srgbClr val="E4796F"/>
                </a:solidFill>
                <a:latin typeface="Calibri" pitchFamily="34" charset="0"/>
                <a:ea typeface="Calibri" pitchFamily="34" charset="-122"/>
                <a:cs typeface="Calibri" pitchFamily="34" charset="-120"/>
              </a:rPr>
              <a:t>SR 3.4</a:t>
            </a:r>
            <a:endParaRPr lang="en-US" sz="950" dirty="0"/>
          </a:p>
        </p:txBody>
      </p:sp>
      <p:sp>
        <p:nvSpPr>
          <p:cNvPr id="29" name="Shape 27"/>
          <p:cNvSpPr/>
          <p:nvPr/>
        </p:nvSpPr>
        <p:spPr>
          <a:xfrm>
            <a:off x="4297680" y="3328416"/>
            <a:ext cx="3538728" cy="1234440"/>
          </a:xfrm>
          <a:prstGeom prst="roundRect">
            <a:avLst>
              <a:gd name="adj" fmla="val 4444"/>
            </a:avLst>
          </a:prstGeom>
          <a:solidFill>
            <a:srgbClr val="1B242C"/>
          </a:solidFill>
          <a:ln w="12700">
            <a:solidFill>
              <a:srgbClr val="313D47"/>
            </a:solidFill>
            <a:prstDash val="solid"/>
          </a:ln>
        </p:spPr>
      </p:sp>
      <p:sp>
        <p:nvSpPr>
          <p:cNvPr id="30" name="Shape 28"/>
          <p:cNvSpPr/>
          <p:nvPr/>
        </p:nvSpPr>
        <p:spPr>
          <a:xfrm>
            <a:off x="4297680" y="3328416"/>
            <a:ext cx="64008" cy="1234440"/>
          </a:xfrm>
          <a:prstGeom prst="rect">
            <a:avLst/>
          </a:prstGeom>
          <a:solidFill>
            <a:srgbClr val="E0A64A"/>
          </a:solidFill>
          <a:ln/>
        </p:spPr>
      </p:sp>
      <p:sp>
        <p:nvSpPr>
          <p:cNvPr id="31" name="Text 29"/>
          <p:cNvSpPr txBox="1"/>
          <p:nvPr/>
        </p:nvSpPr>
        <p:spPr>
          <a:xfrm>
            <a:off x="4498848" y="3447288"/>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V5 · ARP / MITM</a:t>
            </a:r>
            <a:endParaRPr lang="en-US" sz="1400" dirty="0"/>
          </a:p>
        </p:txBody>
      </p:sp>
      <p:sp>
        <p:nvSpPr>
          <p:cNvPr id="32" name="Text 30"/>
          <p:cNvSpPr txBox="1"/>
          <p:nvPr/>
        </p:nvSpPr>
        <p:spPr>
          <a:xfrm>
            <a:off x="4498848" y="3785616"/>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Réseaux plats, pas de 802.1X ni DAI.</a:t>
            </a:r>
            <a:endParaRPr lang="en-US" sz="1200" dirty="0"/>
          </a:p>
        </p:txBody>
      </p:sp>
      <p:sp>
        <p:nvSpPr>
          <p:cNvPr id="33" name="Shape 31"/>
          <p:cNvSpPr/>
          <p:nvPr/>
        </p:nvSpPr>
        <p:spPr>
          <a:xfrm>
            <a:off x="4498848" y="4197096"/>
            <a:ext cx="541325" cy="256032"/>
          </a:xfrm>
          <a:prstGeom prst="roundRect">
            <a:avLst>
              <a:gd name="adj" fmla="val 50000"/>
            </a:avLst>
          </a:prstGeom>
          <a:solidFill>
            <a:srgbClr val="0B1116"/>
          </a:solidFill>
          <a:ln w="12700">
            <a:solidFill>
              <a:srgbClr val="E0A64A"/>
            </a:solidFill>
            <a:prstDash val="solid"/>
          </a:ln>
        </p:spPr>
      </p:sp>
      <p:sp>
        <p:nvSpPr>
          <p:cNvPr id="34" name="Text 32"/>
          <p:cNvSpPr txBox="1"/>
          <p:nvPr/>
        </p:nvSpPr>
        <p:spPr>
          <a:xfrm>
            <a:off x="4498848" y="4197096"/>
            <a:ext cx="541325" cy="256032"/>
          </a:xfrm>
          <a:prstGeom prst="rect">
            <a:avLst/>
          </a:prstGeom>
          <a:noFill/>
          <a:ln/>
        </p:spPr>
        <p:txBody>
          <a:bodyPr wrap="square" lIns="0" tIns="0" rIns="0" bIns="0" rtlCol="0" anchor="ctr"/>
          <a:lstStyle/>
          <a:p>
            <a:pPr algn="ctr" indent="0" marL="0">
              <a:buNone/>
            </a:pPr>
            <a:r>
              <a:rPr lang="en-US" sz="950" b="1" dirty="0">
                <a:solidFill>
                  <a:srgbClr val="E0A64A"/>
                </a:solidFill>
                <a:latin typeface="Calibri" pitchFamily="34" charset="0"/>
                <a:ea typeface="Calibri" pitchFamily="34" charset="-122"/>
                <a:cs typeface="Calibri" pitchFamily="34" charset="-120"/>
              </a:rPr>
              <a:t>SR 3.1</a:t>
            </a:r>
            <a:endParaRPr lang="en-US" sz="950" dirty="0"/>
          </a:p>
        </p:txBody>
      </p:sp>
      <p:sp>
        <p:nvSpPr>
          <p:cNvPr id="35" name="Shape 33"/>
          <p:cNvSpPr/>
          <p:nvPr/>
        </p:nvSpPr>
        <p:spPr>
          <a:xfrm>
            <a:off x="8092440" y="3328416"/>
            <a:ext cx="3538728" cy="1234440"/>
          </a:xfrm>
          <a:prstGeom prst="roundRect">
            <a:avLst>
              <a:gd name="adj" fmla="val 4444"/>
            </a:avLst>
          </a:prstGeom>
          <a:solidFill>
            <a:srgbClr val="1B242C"/>
          </a:solidFill>
          <a:ln w="12700">
            <a:solidFill>
              <a:srgbClr val="313D47"/>
            </a:solidFill>
            <a:prstDash val="solid"/>
          </a:ln>
        </p:spPr>
      </p:sp>
      <p:sp>
        <p:nvSpPr>
          <p:cNvPr id="36" name="Shape 34"/>
          <p:cNvSpPr/>
          <p:nvPr/>
        </p:nvSpPr>
        <p:spPr>
          <a:xfrm>
            <a:off x="8092440" y="3328416"/>
            <a:ext cx="64008" cy="1234440"/>
          </a:xfrm>
          <a:prstGeom prst="rect">
            <a:avLst/>
          </a:prstGeom>
          <a:solidFill>
            <a:srgbClr val="E0A64A"/>
          </a:solidFill>
          <a:ln/>
        </p:spPr>
      </p:sp>
      <p:sp>
        <p:nvSpPr>
          <p:cNvPr id="37" name="Text 35"/>
          <p:cNvSpPr txBox="1"/>
          <p:nvPr/>
        </p:nvSpPr>
        <p:spPr>
          <a:xfrm>
            <a:off x="8293608" y="3447288"/>
            <a:ext cx="3172968" cy="320040"/>
          </a:xfrm>
          <a:prstGeom prst="rect">
            <a:avLst/>
          </a:prstGeom>
          <a:noFill/>
          <a:ln/>
        </p:spPr>
        <p:txBody>
          <a:bodyPr wrap="square" lIns="0" tIns="0" rIns="0" bIns="0" rtlCol="0" anchor="ctr"/>
          <a:lstStyle/>
          <a:p>
            <a:pPr indent="0" marL="0">
              <a:buNone/>
            </a:pPr>
            <a:r>
              <a:rPr lang="en-US" sz="1400" b="1" dirty="0">
                <a:solidFill>
                  <a:srgbClr val="ECF1F5"/>
                </a:solidFill>
                <a:latin typeface="Calibri" pitchFamily="34" charset="0"/>
                <a:ea typeface="Calibri" pitchFamily="34" charset="-122"/>
                <a:cs typeface="Calibri" pitchFamily="34" charset="-120"/>
              </a:rPr>
              <a:t>V7 · Détection nulle</a:t>
            </a:r>
            <a:endParaRPr lang="en-US" sz="1400" dirty="0"/>
          </a:p>
        </p:txBody>
      </p:sp>
      <p:sp>
        <p:nvSpPr>
          <p:cNvPr id="38" name="Text 36"/>
          <p:cNvSpPr txBox="1"/>
          <p:nvPr/>
        </p:nvSpPr>
        <p:spPr>
          <a:xfrm>
            <a:off x="8293608" y="3785616"/>
            <a:ext cx="3172968" cy="45720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IDS aveugle sur l'OT, règle jamais déclenchée.</a:t>
            </a:r>
            <a:endParaRPr lang="en-US" sz="1200" dirty="0"/>
          </a:p>
        </p:txBody>
      </p:sp>
      <p:sp>
        <p:nvSpPr>
          <p:cNvPr id="39" name="Shape 37"/>
          <p:cNvSpPr/>
          <p:nvPr/>
        </p:nvSpPr>
        <p:spPr>
          <a:xfrm>
            <a:off x="8293608" y="4197096"/>
            <a:ext cx="541325" cy="256032"/>
          </a:xfrm>
          <a:prstGeom prst="roundRect">
            <a:avLst>
              <a:gd name="adj" fmla="val 50000"/>
            </a:avLst>
          </a:prstGeom>
          <a:solidFill>
            <a:srgbClr val="0B1116"/>
          </a:solidFill>
          <a:ln w="12700">
            <a:solidFill>
              <a:srgbClr val="E0A64A"/>
            </a:solidFill>
            <a:prstDash val="solid"/>
          </a:ln>
        </p:spPr>
      </p:sp>
      <p:sp>
        <p:nvSpPr>
          <p:cNvPr id="40" name="Text 38"/>
          <p:cNvSpPr txBox="1"/>
          <p:nvPr/>
        </p:nvSpPr>
        <p:spPr>
          <a:xfrm>
            <a:off x="8293608" y="4197096"/>
            <a:ext cx="541325" cy="256032"/>
          </a:xfrm>
          <a:prstGeom prst="rect">
            <a:avLst/>
          </a:prstGeom>
          <a:noFill/>
          <a:ln/>
        </p:spPr>
        <p:txBody>
          <a:bodyPr wrap="square" lIns="0" tIns="0" rIns="0" bIns="0" rtlCol="0" anchor="ctr"/>
          <a:lstStyle/>
          <a:p>
            <a:pPr algn="ctr" indent="0" marL="0">
              <a:buNone/>
            </a:pPr>
            <a:r>
              <a:rPr lang="en-US" sz="950" b="1" dirty="0">
                <a:solidFill>
                  <a:srgbClr val="E0A64A"/>
                </a:solidFill>
                <a:latin typeface="Calibri" pitchFamily="34" charset="0"/>
                <a:ea typeface="Calibri" pitchFamily="34" charset="-122"/>
                <a:cs typeface="Calibri" pitchFamily="34" charset="-120"/>
              </a:rPr>
              <a:t>SR 6.1</a:t>
            </a:r>
            <a:endParaRPr lang="en-US" sz="950" dirty="0"/>
          </a:p>
        </p:txBody>
      </p:sp>
      <p:sp>
        <p:nvSpPr>
          <p:cNvPr id="41" name="Shape 39"/>
          <p:cNvSpPr/>
          <p:nvPr/>
        </p:nvSpPr>
        <p:spPr>
          <a:xfrm>
            <a:off x="502920" y="5074920"/>
            <a:ext cx="11155680" cy="960120"/>
          </a:xfrm>
          <a:prstGeom prst="roundRect">
            <a:avLst>
              <a:gd name="adj" fmla="val 5714"/>
            </a:avLst>
          </a:prstGeom>
          <a:solidFill>
            <a:srgbClr val="222E38"/>
          </a:solidFill>
          <a:ln w="12700">
            <a:solidFill>
              <a:srgbClr val="313D47"/>
            </a:solidFill>
            <a:prstDash val="solid"/>
          </a:ln>
        </p:spPr>
      </p:sp>
      <p:sp>
        <p:nvSpPr>
          <p:cNvPr id="42" name="Text 40"/>
          <p:cNvSpPr txBox="1"/>
          <p:nvPr/>
        </p:nvSpPr>
        <p:spPr>
          <a:xfrm>
            <a:off x="685800" y="5120640"/>
            <a:ext cx="10789920" cy="868680"/>
          </a:xfrm>
          <a:prstGeom prst="rect">
            <a:avLst/>
          </a:prstGeom>
          <a:noFill/>
          <a:ln/>
        </p:spPr>
        <p:txBody>
          <a:bodyPr wrap="square" lIns="0" tIns="0" rIns="0" bIns="0" rtlCol="0" anchor="ctr"/>
          <a:lstStyle/>
          <a:p>
            <a:pPr indent="0" marL="0">
              <a:buNone/>
            </a:pPr>
            <a:r>
              <a:rPr lang="en-US" sz="1300" b="1" dirty="0">
                <a:solidFill>
                  <a:srgbClr val="ECF1F5"/>
                </a:solidFill>
                <a:latin typeface="Calibri" pitchFamily="34" charset="0"/>
                <a:ea typeface="Calibri" pitchFamily="34" charset="-122"/>
                <a:cs typeface="Calibri" pitchFamily="34" charset="-120"/>
              </a:rPr>
              <a:t>+ 7 vulnérabilités structurelles : </a:t>
            </a:r>
            <a:pPr indent="0" marL="0">
              <a:buNone/>
            </a:pPr>
            <a:r>
              <a:rPr lang="en-US" sz="1300" dirty="0">
                <a:solidFill>
                  <a:srgbClr val="9DABB6"/>
                </a:solidFill>
                <a:latin typeface="Calibri" pitchFamily="34" charset="0"/>
                <a:ea typeface="Calibri" pitchFamily="34" charset="-122"/>
                <a:cs typeface="Calibri" pitchFamily="34" charset="-120"/>
              </a:rPr>
              <a:t>admin en clair, journalisation absente, composants en fin de vie, hyperviseur exposé, outils offensifs sur site, AUCUNE barrière de sécurité indépendante, hygiène physique. Détail dans le dossier technique.</a:t>
            </a:r>
            <a:endParaRPr lang="en-US" sz="1300" dirty="0"/>
          </a:p>
        </p:txBody>
      </p:sp>
      <p:sp>
        <p:nvSpPr>
          <p:cNvPr id="43" name="Text 41"/>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04 / 12 · Vulnérabilités</a:t>
            </a:r>
            <a:pPr algn="l" indent="0" marL="0">
              <a:buNone/>
            </a:pPr>
            <a:r>
              <a:rPr lang="en-US" sz="950" dirty="0">
                <a:solidFill>
                  <a:srgbClr val="6E7C87"/>
                </a:solidFill>
                <a:latin typeface="Calibri" pitchFamily="34" charset="0"/>
                <a:ea typeface="Calibri" pitchFamily="34" charset="-122"/>
                <a:cs typeface="Calibri" pitchFamily="34" charset="-120"/>
              </a:rPr>
              <a:t>        13 vulnérabilités · IEC 62443-3-3 · MITRE ATT&amp;CK ICS</a:t>
            </a:r>
            <a:endParaRPr lang="en-US" sz="950" dirty="0"/>
          </a:p>
        </p:txBody>
      </p:sp>
      <p:sp>
        <p:nvSpPr>
          <p:cNvPr id="44" name="Shape 42"/>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5AA6DC"/>
                </a:solidFill>
                <a:latin typeface="Calibri" pitchFamily="34" charset="0"/>
                <a:ea typeface="Calibri" pitchFamily="34" charset="-122"/>
                <a:cs typeface="Calibri" pitchFamily="34" charset="-120"/>
              </a:rPr>
              <a:t>MÉTHODE</a:t>
            </a:r>
            <a:pPr algn="l" indent="0" marL="0">
              <a:buNone/>
            </a:pPr>
            <a:r>
              <a:rPr lang="en-US" sz="1100" spc="200" kern="0" dirty="0">
                <a:solidFill>
                  <a:srgbClr val="6E7C87"/>
                </a:solidFill>
                <a:latin typeface="Calibri" pitchFamily="34" charset="0"/>
                <a:ea typeface="Calibri" pitchFamily="34" charset="-122"/>
                <a:cs typeface="Calibri" pitchFamily="34" charset="-120"/>
              </a:rPr>
              <a:t>   PRIORISATION PAR LES SECURITY LEVELS</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Où l'on est, où l'on doit aller</a:t>
            </a:r>
            <a:endParaRPr lang="en-US" sz="3400" dirty="0"/>
          </a:p>
        </p:txBody>
      </p:sp>
      <p:sp>
        <p:nvSpPr>
          <p:cNvPr id="5" name="Shape 3"/>
          <p:cNvSpPr/>
          <p:nvPr/>
        </p:nvSpPr>
        <p:spPr>
          <a:xfrm>
            <a:off x="502920" y="1920240"/>
            <a:ext cx="5486400" cy="4023360"/>
          </a:xfrm>
          <a:prstGeom prst="roundRect">
            <a:avLst>
              <a:gd name="adj" fmla="val 1364"/>
            </a:avLst>
          </a:prstGeom>
          <a:solidFill>
            <a:srgbClr val="1B242C"/>
          </a:solidFill>
          <a:ln w="12700">
            <a:solidFill>
              <a:srgbClr val="5AA6DC"/>
            </a:solidFill>
            <a:prstDash val="solid"/>
          </a:ln>
        </p:spPr>
      </p:sp>
      <p:sp>
        <p:nvSpPr>
          <p:cNvPr id="6" name="Shape 4"/>
          <p:cNvSpPr/>
          <p:nvPr/>
        </p:nvSpPr>
        <p:spPr>
          <a:xfrm>
            <a:off x="502920" y="1920240"/>
            <a:ext cx="64008" cy="4023360"/>
          </a:xfrm>
          <a:prstGeom prst="rect">
            <a:avLst/>
          </a:prstGeom>
          <a:solidFill>
            <a:srgbClr val="5AA6DC"/>
          </a:solidFill>
          <a:ln/>
        </p:spPr>
      </p:sp>
      <p:sp>
        <p:nvSpPr>
          <p:cNvPr id="7" name="Text 5"/>
          <p:cNvSpPr txBox="1"/>
          <p:nvPr/>
        </p:nvSpPr>
        <p:spPr>
          <a:xfrm>
            <a:off x="777240" y="2103120"/>
            <a:ext cx="5029200" cy="457200"/>
          </a:xfrm>
          <a:prstGeom prst="rect">
            <a:avLst/>
          </a:prstGeom>
          <a:noFill/>
          <a:ln/>
        </p:spPr>
        <p:txBody>
          <a:bodyPr wrap="square" lIns="0" tIns="0" rIns="0" bIns="0" rtlCol="0" anchor="ctr"/>
          <a:lstStyle/>
          <a:p>
            <a:pPr indent="0" marL="0">
              <a:buNone/>
            </a:pPr>
            <a:r>
              <a:rPr lang="en-US" sz="1700" b="1" dirty="0">
                <a:solidFill>
                  <a:srgbClr val="ECF1F5"/>
                </a:solidFill>
                <a:latin typeface="Calibri" pitchFamily="34" charset="0"/>
                <a:ea typeface="Calibri" pitchFamily="34" charset="-122"/>
                <a:cs typeface="Calibri" pitchFamily="34" charset="-120"/>
              </a:rPr>
              <a:t>Le profil d'attaquant du TP = SL 2</a:t>
            </a:r>
            <a:endParaRPr lang="en-US" sz="1700" dirty="0"/>
          </a:p>
        </p:txBody>
      </p:sp>
      <p:sp>
        <p:nvSpPr>
          <p:cNvPr id="8" name="Text 6"/>
          <p:cNvSpPr txBox="1"/>
          <p:nvPr/>
        </p:nvSpPr>
        <p:spPr>
          <a:xfrm>
            <a:off x="777240" y="2606040"/>
            <a:ext cx="4937760" cy="1371600"/>
          </a:xfrm>
          <a:prstGeom prst="rect">
            <a:avLst/>
          </a:prstGeom>
          <a:noFill/>
          <a:ln/>
        </p:spPr>
        <p:txBody>
          <a:bodyPr wrap="square" lIns="0" tIns="0" rIns="0" bIns="0" rtlCol="0" anchor="ctr"/>
          <a:lstStyle/>
          <a:p>
            <a:pPr indent="0" marL="0">
              <a:buNone/>
            </a:pPr>
            <a:r>
              <a:rPr lang="en-US" sz="1400" dirty="0">
                <a:solidFill>
                  <a:srgbClr val="9DABB6"/>
                </a:solidFill>
                <a:latin typeface="Calibri" pitchFamily="34" charset="0"/>
                <a:ea typeface="Calibri" pitchFamily="34" charset="-122"/>
                <a:cs typeface="Calibri" pitchFamily="34" charset="-120"/>
              </a:rPr>
              <a:t>Kali standard, mots de passe par défaut, bibliothèque Modbus publique, plugin Caldera : « attaquant intentionnel, moyens faibles, compétences génériques ». C'est la définition même du SL 2.</a:t>
            </a:r>
            <a:endParaRPr lang="en-US" sz="1400" dirty="0"/>
          </a:p>
        </p:txBody>
      </p:sp>
      <p:sp>
        <p:nvSpPr>
          <p:cNvPr id="9" name="Text 7"/>
          <p:cNvSpPr txBox="1"/>
          <p:nvPr/>
        </p:nvSpPr>
        <p:spPr>
          <a:xfrm>
            <a:off x="777240" y="4206240"/>
            <a:ext cx="4937760" cy="731520"/>
          </a:xfrm>
          <a:prstGeom prst="rect">
            <a:avLst/>
          </a:prstGeom>
          <a:noFill/>
          <a:ln/>
        </p:spPr>
        <p:txBody>
          <a:bodyPr wrap="square" lIns="0" tIns="0" rIns="0" bIns="0" rtlCol="0" anchor="ctr"/>
          <a:lstStyle/>
          <a:p>
            <a:pPr indent="0" marL="0">
              <a:buNone/>
            </a:pPr>
            <a:r>
              <a:rPr lang="en-US" sz="1500" dirty="0">
                <a:solidFill>
                  <a:srgbClr val="9DABB6"/>
                </a:solidFill>
                <a:latin typeface="Calibri" pitchFamily="34" charset="0"/>
                <a:ea typeface="Calibri" pitchFamily="34" charset="-122"/>
                <a:cs typeface="Calibri" pitchFamily="34" charset="-120"/>
              </a:rPr>
              <a:t>Or l'usine n'oppose aucune contre-mesure : elle est à </a:t>
            </a:r>
            <a:pPr indent="0" marL="0">
              <a:buNone/>
            </a:pPr>
            <a:r>
              <a:rPr lang="en-US" sz="1500" b="1" dirty="0">
                <a:solidFill>
                  <a:srgbClr val="E4796F"/>
                </a:solidFill>
                <a:latin typeface="Calibri" pitchFamily="34" charset="0"/>
                <a:ea typeface="Calibri" pitchFamily="34" charset="-122"/>
                <a:cs typeface="Calibri" pitchFamily="34" charset="-120"/>
              </a:rPr>
              <a:t>SL 0.</a:t>
            </a:r>
            <a:endParaRPr lang="en-US" sz="1500" dirty="0"/>
          </a:p>
        </p:txBody>
      </p:sp>
      <p:sp>
        <p:nvSpPr>
          <p:cNvPr id="10" name="Shape 8"/>
          <p:cNvSpPr/>
          <p:nvPr/>
        </p:nvSpPr>
        <p:spPr>
          <a:xfrm>
            <a:off x="6172200" y="1920240"/>
            <a:ext cx="5486400" cy="4023360"/>
          </a:xfrm>
          <a:prstGeom prst="roundRect">
            <a:avLst>
              <a:gd name="adj" fmla="val 1364"/>
            </a:avLst>
          </a:prstGeom>
          <a:solidFill>
            <a:srgbClr val="1B242C"/>
          </a:solidFill>
          <a:ln w="12700">
            <a:solidFill>
              <a:srgbClr val="313D47"/>
            </a:solidFill>
            <a:prstDash val="solid"/>
          </a:ln>
        </p:spPr>
      </p:sp>
      <p:sp>
        <p:nvSpPr>
          <p:cNvPr id="11" name="Text 9"/>
          <p:cNvSpPr txBox="1"/>
          <p:nvPr/>
        </p:nvSpPr>
        <p:spPr>
          <a:xfrm>
            <a:off x="6446520" y="2103120"/>
            <a:ext cx="4937760" cy="365760"/>
          </a:xfrm>
          <a:prstGeom prst="rect">
            <a:avLst/>
          </a:prstGeom>
          <a:noFill/>
          <a:ln/>
        </p:spPr>
        <p:txBody>
          <a:bodyPr wrap="square" lIns="0" tIns="0" rIns="0" bIns="0" rtlCol="0" anchor="ctr"/>
          <a:lstStyle/>
          <a:p>
            <a:pPr indent="0" marL="0">
              <a:buNone/>
            </a:pPr>
            <a:r>
              <a:rPr lang="en-US" sz="1700" b="1" dirty="0">
                <a:solidFill>
                  <a:srgbClr val="ECF1F5"/>
                </a:solidFill>
                <a:latin typeface="Calibri" pitchFamily="34" charset="0"/>
                <a:ea typeface="Calibri" pitchFamily="34" charset="-122"/>
                <a:cs typeface="Calibri" pitchFamily="34" charset="-120"/>
              </a:rPr>
              <a:t>Cibles par zone</a:t>
            </a:r>
            <a:endParaRPr lang="en-US" sz="1700" dirty="0"/>
          </a:p>
        </p:txBody>
      </p:sp>
      <p:sp>
        <p:nvSpPr>
          <p:cNvPr id="12" name="Text 10"/>
          <p:cNvSpPr txBox="1"/>
          <p:nvPr/>
        </p:nvSpPr>
        <p:spPr>
          <a:xfrm>
            <a:off x="6446520" y="2606040"/>
            <a:ext cx="4937760" cy="27432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Zone DMZ / supervision   →   SL 0 vers 2</a:t>
            </a:r>
            <a:endParaRPr lang="en-US" sz="1200" dirty="0"/>
          </a:p>
        </p:txBody>
      </p:sp>
      <p:sp>
        <p:nvSpPr>
          <p:cNvPr id="13" name="Shape 11"/>
          <p:cNvSpPr/>
          <p:nvPr/>
        </p:nvSpPr>
        <p:spPr>
          <a:xfrm>
            <a:off x="6446520" y="2898648"/>
            <a:ext cx="1161288" cy="310896"/>
          </a:xfrm>
          <a:prstGeom prst="roundRect">
            <a:avLst>
              <a:gd name="adj" fmla="val 11765"/>
            </a:avLst>
          </a:prstGeom>
          <a:solidFill>
            <a:srgbClr val="5AA6DC"/>
          </a:solidFill>
          <a:ln w="12700">
            <a:solidFill>
              <a:srgbClr val="5AA6DC"/>
            </a:solidFill>
            <a:prstDash val="solid"/>
          </a:ln>
        </p:spPr>
      </p:sp>
      <p:sp>
        <p:nvSpPr>
          <p:cNvPr id="14" name="Text 12"/>
          <p:cNvSpPr txBox="1"/>
          <p:nvPr/>
        </p:nvSpPr>
        <p:spPr>
          <a:xfrm>
            <a:off x="6446520" y="2898648"/>
            <a:ext cx="1161288" cy="310896"/>
          </a:xfrm>
          <a:prstGeom prst="rect">
            <a:avLst/>
          </a:prstGeom>
          <a:noFill/>
          <a:ln/>
        </p:spPr>
        <p:txBody>
          <a:bodyPr wrap="square" lIns="0" tIns="0" rIns="0" bIns="0" rtlCol="0" anchor="ctr"/>
          <a:lstStyle/>
          <a:p>
            <a:pPr algn="ctr" indent="0" marL="0">
              <a:buNone/>
            </a:pPr>
            <a:r>
              <a:rPr lang="en-US" sz="1000" b="1" dirty="0">
                <a:solidFill>
                  <a:srgbClr val="10161C"/>
                </a:solidFill>
                <a:latin typeface="Calibri" pitchFamily="34" charset="0"/>
                <a:ea typeface="Calibri" pitchFamily="34" charset="-122"/>
                <a:cs typeface="Calibri" pitchFamily="34" charset="-120"/>
              </a:rPr>
              <a:t>SL 0</a:t>
            </a:r>
            <a:endParaRPr lang="en-US" sz="1000" dirty="0"/>
          </a:p>
        </p:txBody>
      </p:sp>
      <p:sp>
        <p:nvSpPr>
          <p:cNvPr id="15" name="Shape 13"/>
          <p:cNvSpPr/>
          <p:nvPr/>
        </p:nvSpPr>
        <p:spPr>
          <a:xfrm>
            <a:off x="7680960" y="2898648"/>
            <a:ext cx="1161288" cy="310896"/>
          </a:xfrm>
          <a:prstGeom prst="roundRect">
            <a:avLst>
              <a:gd name="adj" fmla="val 11765"/>
            </a:avLst>
          </a:prstGeom>
          <a:solidFill>
            <a:srgbClr val="222E38"/>
          </a:solidFill>
          <a:ln w="12700">
            <a:solidFill>
              <a:srgbClr val="313D47"/>
            </a:solidFill>
            <a:prstDash val="solid"/>
          </a:ln>
        </p:spPr>
      </p:sp>
      <p:sp>
        <p:nvSpPr>
          <p:cNvPr id="16" name="Text 14"/>
          <p:cNvSpPr txBox="1"/>
          <p:nvPr/>
        </p:nvSpPr>
        <p:spPr>
          <a:xfrm>
            <a:off x="7680960" y="2898648"/>
            <a:ext cx="1161288" cy="310896"/>
          </a:xfrm>
          <a:prstGeom prst="rect">
            <a:avLst/>
          </a:prstGeom>
          <a:noFill/>
          <a:ln/>
        </p:spPr>
        <p:txBody>
          <a:bodyPr wrap="square" lIns="0" tIns="0" rIns="0" bIns="0" rtlCol="0" anchor="ctr"/>
          <a:lstStyle/>
          <a:p>
            <a:pPr algn="ctr" indent="0" marL="0">
              <a:buNone/>
            </a:pPr>
            <a:r>
              <a:rPr lang="en-US" sz="1000" b="1" dirty="0">
                <a:solidFill>
                  <a:srgbClr val="6E7C87"/>
                </a:solidFill>
                <a:latin typeface="Calibri" pitchFamily="34" charset="0"/>
                <a:ea typeface="Calibri" pitchFamily="34" charset="-122"/>
                <a:cs typeface="Calibri" pitchFamily="34" charset="-120"/>
              </a:rPr>
              <a:t>SL 1</a:t>
            </a:r>
            <a:endParaRPr lang="en-US" sz="1000" dirty="0"/>
          </a:p>
        </p:txBody>
      </p:sp>
      <p:sp>
        <p:nvSpPr>
          <p:cNvPr id="17" name="Shape 15"/>
          <p:cNvSpPr/>
          <p:nvPr/>
        </p:nvSpPr>
        <p:spPr>
          <a:xfrm>
            <a:off x="8915400" y="2898648"/>
            <a:ext cx="1161288" cy="310896"/>
          </a:xfrm>
          <a:prstGeom prst="roundRect">
            <a:avLst>
              <a:gd name="adj" fmla="val 11765"/>
            </a:avLst>
          </a:prstGeom>
          <a:solidFill>
            <a:srgbClr val="6FBF95"/>
          </a:solidFill>
          <a:ln w="12700">
            <a:solidFill>
              <a:srgbClr val="6FBF95"/>
            </a:solidFill>
            <a:prstDash val="solid"/>
          </a:ln>
        </p:spPr>
      </p:sp>
      <p:sp>
        <p:nvSpPr>
          <p:cNvPr id="18" name="Text 16"/>
          <p:cNvSpPr txBox="1"/>
          <p:nvPr/>
        </p:nvSpPr>
        <p:spPr>
          <a:xfrm>
            <a:off x="8915400" y="2898648"/>
            <a:ext cx="1161288" cy="310896"/>
          </a:xfrm>
          <a:prstGeom prst="rect">
            <a:avLst/>
          </a:prstGeom>
          <a:noFill/>
          <a:ln/>
        </p:spPr>
        <p:txBody>
          <a:bodyPr wrap="square" lIns="0" tIns="0" rIns="0" bIns="0" rtlCol="0" anchor="ctr"/>
          <a:lstStyle/>
          <a:p>
            <a:pPr algn="ctr" indent="0" marL="0">
              <a:buNone/>
            </a:pPr>
            <a:r>
              <a:rPr lang="en-US" sz="1000" b="1" dirty="0">
                <a:solidFill>
                  <a:srgbClr val="10161C"/>
                </a:solidFill>
                <a:latin typeface="Calibri" pitchFamily="34" charset="0"/>
                <a:ea typeface="Calibri" pitchFamily="34" charset="-122"/>
                <a:cs typeface="Calibri" pitchFamily="34" charset="-120"/>
              </a:rPr>
              <a:t>SL 2</a:t>
            </a:r>
            <a:endParaRPr lang="en-US" sz="1000" dirty="0"/>
          </a:p>
        </p:txBody>
      </p:sp>
      <p:sp>
        <p:nvSpPr>
          <p:cNvPr id="19" name="Shape 17"/>
          <p:cNvSpPr/>
          <p:nvPr/>
        </p:nvSpPr>
        <p:spPr>
          <a:xfrm>
            <a:off x="10149840" y="2898648"/>
            <a:ext cx="1161288" cy="310896"/>
          </a:xfrm>
          <a:prstGeom prst="roundRect">
            <a:avLst>
              <a:gd name="adj" fmla="val 11765"/>
            </a:avLst>
          </a:prstGeom>
          <a:solidFill>
            <a:srgbClr val="222E38"/>
          </a:solidFill>
          <a:ln w="12700">
            <a:solidFill>
              <a:srgbClr val="313D47"/>
            </a:solidFill>
            <a:prstDash val="solid"/>
          </a:ln>
        </p:spPr>
      </p:sp>
      <p:sp>
        <p:nvSpPr>
          <p:cNvPr id="20" name="Text 18"/>
          <p:cNvSpPr txBox="1"/>
          <p:nvPr/>
        </p:nvSpPr>
        <p:spPr>
          <a:xfrm>
            <a:off x="10149840" y="2898648"/>
            <a:ext cx="1161288" cy="310896"/>
          </a:xfrm>
          <a:prstGeom prst="rect">
            <a:avLst/>
          </a:prstGeom>
          <a:noFill/>
          <a:ln/>
        </p:spPr>
        <p:txBody>
          <a:bodyPr wrap="square" lIns="0" tIns="0" rIns="0" bIns="0" rtlCol="0" anchor="ctr"/>
          <a:lstStyle/>
          <a:p>
            <a:pPr algn="ctr" indent="0" marL="0">
              <a:buNone/>
            </a:pPr>
            <a:r>
              <a:rPr lang="en-US" sz="1000" b="1" dirty="0">
                <a:solidFill>
                  <a:srgbClr val="6E7C87"/>
                </a:solidFill>
                <a:latin typeface="Calibri" pitchFamily="34" charset="0"/>
                <a:ea typeface="Calibri" pitchFamily="34" charset="-122"/>
                <a:cs typeface="Calibri" pitchFamily="34" charset="-120"/>
              </a:rPr>
              <a:t>SL 3</a:t>
            </a:r>
            <a:endParaRPr lang="en-US" sz="1000" dirty="0"/>
          </a:p>
        </p:txBody>
      </p:sp>
      <p:sp>
        <p:nvSpPr>
          <p:cNvPr id="21" name="Text 19"/>
          <p:cNvSpPr txBox="1"/>
          <p:nvPr/>
        </p:nvSpPr>
        <p:spPr>
          <a:xfrm>
            <a:off x="6446520" y="3703320"/>
            <a:ext cx="4937760" cy="27432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Zone contrôle / procédé   →   SL 0 vers 3</a:t>
            </a:r>
            <a:endParaRPr lang="en-US" sz="1200" dirty="0"/>
          </a:p>
        </p:txBody>
      </p:sp>
      <p:sp>
        <p:nvSpPr>
          <p:cNvPr id="22" name="Shape 20"/>
          <p:cNvSpPr/>
          <p:nvPr/>
        </p:nvSpPr>
        <p:spPr>
          <a:xfrm>
            <a:off x="6446520" y="3995928"/>
            <a:ext cx="1161288" cy="310896"/>
          </a:xfrm>
          <a:prstGeom prst="roundRect">
            <a:avLst>
              <a:gd name="adj" fmla="val 11765"/>
            </a:avLst>
          </a:prstGeom>
          <a:solidFill>
            <a:srgbClr val="5AA6DC"/>
          </a:solidFill>
          <a:ln w="12700">
            <a:solidFill>
              <a:srgbClr val="5AA6DC"/>
            </a:solidFill>
            <a:prstDash val="solid"/>
          </a:ln>
        </p:spPr>
      </p:sp>
      <p:sp>
        <p:nvSpPr>
          <p:cNvPr id="23" name="Text 21"/>
          <p:cNvSpPr txBox="1"/>
          <p:nvPr/>
        </p:nvSpPr>
        <p:spPr>
          <a:xfrm>
            <a:off x="6446520" y="3995928"/>
            <a:ext cx="1161288" cy="310896"/>
          </a:xfrm>
          <a:prstGeom prst="rect">
            <a:avLst/>
          </a:prstGeom>
          <a:noFill/>
          <a:ln/>
        </p:spPr>
        <p:txBody>
          <a:bodyPr wrap="square" lIns="0" tIns="0" rIns="0" bIns="0" rtlCol="0" anchor="ctr"/>
          <a:lstStyle/>
          <a:p>
            <a:pPr algn="ctr" indent="0" marL="0">
              <a:buNone/>
            </a:pPr>
            <a:r>
              <a:rPr lang="en-US" sz="1000" b="1" dirty="0">
                <a:solidFill>
                  <a:srgbClr val="10161C"/>
                </a:solidFill>
                <a:latin typeface="Calibri" pitchFamily="34" charset="0"/>
                <a:ea typeface="Calibri" pitchFamily="34" charset="-122"/>
                <a:cs typeface="Calibri" pitchFamily="34" charset="-120"/>
              </a:rPr>
              <a:t>SL 0</a:t>
            </a:r>
            <a:endParaRPr lang="en-US" sz="1000" dirty="0"/>
          </a:p>
        </p:txBody>
      </p:sp>
      <p:sp>
        <p:nvSpPr>
          <p:cNvPr id="24" name="Shape 22"/>
          <p:cNvSpPr/>
          <p:nvPr/>
        </p:nvSpPr>
        <p:spPr>
          <a:xfrm>
            <a:off x="7680960" y="3995928"/>
            <a:ext cx="1161288" cy="310896"/>
          </a:xfrm>
          <a:prstGeom prst="roundRect">
            <a:avLst>
              <a:gd name="adj" fmla="val 11765"/>
            </a:avLst>
          </a:prstGeom>
          <a:solidFill>
            <a:srgbClr val="5AA6DC"/>
          </a:solidFill>
          <a:ln w="12700">
            <a:solidFill>
              <a:srgbClr val="5AA6DC"/>
            </a:solidFill>
            <a:prstDash val="solid"/>
          </a:ln>
        </p:spPr>
      </p:sp>
      <p:sp>
        <p:nvSpPr>
          <p:cNvPr id="25" name="Text 23"/>
          <p:cNvSpPr txBox="1"/>
          <p:nvPr/>
        </p:nvSpPr>
        <p:spPr>
          <a:xfrm>
            <a:off x="7680960" y="3995928"/>
            <a:ext cx="1161288" cy="310896"/>
          </a:xfrm>
          <a:prstGeom prst="rect">
            <a:avLst/>
          </a:prstGeom>
          <a:noFill/>
          <a:ln/>
        </p:spPr>
        <p:txBody>
          <a:bodyPr wrap="square" lIns="0" tIns="0" rIns="0" bIns="0" rtlCol="0" anchor="ctr"/>
          <a:lstStyle/>
          <a:p>
            <a:pPr algn="ctr" indent="0" marL="0">
              <a:buNone/>
            </a:pPr>
            <a:r>
              <a:rPr lang="en-US" sz="1000" b="1" dirty="0">
                <a:solidFill>
                  <a:srgbClr val="10161C"/>
                </a:solidFill>
                <a:latin typeface="Calibri" pitchFamily="34" charset="0"/>
                <a:ea typeface="Calibri" pitchFamily="34" charset="-122"/>
                <a:cs typeface="Calibri" pitchFamily="34" charset="-120"/>
              </a:rPr>
              <a:t>SL 1</a:t>
            </a:r>
            <a:endParaRPr lang="en-US" sz="1000" dirty="0"/>
          </a:p>
        </p:txBody>
      </p:sp>
      <p:sp>
        <p:nvSpPr>
          <p:cNvPr id="26" name="Shape 24"/>
          <p:cNvSpPr/>
          <p:nvPr/>
        </p:nvSpPr>
        <p:spPr>
          <a:xfrm>
            <a:off x="8915400" y="3995928"/>
            <a:ext cx="1161288" cy="310896"/>
          </a:xfrm>
          <a:prstGeom prst="roundRect">
            <a:avLst>
              <a:gd name="adj" fmla="val 11765"/>
            </a:avLst>
          </a:prstGeom>
          <a:solidFill>
            <a:srgbClr val="222E38"/>
          </a:solidFill>
          <a:ln w="12700">
            <a:solidFill>
              <a:srgbClr val="313D47"/>
            </a:solidFill>
            <a:prstDash val="solid"/>
          </a:ln>
        </p:spPr>
      </p:sp>
      <p:sp>
        <p:nvSpPr>
          <p:cNvPr id="27" name="Text 25"/>
          <p:cNvSpPr txBox="1"/>
          <p:nvPr/>
        </p:nvSpPr>
        <p:spPr>
          <a:xfrm>
            <a:off x="8915400" y="3995928"/>
            <a:ext cx="1161288" cy="310896"/>
          </a:xfrm>
          <a:prstGeom prst="rect">
            <a:avLst/>
          </a:prstGeom>
          <a:noFill/>
          <a:ln/>
        </p:spPr>
        <p:txBody>
          <a:bodyPr wrap="square" lIns="0" tIns="0" rIns="0" bIns="0" rtlCol="0" anchor="ctr"/>
          <a:lstStyle/>
          <a:p>
            <a:pPr algn="ctr" indent="0" marL="0">
              <a:buNone/>
            </a:pPr>
            <a:r>
              <a:rPr lang="en-US" sz="1000" b="1" dirty="0">
                <a:solidFill>
                  <a:srgbClr val="6E7C87"/>
                </a:solidFill>
                <a:latin typeface="Calibri" pitchFamily="34" charset="0"/>
                <a:ea typeface="Calibri" pitchFamily="34" charset="-122"/>
                <a:cs typeface="Calibri" pitchFamily="34" charset="-120"/>
              </a:rPr>
              <a:t>SL 2</a:t>
            </a:r>
            <a:endParaRPr lang="en-US" sz="1000" dirty="0"/>
          </a:p>
        </p:txBody>
      </p:sp>
      <p:sp>
        <p:nvSpPr>
          <p:cNvPr id="28" name="Shape 26"/>
          <p:cNvSpPr/>
          <p:nvPr/>
        </p:nvSpPr>
        <p:spPr>
          <a:xfrm>
            <a:off x="10149840" y="3995928"/>
            <a:ext cx="1161288" cy="310896"/>
          </a:xfrm>
          <a:prstGeom prst="roundRect">
            <a:avLst>
              <a:gd name="adj" fmla="val 11765"/>
            </a:avLst>
          </a:prstGeom>
          <a:solidFill>
            <a:srgbClr val="6FBF95"/>
          </a:solidFill>
          <a:ln w="12700">
            <a:solidFill>
              <a:srgbClr val="6FBF95"/>
            </a:solidFill>
            <a:prstDash val="solid"/>
          </a:ln>
        </p:spPr>
      </p:sp>
      <p:sp>
        <p:nvSpPr>
          <p:cNvPr id="29" name="Text 27"/>
          <p:cNvSpPr txBox="1"/>
          <p:nvPr/>
        </p:nvSpPr>
        <p:spPr>
          <a:xfrm>
            <a:off x="10149840" y="3995928"/>
            <a:ext cx="1161288" cy="310896"/>
          </a:xfrm>
          <a:prstGeom prst="rect">
            <a:avLst/>
          </a:prstGeom>
          <a:noFill/>
          <a:ln/>
        </p:spPr>
        <p:txBody>
          <a:bodyPr wrap="square" lIns="0" tIns="0" rIns="0" bIns="0" rtlCol="0" anchor="ctr"/>
          <a:lstStyle/>
          <a:p>
            <a:pPr algn="ctr" indent="0" marL="0">
              <a:buNone/>
            </a:pPr>
            <a:r>
              <a:rPr lang="en-US" sz="1000" b="1" dirty="0">
                <a:solidFill>
                  <a:srgbClr val="10161C"/>
                </a:solidFill>
                <a:latin typeface="Calibri" pitchFamily="34" charset="0"/>
                <a:ea typeface="Calibri" pitchFamily="34" charset="-122"/>
                <a:cs typeface="Calibri" pitchFamily="34" charset="-120"/>
              </a:rPr>
              <a:t>SL 3</a:t>
            </a:r>
            <a:endParaRPr lang="en-US" sz="1000" dirty="0"/>
          </a:p>
        </p:txBody>
      </p:sp>
      <p:sp>
        <p:nvSpPr>
          <p:cNvPr id="30" name="Text 28"/>
          <p:cNvSpPr txBox="1"/>
          <p:nvPr/>
        </p:nvSpPr>
        <p:spPr>
          <a:xfrm>
            <a:off x="6446520" y="4846320"/>
            <a:ext cx="4937760" cy="822960"/>
          </a:xfrm>
          <a:prstGeom prst="rect">
            <a:avLst/>
          </a:prstGeom>
          <a:noFill/>
          <a:ln/>
        </p:spPr>
        <p:txBody>
          <a:bodyPr wrap="square" lIns="0" tIns="0" rIns="0" bIns="0" rtlCol="0" anchor="ctr"/>
          <a:lstStyle/>
          <a:p>
            <a:pPr indent="0" marL="0">
              <a:buNone/>
            </a:pPr>
            <a:r>
              <a:rPr lang="en-US" sz="1250" i="1" dirty="0">
                <a:solidFill>
                  <a:srgbClr val="6E7C87"/>
                </a:solidFill>
                <a:latin typeface="Calibri" pitchFamily="34" charset="0"/>
                <a:ea typeface="Calibri" pitchFamily="34" charset="-122"/>
                <a:cs typeface="Calibri" pitchFamily="34" charset="-120"/>
              </a:rPr>
              <a:t>La zone qui commande un procédé dangereux vise SL 3 : attaquant motivé, compétences spécifiques ICS.</a:t>
            </a:r>
            <a:endParaRPr lang="en-US" sz="1250" dirty="0"/>
          </a:p>
        </p:txBody>
      </p:sp>
      <p:sp>
        <p:nvSpPr>
          <p:cNvPr id="31" name="Text 29"/>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05 / 12 · Méthode</a:t>
            </a:r>
            <a:pPr algn="l" indent="0" marL="0">
              <a:buNone/>
            </a:pPr>
            <a:r>
              <a:rPr lang="en-US" sz="950" dirty="0">
                <a:solidFill>
                  <a:srgbClr val="6E7C87"/>
                </a:solidFill>
                <a:latin typeface="Calibri" pitchFamily="34" charset="0"/>
                <a:ea typeface="Calibri" pitchFamily="34" charset="-122"/>
                <a:cs typeface="Calibri" pitchFamily="34" charset="-120"/>
              </a:rPr>
              <a:t>        IEC 62443-3-2 (zones/conduits) → 62443-3-3 (exigences)</a:t>
            </a:r>
            <a:endParaRPr lang="en-US" sz="950" dirty="0"/>
          </a:p>
        </p:txBody>
      </p:sp>
      <p:sp>
        <p:nvSpPr>
          <p:cNvPr id="32" name="Shape 30"/>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FBF95"/>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6FBF95"/>
                </a:solidFill>
                <a:latin typeface="Calibri" pitchFamily="34" charset="0"/>
                <a:ea typeface="Calibri" pitchFamily="34" charset="-122"/>
                <a:cs typeface="Calibri" pitchFamily="34" charset="-120"/>
              </a:rPr>
              <a:t>BARÈME /3</a:t>
            </a:r>
            <a:pPr algn="l" indent="0" marL="0">
              <a:buNone/>
            </a:pPr>
            <a:r>
              <a:rPr lang="en-US" sz="1100" spc="200" kern="0" dirty="0">
                <a:solidFill>
                  <a:srgbClr val="6E7C87"/>
                </a:solidFill>
                <a:latin typeface="Calibri" pitchFamily="34" charset="0"/>
                <a:ea typeface="Calibri" pitchFamily="34" charset="-122"/>
                <a:cs typeface="Calibri" pitchFamily="34" charset="-120"/>
              </a:rPr>
              <a:t>   ARCHITECTURE FINALE — ZONES &amp; CONDUITS (MODÈLE PURDUE)</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Un flux non nécessaire n'existe pas</a:t>
            </a:r>
            <a:endParaRPr lang="en-US" sz="3400" dirty="0"/>
          </a:p>
        </p:txBody>
      </p:sp>
      <p:sp>
        <p:nvSpPr>
          <p:cNvPr id="5" name="Shape 3"/>
          <p:cNvSpPr/>
          <p:nvPr/>
        </p:nvSpPr>
        <p:spPr>
          <a:xfrm>
            <a:off x="502920" y="1874520"/>
            <a:ext cx="2724912" cy="1920240"/>
          </a:xfrm>
          <a:prstGeom prst="roundRect">
            <a:avLst>
              <a:gd name="adj" fmla="val 2857"/>
            </a:avLst>
          </a:prstGeom>
          <a:solidFill>
            <a:srgbClr val="1B242C"/>
          </a:solidFill>
          <a:ln w="12700">
            <a:solidFill>
              <a:srgbClr val="313D47"/>
            </a:solidFill>
            <a:prstDash val="solid"/>
          </a:ln>
        </p:spPr>
      </p:sp>
      <p:sp>
        <p:nvSpPr>
          <p:cNvPr id="6" name="Text 4"/>
          <p:cNvSpPr txBox="1"/>
          <p:nvPr/>
        </p:nvSpPr>
        <p:spPr>
          <a:xfrm>
            <a:off x="640080" y="2011680"/>
            <a:ext cx="2450592" cy="640080"/>
          </a:xfrm>
          <a:prstGeom prst="rect">
            <a:avLst/>
          </a:prstGeom>
          <a:noFill/>
          <a:ln/>
        </p:spPr>
        <p:txBody>
          <a:bodyPr wrap="square" lIns="0" tIns="0" rIns="0" bIns="0" rtlCol="0" anchor="ctr"/>
          <a:lstStyle/>
          <a:p>
            <a:pPr indent="0" marL="0">
              <a:buNone/>
            </a:pPr>
            <a:r>
              <a:rPr lang="en-US" sz="1350" b="1" dirty="0">
                <a:solidFill>
                  <a:srgbClr val="9DABB6"/>
                </a:solidFill>
                <a:latin typeface="Calibri" pitchFamily="34" charset="0"/>
                <a:ea typeface="Calibri" pitchFamily="34" charset="-122"/>
                <a:cs typeface="Calibri" pitchFamily="34" charset="-120"/>
              </a:rPr>
              <a:t>N4-5 · IT</a:t>
            </a:r>
            <a:endParaRPr lang="en-US" sz="1350" dirty="0"/>
          </a:p>
        </p:txBody>
      </p:sp>
      <p:sp>
        <p:nvSpPr>
          <p:cNvPr id="7" name="Text 5"/>
          <p:cNvSpPr txBox="1"/>
          <p:nvPr/>
        </p:nvSpPr>
        <p:spPr>
          <a:xfrm>
            <a:off x="640080" y="2651760"/>
            <a:ext cx="2450592" cy="100584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Bureautique, ERP.</a:t>
            </a:r>
            <a:endParaRPr lang="en-US" sz="1200" dirty="0"/>
          </a:p>
        </p:txBody>
      </p:sp>
      <p:sp>
        <p:nvSpPr>
          <p:cNvPr id="8" name="Shape 6"/>
          <p:cNvSpPr/>
          <p:nvPr/>
        </p:nvSpPr>
        <p:spPr>
          <a:xfrm>
            <a:off x="3374136" y="1874520"/>
            <a:ext cx="2724912" cy="1920240"/>
          </a:xfrm>
          <a:prstGeom prst="roundRect">
            <a:avLst>
              <a:gd name="adj" fmla="val 2857"/>
            </a:avLst>
          </a:prstGeom>
          <a:solidFill>
            <a:srgbClr val="1B242C"/>
          </a:solidFill>
          <a:ln w="12700">
            <a:solidFill>
              <a:srgbClr val="E0A64A"/>
            </a:solidFill>
            <a:prstDash val="solid"/>
          </a:ln>
        </p:spPr>
      </p:sp>
      <p:sp>
        <p:nvSpPr>
          <p:cNvPr id="9" name="Text 7"/>
          <p:cNvSpPr txBox="1"/>
          <p:nvPr/>
        </p:nvSpPr>
        <p:spPr>
          <a:xfrm>
            <a:off x="3511296" y="2011680"/>
            <a:ext cx="2450592" cy="640080"/>
          </a:xfrm>
          <a:prstGeom prst="rect">
            <a:avLst/>
          </a:prstGeom>
          <a:noFill/>
          <a:ln/>
        </p:spPr>
        <p:txBody>
          <a:bodyPr wrap="square" lIns="0" tIns="0" rIns="0" bIns="0" rtlCol="0" anchor="ctr"/>
          <a:lstStyle/>
          <a:p>
            <a:pPr indent="0" marL="0">
              <a:buNone/>
            </a:pPr>
            <a:r>
              <a:rPr lang="en-US" sz="1350" b="1" dirty="0">
                <a:solidFill>
                  <a:srgbClr val="E0A64A"/>
                </a:solidFill>
                <a:latin typeface="Calibri" pitchFamily="34" charset="0"/>
                <a:ea typeface="Calibri" pitchFamily="34" charset="-122"/>
                <a:cs typeface="Calibri" pitchFamily="34" charset="-120"/>
              </a:rPr>
              <a:t>N3.5 · DMZ  [SL 2]</a:t>
            </a:r>
            <a:endParaRPr lang="en-US" sz="1350" dirty="0"/>
          </a:p>
        </p:txBody>
      </p:sp>
      <p:sp>
        <p:nvSpPr>
          <p:cNvPr id="10" name="Text 8"/>
          <p:cNvSpPr txBox="1"/>
          <p:nvPr/>
        </p:nvSpPr>
        <p:spPr>
          <a:xfrm>
            <a:off x="3511296" y="2651760"/>
            <a:ext cx="2450592" cy="100584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Bastion (MFA), historian OPC UA lecture seule, SIEM Wazuh, serveur de correctifs.</a:t>
            </a:r>
            <a:endParaRPr lang="en-US" sz="1200" dirty="0"/>
          </a:p>
        </p:txBody>
      </p:sp>
      <p:sp>
        <p:nvSpPr>
          <p:cNvPr id="11" name="Shape 9"/>
          <p:cNvSpPr/>
          <p:nvPr/>
        </p:nvSpPr>
        <p:spPr>
          <a:xfrm>
            <a:off x="6245352" y="1874520"/>
            <a:ext cx="2724912" cy="1920240"/>
          </a:xfrm>
          <a:prstGeom prst="roundRect">
            <a:avLst>
              <a:gd name="adj" fmla="val 2857"/>
            </a:avLst>
          </a:prstGeom>
          <a:solidFill>
            <a:srgbClr val="1B242C"/>
          </a:solidFill>
          <a:ln w="12700">
            <a:solidFill>
              <a:srgbClr val="5AA6DC"/>
            </a:solidFill>
            <a:prstDash val="solid"/>
          </a:ln>
        </p:spPr>
      </p:sp>
      <p:sp>
        <p:nvSpPr>
          <p:cNvPr id="12" name="Text 10"/>
          <p:cNvSpPr txBox="1"/>
          <p:nvPr/>
        </p:nvSpPr>
        <p:spPr>
          <a:xfrm>
            <a:off x="6382512" y="2011680"/>
            <a:ext cx="2450592" cy="640080"/>
          </a:xfrm>
          <a:prstGeom prst="rect">
            <a:avLst/>
          </a:prstGeom>
          <a:noFill/>
          <a:ln/>
        </p:spPr>
        <p:txBody>
          <a:bodyPr wrap="square" lIns="0" tIns="0" rIns="0" bIns="0" rtlCol="0" anchor="ctr"/>
          <a:lstStyle/>
          <a:p>
            <a:pPr indent="0" marL="0">
              <a:buNone/>
            </a:pPr>
            <a:r>
              <a:rPr lang="en-US" sz="1350" b="1" dirty="0">
                <a:solidFill>
                  <a:srgbClr val="5AA6DC"/>
                </a:solidFill>
                <a:latin typeface="Calibri" pitchFamily="34" charset="0"/>
                <a:ea typeface="Calibri" pitchFamily="34" charset="-122"/>
                <a:cs typeface="Calibri" pitchFamily="34" charset="-120"/>
              </a:rPr>
              <a:t>N2 · Supervision  [SL 2]</a:t>
            </a:r>
            <a:endParaRPr lang="en-US" sz="1350" dirty="0"/>
          </a:p>
        </p:txBody>
      </p:sp>
      <p:sp>
        <p:nvSpPr>
          <p:cNvPr id="13" name="Text 11"/>
          <p:cNvSpPr txBox="1"/>
          <p:nvPr/>
        </p:nvSpPr>
        <p:spPr>
          <a:xfrm>
            <a:off x="6382512" y="2651760"/>
            <a:ext cx="2450592" cy="100584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IHM durcie HTTPS, postes opérateurs, gestion des alarmes procédé + cyber.</a:t>
            </a:r>
            <a:endParaRPr lang="en-US" sz="1200" dirty="0"/>
          </a:p>
        </p:txBody>
      </p:sp>
      <p:sp>
        <p:nvSpPr>
          <p:cNvPr id="14" name="Shape 12"/>
          <p:cNvSpPr/>
          <p:nvPr/>
        </p:nvSpPr>
        <p:spPr>
          <a:xfrm>
            <a:off x="9116568" y="1874520"/>
            <a:ext cx="2724912" cy="1920240"/>
          </a:xfrm>
          <a:prstGeom prst="roundRect">
            <a:avLst>
              <a:gd name="adj" fmla="val 2857"/>
            </a:avLst>
          </a:prstGeom>
          <a:solidFill>
            <a:srgbClr val="1B242C"/>
          </a:solidFill>
          <a:ln w="12700">
            <a:solidFill>
              <a:srgbClr val="6FBF95"/>
            </a:solidFill>
            <a:prstDash val="solid"/>
          </a:ln>
        </p:spPr>
      </p:sp>
      <p:sp>
        <p:nvSpPr>
          <p:cNvPr id="15" name="Text 13"/>
          <p:cNvSpPr txBox="1"/>
          <p:nvPr/>
        </p:nvSpPr>
        <p:spPr>
          <a:xfrm>
            <a:off x="9253728" y="2011680"/>
            <a:ext cx="2450592" cy="640080"/>
          </a:xfrm>
          <a:prstGeom prst="rect">
            <a:avLst/>
          </a:prstGeom>
          <a:noFill/>
          <a:ln/>
        </p:spPr>
        <p:txBody>
          <a:bodyPr wrap="square" lIns="0" tIns="0" rIns="0" bIns="0" rtlCol="0" anchor="ctr"/>
          <a:lstStyle/>
          <a:p>
            <a:pPr indent="0" marL="0">
              <a:buNone/>
            </a:pPr>
            <a:r>
              <a:rPr lang="en-US" sz="1350" b="1" dirty="0">
                <a:solidFill>
                  <a:srgbClr val="6FBF95"/>
                </a:solidFill>
                <a:latin typeface="Calibri" pitchFamily="34" charset="0"/>
                <a:ea typeface="Calibri" pitchFamily="34" charset="-122"/>
                <a:cs typeface="Calibri" pitchFamily="34" charset="-120"/>
              </a:rPr>
              <a:t>N1-0 · Contrôle/Procédé  [SL 3]</a:t>
            </a:r>
            <a:endParaRPr lang="en-US" sz="1350" dirty="0"/>
          </a:p>
        </p:txBody>
      </p:sp>
      <p:sp>
        <p:nvSpPr>
          <p:cNvPr id="16" name="Text 14"/>
          <p:cNvSpPr txBox="1"/>
          <p:nvPr/>
        </p:nvSpPr>
        <p:spPr>
          <a:xfrm>
            <a:off x="9253728" y="2651760"/>
            <a:ext cx="2450592" cy="100584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Automate durci, segment cellule 802.1X, + barrière SIL 2 indépendante.</a:t>
            </a:r>
            <a:endParaRPr lang="en-US" sz="1200" dirty="0"/>
          </a:p>
        </p:txBody>
      </p:sp>
      <p:sp>
        <p:nvSpPr>
          <p:cNvPr id="17" name="Shape 15"/>
          <p:cNvSpPr/>
          <p:nvPr/>
        </p:nvSpPr>
        <p:spPr>
          <a:xfrm>
            <a:off x="502920" y="3977640"/>
            <a:ext cx="3712464" cy="1874520"/>
          </a:xfrm>
          <a:prstGeom prst="roundRect">
            <a:avLst>
              <a:gd name="adj" fmla="val 2927"/>
            </a:avLst>
          </a:prstGeom>
          <a:solidFill>
            <a:srgbClr val="222E38"/>
          </a:solidFill>
          <a:ln w="12700">
            <a:solidFill>
              <a:srgbClr val="313D47"/>
            </a:solidFill>
            <a:prstDash val="solid"/>
          </a:ln>
        </p:spPr>
      </p:sp>
      <p:sp>
        <p:nvSpPr>
          <p:cNvPr id="18" name="Text 16"/>
          <p:cNvSpPr txBox="1"/>
          <p:nvPr/>
        </p:nvSpPr>
        <p:spPr>
          <a:xfrm>
            <a:off x="640080" y="4114800"/>
            <a:ext cx="3438144" cy="365760"/>
          </a:xfrm>
          <a:prstGeom prst="rect">
            <a:avLst/>
          </a:prstGeom>
          <a:noFill/>
          <a:ln/>
        </p:spPr>
        <p:txBody>
          <a:bodyPr wrap="square" lIns="0" tIns="0" rIns="0" bIns="0" rtlCol="0" anchor="ctr"/>
          <a:lstStyle/>
          <a:p>
            <a:pPr indent="0" marL="0">
              <a:buNone/>
            </a:pPr>
            <a:r>
              <a:rPr lang="en-US" sz="1300" b="1" dirty="0">
                <a:solidFill>
                  <a:srgbClr val="ECF1F5"/>
                </a:solidFill>
                <a:latin typeface="Calibri" pitchFamily="34" charset="0"/>
                <a:ea typeface="Calibri" pitchFamily="34" charset="-122"/>
                <a:cs typeface="Calibri" pitchFamily="34" charset="-120"/>
              </a:rPr>
              <a:t>Conduit IHM → automate</a:t>
            </a:r>
            <a:endParaRPr lang="en-US" sz="1300" dirty="0"/>
          </a:p>
        </p:txBody>
      </p:sp>
      <p:sp>
        <p:nvSpPr>
          <p:cNvPr id="19" name="Text 17"/>
          <p:cNvSpPr txBox="1"/>
          <p:nvPr/>
        </p:nvSpPr>
        <p:spPr>
          <a:xfrm>
            <a:off x="640080" y="4526280"/>
            <a:ext cx="3438144" cy="118872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pare-feu à inspection Modbus — codes fonction en liste blanche, valeurs de consigne bornées.</a:t>
            </a:r>
            <a:endParaRPr lang="en-US" sz="1200" dirty="0"/>
          </a:p>
        </p:txBody>
      </p:sp>
      <p:sp>
        <p:nvSpPr>
          <p:cNvPr id="20" name="Shape 18"/>
          <p:cNvSpPr/>
          <p:nvPr/>
        </p:nvSpPr>
        <p:spPr>
          <a:xfrm>
            <a:off x="4315968" y="3977640"/>
            <a:ext cx="3712464" cy="1874520"/>
          </a:xfrm>
          <a:prstGeom prst="roundRect">
            <a:avLst>
              <a:gd name="adj" fmla="val 2927"/>
            </a:avLst>
          </a:prstGeom>
          <a:solidFill>
            <a:srgbClr val="222E38"/>
          </a:solidFill>
          <a:ln w="12700">
            <a:solidFill>
              <a:srgbClr val="313D47"/>
            </a:solidFill>
            <a:prstDash val="solid"/>
          </a:ln>
        </p:spPr>
      </p:sp>
      <p:sp>
        <p:nvSpPr>
          <p:cNvPr id="21" name="Text 19"/>
          <p:cNvSpPr txBox="1"/>
          <p:nvPr/>
        </p:nvSpPr>
        <p:spPr>
          <a:xfrm>
            <a:off x="4453128" y="4114800"/>
            <a:ext cx="3438144" cy="365760"/>
          </a:xfrm>
          <a:prstGeom prst="rect">
            <a:avLst/>
          </a:prstGeom>
          <a:noFill/>
          <a:ln/>
        </p:spPr>
        <p:txBody>
          <a:bodyPr wrap="square" lIns="0" tIns="0" rIns="0" bIns="0" rtlCol="0" anchor="ctr"/>
          <a:lstStyle/>
          <a:p>
            <a:pPr indent="0" marL="0">
              <a:buNone/>
            </a:pPr>
            <a:r>
              <a:rPr lang="en-US" sz="1300" b="1" dirty="0">
                <a:solidFill>
                  <a:srgbClr val="ECF1F5"/>
                </a:solidFill>
                <a:latin typeface="Calibri" pitchFamily="34" charset="0"/>
                <a:ea typeface="Calibri" pitchFamily="34" charset="-122"/>
                <a:cs typeface="Calibri" pitchFamily="34" charset="-120"/>
              </a:rPr>
              <a:t>Ingénierie</a:t>
            </a:r>
            <a:endParaRPr lang="en-US" sz="1300" dirty="0"/>
          </a:p>
        </p:txBody>
      </p:sp>
      <p:sp>
        <p:nvSpPr>
          <p:cNvPr id="22" name="Text 20"/>
          <p:cNvSpPr txBox="1"/>
          <p:nvPr/>
        </p:nvSpPr>
        <p:spPr>
          <a:xfrm>
            <a:off x="4453128" y="4526280"/>
            <a:ext cx="3438144" cy="118872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dépôt de code fermé en exploitation, ouvert seulement sur fenêtre de maintenance, via bastion.</a:t>
            </a:r>
            <a:endParaRPr lang="en-US" sz="1200" dirty="0"/>
          </a:p>
        </p:txBody>
      </p:sp>
      <p:sp>
        <p:nvSpPr>
          <p:cNvPr id="23" name="Shape 21"/>
          <p:cNvSpPr/>
          <p:nvPr/>
        </p:nvSpPr>
        <p:spPr>
          <a:xfrm>
            <a:off x="8129016" y="3977640"/>
            <a:ext cx="3712464" cy="1874520"/>
          </a:xfrm>
          <a:prstGeom prst="roundRect">
            <a:avLst>
              <a:gd name="adj" fmla="val 2927"/>
            </a:avLst>
          </a:prstGeom>
          <a:solidFill>
            <a:srgbClr val="222E38"/>
          </a:solidFill>
          <a:ln w="12700">
            <a:solidFill>
              <a:srgbClr val="6FBF95"/>
            </a:solidFill>
            <a:prstDash val="solid"/>
          </a:ln>
        </p:spPr>
      </p:sp>
      <p:sp>
        <p:nvSpPr>
          <p:cNvPr id="24" name="Text 22"/>
          <p:cNvSpPr txBox="1"/>
          <p:nvPr/>
        </p:nvSpPr>
        <p:spPr>
          <a:xfrm>
            <a:off x="8266176" y="4114800"/>
            <a:ext cx="3438144" cy="365760"/>
          </a:xfrm>
          <a:prstGeom prst="rect">
            <a:avLst/>
          </a:prstGeom>
          <a:noFill/>
          <a:ln/>
        </p:spPr>
        <p:txBody>
          <a:bodyPr wrap="square" lIns="0" tIns="0" rIns="0" bIns="0" rtlCol="0" anchor="ctr"/>
          <a:lstStyle/>
          <a:p>
            <a:pPr indent="0" marL="0">
              <a:buNone/>
            </a:pPr>
            <a:r>
              <a:rPr lang="en-US" sz="1300" b="1" dirty="0">
                <a:solidFill>
                  <a:srgbClr val="6FBF95"/>
                </a:solidFill>
                <a:latin typeface="Calibri" pitchFamily="34" charset="0"/>
                <a:ea typeface="Calibri" pitchFamily="34" charset="-122"/>
                <a:cs typeface="Calibri" pitchFamily="34" charset="-120"/>
              </a:rPr>
              <a:t>Barrière SIL 2</a:t>
            </a:r>
            <a:endParaRPr lang="en-US" sz="1300" dirty="0"/>
          </a:p>
        </p:txBody>
      </p:sp>
      <p:sp>
        <p:nvSpPr>
          <p:cNvPr id="25" name="Text 23"/>
          <p:cNvSpPr txBox="1"/>
          <p:nvPr/>
        </p:nvSpPr>
        <p:spPr>
          <a:xfrm>
            <a:off x="8266176" y="4526280"/>
            <a:ext cx="3438144" cy="1188720"/>
          </a:xfrm>
          <a:prstGeom prst="rect">
            <a:avLst/>
          </a:prstGeom>
          <a:noFill/>
          <a:ln/>
        </p:spPr>
        <p:txBody>
          <a:bodyPr wrap="square" lIns="0" tIns="0" rIns="0" bIns="0" rtlCol="0" anchor="ctr"/>
          <a:lstStyle/>
          <a:p>
            <a:pPr indent="0" marL="0">
              <a:buNone/>
            </a:pPr>
            <a:r>
              <a:rPr lang="en-US" sz="1200" dirty="0">
                <a:solidFill>
                  <a:srgbClr val="9DABB6"/>
                </a:solidFill>
                <a:latin typeface="Calibri" pitchFamily="34" charset="0"/>
                <a:ea typeface="Calibri" pitchFamily="34" charset="-122"/>
                <a:cs typeface="Calibri" pitchFamily="34" charset="-120"/>
              </a:rPr>
              <a:t>hors réseau : capteur + interlock câblé. Reste efficace même automate compromis.</a:t>
            </a:r>
            <a:endParaRPr lang="en-US" sz="1200" dirty="0"/>
          </a:p>
        </p:txBody>
      </p:sp>
      <p:sp>
        <p:nvSpPr>
          <p:cNvPr id="26" name="Text 24"/>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06 / 12 · Architecture finale</a:t>
            </a:r>
            <a:pPr algn="l" indent="0" marL="0">
              <a:buNone/>
            </a:pPr>
            <a:r>
              <a:rPr lang="en-US" sz="950" dirty="0">
                <a:solidFill>
                  <a:srgbClr val="6E7C87"/>
                </a:solidFill>
                <a:latin typeface="Calibri" pitchFamily="34" charset="0"/>
                <a:ea typeface="Calibri" pitchFamily="34" charset="-122"/>
                <a:cs typeface="Calibri" pitchFamily="34" charset="-120"/>
              </a:rPr>
              <a:t>        Refus par défaut + journalisation · réseau d'admin supprimé</a:t>
            </a:r>
            <a:endParaRPr lang="en-US" sz="950" dirty="0"/>
          </a:p>
        </p:txBody>
      </p:sp>
      <p:sp>
        <p:nvSpPr>
          <p:cNvPr id="27" name="Shape 25"/>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5AA6DC"/>
                </a:solidFill>
                <a:latin typeface="Calibri" pitchFamily="34" charset="0"/>
                <a:ea typeface="Calibri" pitchFamily="34" charset="-122"/>
                <a:cs typeface="Calibri" pitchFamily="34" charset="-120"/>
              </a:rPr>
              <a:t>BARÈME /3</a:t>
            </a:r>
            <a:pPr algn="l" indent="0" marL="0">
              <a:buNone/>
            </a:pPr>
            <a:r>
              <a:rPr lang="en-US" sz="1100" spc="200" kern="0" dirty="0">
                <a:solidFill>
                  <a:srgbClr val="6E7C87"/>
                </a:solidFill>
                <a:latin typeface="Calibri" pitchFamily="34" charset="0"/>
                <a:ea typeface="Calibri" pitchFamily="34" charset="-122"/>
                <a:cs typeface="Calibri" pitchFamily="34" charset="-120"/>
              </a:rPr>
              <a:t>   CORRECTIFS CLASSÉS PAR PRIORITÉ</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Trois lots, du plus rentable au structurel</a:t>
            </a:r>
            <a:endParaRPr lang="en-US" sz="3400" dirty="0"/>
          </a:p>
        </p:txBody>
      </p:sp>
      <p:sp>
        <p:nvSpPr>
          <p:cNvPr id="5" name="Text 3"/>
          <p:cNvSpPr txBox="1"/>
          <p:nvPr/>
        </p:nvSpPr>
        <p:spPr>
          <a:xfrm>
            <a:off x="502920" y="1920240"/>
            <a:ext cx="1143000" cy="320040"/>
          </a:xfrm>
          <a:prstGeom prst="rect">
            <a:avLst/>
          </a:prstGeom>
          <a:noFill/>
          <a:ln/>
        </p:spPr>
        <p:txBody>
          <a:bodyPr wrap="square" lIns="0" tIns="0" rIns="0" bIns="0" rtlCol="0" anchor="ctr"/>
          <a:lstStyle/>
          <a:p>
            <a:pPr algn="l" indent="0" marL="0">
              <a:buNone/>
            </a:pPr>
            <a:r>
              <a:rPr lang="en-US" sz="1100" b="1" spc="100" kern="0" dirty="0">
                <a:solidFill>
                  <a:srgbClr val="6E7C87"/>
                </a:solidFill>
                <a:latin typeface="Calibri" pitchFamily="34" charset="0"/>
                <a:ea typeface="Calibri" pitchFamily="34" charset="-122"/>
                <a:cs typeface="Calibri" pitchFamily="34" charset="-120"/>
              </a:rPr>
              <a:t>LOT</a:t>
            </a:r>
            <a:endParaRPr lang="en-US" sz="1100" dirty="0"/>
          </a:p>
        </p:txBody>
      </p:sp>
      <p:sp>
        <p:nvSpPr>
          <p:cNvPr id="6" name="Text 4"/>
          <p:cNvSpPr txBox="1"/>
          <p:nvPr/>
        </p:nvSpPr>
        <p:spPr>
          <a:xfrm>
            <a:off x="1645920" y="1920240"/>
            <a:ext cx="5760720" cy="320040"/>
          </a:xfrm>
          <a:prstGeom prst="rect">
            <a:avLst/>
          </a:prstGeom>
          <a:noFill/>
          <a:ln/>
        </p:spPr>
        <p:txBody>
          <a:bodyPr wrap="square" lIns="0" tIns="0" rIns="0" bIns="0" rtlCol="0" anchor="ctr"/>
          <a:lstStyle/>
          <a:p>
            <a:pPr algn="l" indent="0" marL="0">
              <a:buNone/>
            </a:pPr>
            <a:r>
              <a:rPr lang="en-US" sz="1100" b="1" spc="100" kern="0" dirty="0">
                <a:solidFill>
                  <a:srgbClr val="6E7C87"/>
                </a:solidFill>
                <a:latin typeface="Calibri" pitchFamily="34" charset="0"/>
                <a:ea typeface="Calibri" pitchFamily="34" charset="-122"/>
                <a:cs typeface="Calibri" pitchFamily="34" charset="-120"/>
              </a:rPr>
              <a:t>CONTENU CLÉ</a:t>
            </a:r>
            <a:endParaRPr lang="en-US" sz="1100" dirty="0"/>
          </a:p>
        </p:txBody>
      </p:sp>
      <p:sp>
        <p:nvSpPr>
          <p:cNvPr id="7" name="Text 5"/>
          <p:cNvSpPr txBox="1"/>
          <p:nvPr/>
        </p:nvSpPr>
        <p:spPr>
          <a:xfrm>
            <a:off x="7406640" y="1920240"/>
            <a:ext cx="1874520" cy="320040"/>
          </a:xfrm>
          <a:prstGeom prst="rect">
            <a:avLst/>
          </a:prstGeom>
          <a:noFill/>
          <a:ln/>
        </p:spPr>
        <p:txBody>
          <a:bodyPr wrap="square" lIns="0" tIns="0" rIns="0" bIns="0" rtlCol="0" anchor="ctr"/>
          <a:lstStyle/>
          <a:p>
            <a:pPr algn="l" indent="0" marL="0">
              <a:buNone/>
            </a:pPr>
            <a:r>
              <a:rPr lang="en-US" sz="1100" b="1" spc="100" kern="0" dirty="0">
                <a:solidFill>
                  <a:srgbClr val="6E7C87"/>
                </a:solidFill>
                <a:latin typeface="Calibri" pitchFamily="34" charset="0"/>
                <a:ea typeface="Calibri" pitchFamily="34" charset="-122"/>
                <a:cs typeface="Calibri" pitchFamily="34" charset="-120"/>
              </a:rPr>
              <a:t>EFFET</a:t>
            </a:r>
            <a:endParaRPr lang="en-US" sz="1100" dirty="0"/>
          </a:p>
        </p:txBody>
      </p:sp>
      <p:sp>
        <p:nvSpPr>
          <p:cNvPr id="8" name="Text 6"/>
          <p:cNvSpPr txBox="1"/>
          <p:nvPr/>
        </p:nvSpPr>
        <p:spPr>
          <a:xfrm>
            <a:off x="9281160" y="1920240"/>
            <a:ext cx="1188720" cy="320040"/>
          </a:xfrm>
          <a:prstGeom prst="rect">
            <a:avLst/>
          </a:prstGeom>
          <a:noFill/>
          <a:ln/>
        </p:spPr>
        <p:txBody>
          <a:bodyPr wrap="square" lIns="0" tIns="0" rIns="0" bIns="0" rtlCol="0" anchor="ctr"/>
          <a:lstStyle/>
          <a:p>
            <a:pPr algn="r" indent="0" marL="0">
              <a:buNone/>
            </a:pPr>
            <a:r>
              <a:rPr lang="en-US" sz="1100" b="1" spc="100" kern="0" dirty="0">
                <a:solidFill>
                  <a:srgbClr val="6E7C87"/>
                </a:solidFill>
                <a:latin typeface="Calibri" pitchFamily="34" charset="0"/>
                <a:ea typeface="Calibri" pitchFamily="34" charset="-122"/>
                <a:cs typeface="Calibri" pitchFamily="34" charset="-120"/>
              </a:rPr>
              <a:t>DÉLAI</a:t>
            </a:r>
            <a:endParaRPr lang="en-US" sz="1100" dirty="0"/>
          </a:p>
        </p:txBody>
      </p:sp>
      <p:sp>
        <p:nvSpPr>
          <p:cNvPr id="9" name="Text 7"/>
          <p:cNvSpPr txBox="1"/>
          <p:nvPr/>
        </p:nvSpPr>
        <p:spPr>
          <a:xfrm>
            <a:off x="10469880" y="1920240"/>
            <a:ext cx="1188720" cy="320040"/>
          </a:xfrm>
          <a:prstGeom prst="rect">
            <a:avLst/>
          </a:prstGeom>
          <a:noFill/>
          <a:ln/>
        </p:spPr>
        <p:txBody>
          <a:bodyPr wrap="square" lIns="0" tIns="0" rIns="0" bIns="0" rtlCol="0" anchor="ctr"/>
          <a:lstStyle/>
          <a:p>
            <a:pPr algn="r" indent="0" marL="0">
              <a:buNone/>
            </a:pPr>
            <a:r>
              <a:rPr lang="en-US" sz="1100" b="1" spc="100" kern="0" dirty="0">
                <a:solidFill>
                  <a:srgbClr val="6E7C87"/>
                </a:solidFill>
                <a:latin typeface="Calibri" pitchFamily="34" charset="0"/>
                <a:ea typeface="Calibri" pitchFamily="34" charset="-122"/>
                <a:cs typeface="Calibri" pitchFamily="34" charset="-120"/>
              </a:rPr>
              <a:t>COÛT</a:t>
            </a:r>
            <a:endParaRPr lang="en-US" sz="1100" dirty="0"/>
          </a:p>
        </p:txBody>
      </p:sp>
      <p:sp>
        <p:nvSpPr>
          <p:cNvPr id="10" name="Shape 8"/>
          <p:cNvSpPr/>
          <p:nvPr/>
        </p:nvSpPr>
        <p:spPr>
          <a:xfrm>
            <a:off x="502920" y="2377440"/>
            <a:ext cx="11155680" cy="1051560"/>
          </a:xfrm>
          <a:prstGeom prst="roundRect">
            <a:avLst>
              <a:gd name="adj" fmla="val 5217"/>
            </a:avLst>
          </a:prstGeom>
          <a:solidFill>
            <a:srgbClr val="1B242C"/>
          </a:solidFill>
          <a:ln w="12700">
            <a:solidFill>
              <a:srgbClr val="313D47"/>
            </a:solidFill>
            <a:prstDash val="solid"/>
          </a:ln>
        </p:spPr>
      </p:sp>
      <p:sp>
        <p:nvSpPr>
          <p:cNvPr id="11" name="Text 9"/>
          <p:cNvSpPr txBox="1"/>
          <p:nvPr/>
        </p:nvSpPr>
        <p:spPr>
          <a:xfrm>
            <a:off x="594360" y="2377440"/>
            <a:ext cx="1143000" cy="1051560"/>
          </a:xfrm>
          <a:prstGeom prst="rect">
            <a:avLst/>
          </a:prstGeom>
          <a:noFill/>
          <a:ln/>
        </p:spPr>
        <p:txBody>
          <a:bodyPr wrap="square" lIns="0" tIns="0" rIns="0" bIns="0" rtlCol="0" anchor="ctr"/>
          <a:lstStyle/>
          <a:p>
            <a:pPr indent="0" marL="0">
              <a:buNone/>
            </a:pPr>
            <a:r>
              <a:rPr lang="en-US" sz="1400" b="1" dirty="0">
                <a:solidFill>
                  <a:srgbClr val="5AA6DC"/>
                </a:solidFill>
                <a:latin typeface="Calibri" pitchFamily="34" charset="0"/>
                <a:ea typeface="Calibri" pitchFamily="34" charset="-122"/>
                <a:cs typeface="Calibri" pitchFamily="34" charset="-120"/>
              </a:rPr>
              <a:t>LOT 0</a:t>
            </a:r>
            <a:endParaRPr lang="en-US" sz="1400" dirty="0"/>
          </a:p>
        </p:txBody>
      </p:sp>
      <p:sp>
        <p:nvSpPr>
          <p:cNvPr id="12" name="Text 10"/>
          <p:cNvSpPr txBox="1"/>
          <p:nvPr/>
        </p:nvSpPr>
        <p:spPr>
          <a:xfrm>
            <a:off x="1737360" y="2377440"/>
            <a:ext cx="5669280" cy="105156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Fermer le pare-feu · éradiquer les mots de passe · activer IDS + SIEM · sauvegarde de référence</a:t>
            </a:r>
            <a:endParaRPr lang="en-US" sz="1300" dirty="0"/>
          </a:p>
        </p:txBody>
      </p:sp>
      <p:sp>
        <p:nvSpPr>
          <p:cNvPr id="13" name="Shape 11"/>
          <p:cNvSpPr/>
          <p:nvPr/>
        </p:nvSpPr>
        <p:spPr>
          <a:xfrm>
            <a:off x="7498080" y="2761488"/>
            <a:ext cx="1133856" cy="256032"/>
          </a:xfrm>
          <a:prstGeom prst="roundRect">
            <a:avLst>
              <a:gd name="adj" fmla="val 50000"/>
            </a:avLst>
          </a:prstGeom>
          <a:solidFill>
            <a:srgbClr val="0B1116"/>
          </a:solidFill>
          <a:ln w="12700">
            <a:solidFill>
              <a:srgbClr val="E4796F"/>
            </a:solidFill>
            <a:prstDash val="solid"/>
          </a:ln>
        </p:spPr>
      </p:sp>
      <p:sp>
        <p:nvSpPr>
          <p:cNvPr id="14" name="Text 12"/>
          <p:cNvSpPr txBox="1"/>
          <p:nvPr/>
        </p:nvSpPr>
        <p:spPr>
          <a:xfrm>
            <a:off x="7498080" y="2761488"/>
            <a:ext cx="1133856" cy="256032"/>
          </a:xfrm>
          <a:prstGeom prst="rect">
            <a:avLst/>
          </a:prstGeom>
          <a:noFill/>
          <a:ln/>
        </p:spPr>
        <p:txBody>
          <a:bodyPr wrap="square" lIns="0" tIns="0" rIns="0" bIns="0" rtlCol="0" anchor="ctr"/>
          <a:lstStyle/>
          <a:p>
            <a:pPr algn="ctr" indent="0" marL="0">
              <a:buNone/>
            </a:pPr>
            <a:r>
              <a:rPr lang="en-US" sz="950" b="1" dirty="0">
                <a:solidFill>
                  <a:srgbClr val="E4796F"/>
                </a:solidFill>
                <a:latin typeface="Calibri" pitchFamily="34" charset="0"/>
                <a:ea typeface="Calibri" pitchFamily="34" charset="-122"/>
                <a:cs typeface="Calibri" pitchFamily="34" charset="-120"/>
              </a:rPr>
              <a:t>coupe l'attaque</a:t>
            </a:r>
            <a:endParaRPr lang="en-US" sz="950" dirty="0"/>
          </a:p>
        </p:txBody>
      </p:sp>
      <p:sp>
        <p:nvSpPr>
          <p:cNvPr id="15" name="Text 13"/>
          <p:cNvSpPr txBox="1"/>
          <p:nvPr/>
        </p:nvSpPr>
        <p:spPr>
          <a:xfrm>
            <a:off x="9372600" y="2377440"/>
            <a:ext cx="1188720" cy="1051560"/>
          </a:xfrm>
          <a:prstGeom prst="rect">
            <a:avLst/>
          </a:prstGeom>
          <a:noFill/>
          <a:ln/>
        </p:spPr>
        <p:txBody>
          <a:bodyPr wrap="square" lIns="0" tIns="0" rIns="0" bIns="0" rtlCol="0" anchor="ctr"/>
          <a:lstStyle/>
          <a:p>
            <a:pPr algn="r" indent="0" marL="0">
              <a:buNone/>
            </a:pPr>
            <a:r>
              <a:rPr lang="en-US" sz="1300" dirty="0">
                <a:solidFill>
                  <a:srgbClr val="ECF1F5"/>
                </a:solidFill>
                <a:latin typeface="Calibri" pitchFamily="34" charset="0"/>
                <a:ea typeface="Calibri" pitchFamily="34" charset="-122"/>
                <a:cs typeface="Calibri" pitchFamily="34" charset="-120"/>
              </a:rPr>
              <a:t>2 sem.</a:t>
            </a:r>
            <a:endParaRPr lang="en-US" sz="1300" dirty="0"/>
          </a:p>
        </p:txBody>
      </p:sp>
      <p:sp>
        <p:nvSpPr>
          <p:cNvPr id="16" name="Text 14"/>
          <p:cNvSpPr txBox="1"/>
          <p:nvPr/>
        </p:nvSpPr>
        <p:spPr>
          <a:xfrm>
            <a:off x="10469880" y="2377440"/>
            <a:ext cx="1188720" cy="1051560"/>
          </a:xfrm>
          <a:prstGeom prst="rect">
            <a:avLst/>
          </a:prstGeom>
          <a:noFill/>
          <a:ln/>
        </p:spPr>
        <p:txBody>
          <a:bodyPr wrap="square" lIns="0" tIns="0" rIns="0" bIns="0" rtlCol="0" anchor="ctr"/>
          <a:lstStyle/>
          <a:p>
            <a:pPr algn="r" indent="0" marL="0">
              <a:buNone/>
            </a:pPr>
            <a:r>
              <a:rPr lang="en-US" sz="1500" b="1" dirty="0">
                <a:solidFill>
                  <a:srgbClr val="ECF1F5"/>
                </a:solidFill>
                <a:latin typeface="Calibri" pitchFamily="34" charset="0"/>
                <a:ea typeface="Calibri" pitchFamily="34" charset="-122"/>
                <a:cs typeface="Calibri" pitchFamily="34" charset="-120"/>
              </a:rPr>
              <a:t>17 850 €</a:t>
            </a:r>
            <a:endParaRPr lang="en-US" sz="1500" dirty="0"/>
          </a:p>
        </p:txBody>
      </p:sp>
      <p:sp>
        <p:nvSpPr>
          <p:cNvPr id="17" name="Shape 15"/>
          <p:cNvSpPr/>
          <p:nvPr/>
        </p:nvSpPr>
        <p:spPr>
          <a:xfrm>
            <a:off x="502920" y="3547872"/>
            <a:ext cx="11155680" cy="1051560"/>
          </a:xfrm>
          <a:prstGeom prst="roundRect">
            <a:avLst>
              <a:gd name="adj" fmla="val 5217"/>
            </a:avLst>
          </a:prstGeom>
          <a:solidFill>
            <a:srgbClr val="1B242C"/>
          </a:solidFill>
          <a:ln w="12700">
            <a:solidFill>
              <a:srgbClr val="313D47"/>
            </a:solidFill>
            <a:prstDash val="solid"/>
          </a:ln>
        </p:spPr>
      </p:sp>
      <p:sp>
        <p:nvSpPr>
          <p:cNvPr id="18" name="Text 16"/>
          <p:cNvSpPr txBox="1"/>
          <p:nvPr/>
        </p:nvSpPr>
        <p:spPr>
          <a:xfrm>
            <a:off x="594360" y="3547872"/>
            <a:ext cx="1143000" cy="1051560"/>
          </a:xfrm>
          <a:prstGeom prst="rect">
            <a:avLst/>
          </a:prstGeom>
          <a:noFill/>
          <a:ln/>
        </p:spPr>
        <p:txBody>
          <a:bodyPr wrap="square" lIns="0" tIns="0" rIns="0" bIns="0" rtlCol="0" anchor="ctr"/>
          <a:lstStyle/>
          <a:p>
            <a:pPr indent="0" marL="0">
              <a:buNone/>
            </a:pPr>
            <a:r>
              <a:rPr lang="en-US" sz="1400" b="1" dirty="0">
                <a:solidFill>
                  <a:srgbClr val="5AA6DC"/>
                </a:solidFill>
                <a:latin typeface="Calibri" pitchFamily="34" charset="0"/>
                <a:ea typeface="Calibri" pitchFamily="34" charset="-122"/>
                <a:cs typeface="Calibri" pitchFamily="34" charset="-120"/>
              </a:rPr>
              <a:t>LOT 1</a:t>
            </a:r>
            <a:endParaRPr lang="en-US" sz="1400" dirty="0"/>
          </a:p>
        </p:txBody>
      </p:sp>
      <p:sp>
        <p:nvSpPr>
          <p:cNvPr id="19" name="Text 17"/>
          <p:cNvSpPr txBox="1"/>
          <p:nvPr/>
        </p:nvSpPr>
        <p:spPr>
          <a:xfrm>
            <a:off x="1737360" y="3547872"/>
            <a:ext cx="5669280" cy="105156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Bastion + MFA · TLS partout · durcissement automate/IHM · déplacement IHM en N2</a:t>
            </a:r>
            <a:endParaRPr lang="en-US" sz="1300" dirty="0"/>
          </a:p>
        </p:txBody>
      </p:sp>
      <p:sp>
        <p:nvSpPr>
          <p:cNvPr id="20" name="Shape 18"/>
          <p:cNvSpPr/>
          <p:nvPr/>
        </p:nvSpPr>
        <p:spPr>
          <a:xfrm>
            <a:off x="7498080" y="3931920"/>
            <a:ext cx="1002182" cy="256032"/>
          </a:xfrm>
          <a:prstGeom prst="roundRect">
            <a:avLst>
              <a:gd name="adj" fmla="val 50000"/>
            </a:avLst>
          </a:prstGeom>
          <a:solidFill>
            <a:srgbClr val="0B1116"/>
          </a:solidFill>
          <a:ln w="12700">
            <a:solidFill>
              <a:srgbClr val="E0A64A"/>
            </a:solidFill>
            <a:prstDash val="solid"/>
          </a:ln>
        </p:spPr>
      </p:sp>
      <p:sp>
        <p:nvSpPr>
          <p:cNvPr id="21" name="Text 19"/>
          <p:cNvSpPr txBox="1"/>
          <p:nvPr/>
        </p:nvSpPr>
        <p:spPr>
          <a:xfrm>
            <a:off x="7498080" y="3931920"/>
            <a:ext cx="1002182" cy="256032"/>
          </a:xfrm>
          <a:prstGeom prst="rect">
            <a:avLst/>
          </a:prstGeom>
          <a:noFill/>
          <a:ln/>
        </p:spPr>
        <p:txBody>
          <a:bodyPr wrap="square" lIns="0" tIns="0" rIns="0" bIns="0" rtlCol="0" anchor="ctr"/>
          <a:lstStyle/>
          <a:p>
            <a:pPr algn="ctr" indent="0" marL="0">
              <a:buNone/>
            </a:pPr>
            <a:r>
              <a:rPr lang="en-US" sz="950" b="1" dirty="0">
                <a:solidFill>
                  <a:srgbClr val="E0A64A"/>
                </a:solidFill>
                <a:latin typeface="Calibri" pitchFamily="34" charset="0"/>
                <a:ea typeface="Calibri" pitchFamily="34" charset="-122"/>
                <a:cs typeface="Calibri" pitchFamily="34" charset="-120"/>
              </a:rPr>
              <a:t>SL 2 confirmé</a:t>
            </a:r>
            <a:endParaRPr lang="en-US" sz="950" dirty="0"/>
          </a:p>
        </p:txBody>
      </p:sp>
      <p:sp>
        <p:nvSpPr>
          <p:cNvPr id="22" name="Text 20"/>
          <p:cNvSpPr txBox="1"/>
          <p:nvPr/>
        </p:nvSpPr>
        <p:spPr>
          <a:xfrm>
            <a:off x="9372600" y="3547872"/>
            <a:ext cx="1188720" cy="1051560"/>
          </a:xfrm>
          <a:prstGeom prst="rect">
            <a:avLst/>
          </a:prstGeom>
          <a:noFill/>
          <a:ln/>
        </p:spPr>
        <p:txBody>
          <a:bodyPr wrap="square" lIns="0" tIns="0" rIns="0" bIns="0" rtlCol="0" anchor="ctr"/>
          <a:lstStyle/>
          <a:p>
            <a:pPr algn="r" indent="0" marL="0">
              <a:buNone/>
            </a:pPr>
            <a:r>
              <a:rPr lang="en-US" sz="1300" dirty="0">
                <a:solidFill>
                  <a:srgbClr val="ECF1F5"/>
                </a:solidFill>
                <a:latin typeface="Calibri" pitchFamily="34" charset="0"/>
                <a:ea typeface="Calibri" pitchFamily="34" charset="-122"/>
                <a:cs typeface="Calibri" pitchFamily="34" charset="-120"/>
              </a:rPr>
              <a:t>1-3 mois</a:t>
            </a:r>
            <a:endParaRPr lang="en-US" sz="1300" dirty="0"/>
          </a:p>
        </p:txBody>
      </p:sp>
      <p:sp>
        <p:nvSpPr>
          <p:cNvPr id="23" name="Text 21"/>
          <p:cNvSpPr txBox="1"/>
          <p:nvPr/>
        </p:nvSpPr>
        <p:spPr>
          <a:xfrm>
            <a:off x="10469880" y="3547872"/>
            <a:ext cx="1188720" cy="1051560"/>
          </a:xfrm>
          <a:prstGeom prst="rect">
            <a:avLst/>
          </a:prstGeom>
          <a:noFill/>
          <a:ln/>
        </p:spPr>
        <p:txBody>
          <a:bodyPr wrap="square" lIns="0" tIns="0" rIns="0" bIns="0" rtlCol="0" anchor="ctr"/>
          <a:lstStyle/>
          <a:p>
            <a:pPr algn="r" indent="0" marL="0">
              <a:buNone/>
            </a:pPr>
            <a:r>
              <a:rPr lang="en-US" sz="1500" b="1" dirty="0">
                <a:solidFill>
                  <a:srgbClr val="ECF1F5"/>
                </a:solidFill>
                <a:latin typeface="Calibri" pitchFamily="34" charset="0"/>
                <a:ea typeface="Calibri" pitchFamily="34" charset="-122"/>
                <a:cs typeface="Calibri" pitchFamily="34" charset="-120"/>
              </a:rPr>
              <a:t>37 240 €</a:t>
            </a:r>
            <a:endParaRPr lang="en-US" sz="1500" dirty="0"/>
          </a:p>
        </p:txBody>
      </p:sp>
      <p:sp>
        <p:nvSpPr>
          <p:cNvPr id="24" name="Shape 22"/>
          <p:cNvSpPr/>
          <p:nvPr/>
        </p:nvSpPr>
        <p:spPr>
          <a:xfrm>
            <a:off x="502920" y="4718304"/>
            <a:ext cx="11155680" cy="1051560"/>
          </a:xfrm>
          <a:prstGeom prst="roundRect">
            <a:avLst>
              <a:gd name="adj" fmla="val 5217"/>
            </a:avLst>
          </a:prstGeom>
          <a:solidFill>
            <a:srgbClr val="1B242C"/>
          </a:solidFill>
          <a:ln w="12700">
            <a:solidFill>
              <a:srgbClr val="313D47"/>
            </a:solidFill>
            <a:prstDash val="solid"/>
          </a:ln>
        </p:spPr>
      </p:sp>
      <p:sp>
        <p:nvSpPr>
          <p:cNvPr id="25" name="Text 23"/>
          <p:cNvSpPr txBox="1"/>
          <p:nvPr/>
        </p:nvSpPr>
        <p:spPr>
          <a:xfrm>
            <a:off x="594360" y="4718304"/>
            <a:ext cx="1143000" cy="1051560"/>
          </a:xfrm>
          <a:prstGeom prst="rect">
            <a:avLst/>
          </a:prstGeom>
          <a:noFill/>
          <a:ln/>
        </p:spPr>
        <p:txBody>
          <a:bodyPr wrap="square" lIns="0" tIns="0" rIns="0" bIns="0" rtlCol="0" anchor="ctr"/>
          <a:lstStyle/>
          <a:p>
            <a:pPr indent="0" marL="0">
              <a:buNone/>
            </a:pPr>
            <a:r>
              <a:rPr lang="en-US" sz="1400" b="1" dirty="0">
                <a:solidFill>
                  <a:srgbClr val="5AA6DC"/>
                </a:solidFill>
                <a:latin typeface="Calibri" pitchFamily="34" charset="0"/>
                <a:ea typeface="Calibri" pitchFamily="34" charset="-122"/>
                <a:cs typeface="Calibri" pitchFamily="34" charset="-120"/>
              </a:rPr>
              <a:t>LOT 2</a:t>
            </a:r>
            <a:endParaRPr lang="en-US" sz="1400" dirty="0"/>
          </a:p>
        </p:txBody>
      </p:sp>
      <p:sp>
        <p:nvSpPr>
          <p:cNvPr id="26" name="Text 24"/>
          <p:cNvSpPr txBox="1"/>
          <p:nvPr/>
        </p:nvSpPr>
        <p:spPr>
          <a:xfrm>
            <a:off x="1737360" y="4718304"/>
            <a:ext cx="5669280" cy="105156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Re-segmentation physique · pare-feu Modbus · barrière SIL 2 · PRA testé · audit 62443</a:t>
            </a:r>
            <a:endParaRPr lang="en-US" sz="1300" dirty="0"/>
          </a:p>
        </p:txBody>
      </p:sp>
      <p:sp>
        <p:nvSpPr>
          <p:cNvPr id="27" name="Shape 25"/>
          <p:cNvSpPr/>
          <p:nvPr/>
        </p:nvSpPr>
        <p:spPr>
          <a:xfrm>
            <a:off x="7498080" y="5102352"/>
            <a:ext cx="409651" cy="256032"/>
          </a:xfrm>
          <a:prstGeom prst="roundRect">
            <a:avLst>
              <a:gd name="adj" fmla="val 50000"/>
            </a:avLst>
          </a:prstGeom>
          <a:solidFill>
            <a:srgbClr val="0B1116"/>
          </a:solidFill>
          <a:ln w="12700">
            <a:solidFill>
              <a:srgbClr val="6FBF95"/>
            </a:solidFill>
            <a:prstDash val="solid"/>
          </a:ln>
        </p:spPr>
      </p:sp>
      <p:sp>
        <p:nvSpPr>
          <p:cNvPr id="28" name="Text 26"/>
          <p:cNvSpPr txBox="1"/>
          <p:nvPr/>
        </p:nvSpPr>
        <p:spPr>
          <a:xfrm>
            <a:off x="7498080" y="5102352"/>
            <a:ext cx="409651" cy="256032"/>
          </a:xfrm>
          <a:prstGeom prst="rect">
            <a:avLst/>
          </a:prstGeom>
          <a:noFill/>
          <a:ln/>
        </p:spPr>
        <p:txBody>
          <a:bodyPr wrap="square" lIns="0" tIns="0" rIns="0" bIns="0" rtlCol="0" anchor="ctr"/>
          <a:lstStyle/>
          <a:p>
            <a:pPr algn="ctr" indent="0" marL="0">
              <a:buNone/>
            </a:pPr>
            <a:r>
              <a:rPr lang="en-US" sz="950" b="1" dirty="0">
                <a:solidFill>
                  <a:srgbClr val="6FBF95"/>
                </a:solidFill>
                <a:latin typeface="Calibri" pitchFamily="34" charset="0"/>
                <a:ea typeface="Calibri" pitchFamily="34" charset="-122"/>
                <a:cs typeface="Calibri" pitchFamily="34" charset="-120"/>
              </a:rPr>
              <a:t>SL 3</a:t>
            </a:r>
            <a:endParaRPr lang="en-US" sz="950" dirty="0"/>
          </a:p>
        </p:txBody>
      </p:sp>
      <p:sp>
        <p:nvSpPr>
          <p:cNvPr id="29" name="Text 27"/>
          <p:cNvSpPr txBox="1"/>
          <p:nvPr/>
        </p:nvSpPr>
        <p:spPr>
          <a:xfrm>
            <a:off x="9372600" y="4718304"/>
            <a:ext cx="1188720" cy="1051560"/>
          </a:xfrm>
          <a:prstGeom prst="rect">
            <a:avLst/>
          </a:prstGeom>
          <a:noFill/>
          <a:ln/>
        </p:spPr>
        <p:txBody>
          <a:bodyPr wrap="square" lIns="0" tIns="0" rIns="0" bIns="0" rtlCol="0" anchor="ctr"/>
          <a:lstStyle/>
          <a:p>
            <a:pPr algn="r" indent="0" marL="0">
              <a:buNone/>
            </a:pPr>
            <a:r>
              <a:rPr lang="en-US" sz="1300" dirty="0">
                <a:solidFill>
                  <a:srgbClr val="ECF1F5"/>
                </a:solidFill>
                <a:latin typeface="Calibri" pitchFamily="34" charset="0"/>
                <a:ea typeface="Calibri" pitchFamily="34" charset="-122"/>
                <a:cs typeface="Calibri" pitchFamily="34" charset="-120"/>
              </a:rPr>
              <a:t>3-12 mois</a:t>
            </a:r>
            <a:endParaRPr lang="en-US" sz="1300" dirty="0"/>
          </a:p>
        </p:txBody>
      </p:sp>
      <p:sp>
        <p:nvSpPr>
          <p:cNvPr id="30" name="Text 28"/>
          <p:cNvSpPr txBox="1"/>
          <p:nvPr/>
        </p:nvSpPr>
        <p:spPr>
          <a:xfrm>
            <a:off x="10469880" y="4718304"/>
            <a:ext cx="1188720" cy="1051560"/>
          </a:xfrm>
          <a:prstGeom prst="rect">
            <a:avLst/>
          </a:prstGeom>
          <a:noFill/>
          <a:ln/>
        </p:spPr>
        <p:txBody>
          <a:bodyPr wrap="square" lIns="0" tIns="0" rIns="0" bIns="0" rtlCol="0" anchor="ctr"/>
          <a:lstStyle/>
          <a:p>
            <a:pPr algn="r" indent="0" marL="0">
              <a:buNone/>
            </a:pPr>
            <a:r>
              <a:rPr lang="en-US" sz="1500" b="1" dirty="0">
                <a:solidFill>
                  <a:srgbClr val="ECF1F5"/>
                </a:solidFill>
                <a:latin typeface="Calibri" pitchFamily="34" charset="0"/>
                <a:ea typeface="Calibri" pitchFamily="34" charset="-122"/>
                <a:cs typeface="Calibri" pitchFamily="34" charset="-120"/>
              </a:rPr>
              <a:t>167 480 €</a:t>
            </a:r>
            <a:endParaRPr lang="en-US" sz="1500" dirty="0"/>
          </a:p>
        </p:txBody>
      </p:sp>
      <p:sp>
        <p:nvSpPr>
          <p:cNvPr id="31" name="Text 29"/>
          <p:cNvSpPr txBox="1"/>
          <p:nvPr/>
        </p:nvSpPr>
        <p:spPr>
          <a:xfrm>
            <a:off x="502920" y="5806440"/>
            <a:ext cx="11155680" cy="457200"/>
          </a:xfrm>
          <a:prstGeom prst="rect">
            <a:avLst/>
          </a:prstGeom>
          <a:noFill/>
          <a:ln/>
        </p:spPr>
        <p:txBody>
          <a:bodyPr wrap="square" lIns="0" tIns="0" rIns="0" bIns="0" rtlCol="0" anchor="ctr"/>
          <a:lstStyle/>
          <a:p>
            <a:pPr indent="0" marL="0">
              <a:buNone/>
            </a:pPr>
            <a:r>
              <a:rPr lang="en-US" sz="1200" i="1" dirty="0">
                <a:solidFill>
                  <a:srgbClr val="6E7C87"/>
                </a:solidFill>
                <a:latin typeface="Calibri" pitchFamily="34" charset="0"/>
                <a:ea typeface="Calibri" pitchFamily="34" charset="-122"/>
                <a:cs typeface="Calibri" pitchFamily="34" charset="-120"/>
              </a:rPr>
              <a:t>Priorité = écart au SL cible × effet sur la chaîne d'attaque réelle. On corrige d'abord ce qui rouvrirait la porte du TP, pas ce qui est déjà inatteignable.</a:t>
            </a:r>
            <a:endParaRPr lang="en-US" sz="1200" dirty="0"/>
          </a:p>
        </p:txBody>
      </p:sp>
      <p:sp>
        <p:nvSpPr>
          <p:cNvPr id="32" name="Text 30"/>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07 / 12 · Correctifs priorisés</a:t>
            </a:r>
            <a:pPr algn="l" indent="0" marL="0">
              <a:buNone/>
            </a:pPr>
            <a:r>
              <a:rPr lang="en-US" sz="950" dirty="0">
                <a:solidFill>
                  <a:srgbClr val="6E7C87"/>
                </a:solidFill>
                <a:latin typeface="Calibri" pitchFamily="34" charset="0"/>
                <a:ea typeface="Calibri" pitchFamily="34" charset="-122"/>
                <a:cs typeface="Calibri" pitchFamily="34" charset="-120"/>
              </a:rPr>
              <a:t>        18 mesures détaillées · dossier technique §5</a:t>
            </a:r>
            <a:endParaRPr lang="en-US" sz="950" dirty="0"/>
          </a:p>
        </p:txBody>
      </p:sp>
      <p:sp>
        <p:nvSpPr>
          <p:cNvPr id="33" name="Shape 31"/>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E0A64A"/>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E0A64A"/>
                </a:solidFill>
                <a:latin typeface="Calibri" pitchFamily="34" charset="0"/>
                <a:ea typeface="Calibri" pitchFamily="34" charset="-122"/>
                <a:cs typeface="Calibri" pitchFamily="34" charset="-120"/>
              </a:rPr>
              <a:t>BARÈME /3</a:t>
            </a:r>
            <a:pPr algn="l" indent="0" marL="0">
              <a:buNone/>
            </a:pPr>
            <a:r>
              <a:rPr lang="en-US" sz="1100" spc="200" kern="0" dirty="0">
                <a:solidFill>
                  <a:srgbClr val="6E7C87"/>
                </a:solidFill>
                <a:latin typeface="Calibri" pitchFamily="34" charset="0"/>
                <a:ea typeface="Calibri" pitchFamily="34" charset="-122"/>
                <a:cs typeface="Calibri" pitchFamily="34" charset="-120"/>
              </a:rPr>
              <a:t>   COÛTS &amp; ARBITRAGE ÉCONOMIQUE</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222 570 € face à un incident à 468 000 €</a:t>
            </a:r>
            <a:endParaRPr lang="en-US" sz="3400" dirty="0"/>
          </a:p>
        </p:txBody>
      </p:sp>
      <p:sp>
        <p:nvSpPr>
          <p:cNvPr id="5" name="Shape 3"/>
          <p:cNvSpPr/>
          <p:nvPr/>
        </p:nvSpPr>
        <p:spPr>
          <a:xfrm>
            <a:off x="502920" y="1920240"/>
            <a:ext cx="2724912" cy="1554480"/>
          </a:xfrm>
          <a:prstGeom prst="roundRect">
            <a:avLst>
              <a:gd name="adj" fmla="val 3529"/>
            </a:avLst>
          </a:prstGeom>
          <a:solidFill>
            <a:srgbClr val="1B242C"/>
          </a:solidFill>
          <a:ln w="12700">
            <a:solidFill>
              <a:srgbClr val="5AA6DC"/>
            </a:solidFill>
            <a:prstDash val="solid"/>
          </a:ln>
        </p:spPr>
      </p:sp>
      <p:sp>
        <p:nvSpPr>
          <p:cNvPr id="6" name="Text 4"/>
          <p:cNvSpPr txBox="1"/>
          <p:nvPr/>
        </p:nvSpPr>
        <p:spPr>
          <a:xfrm>
            <a:off x="640080" y="2148840"/>
            <a:ext cx="2450592" cy="731520"/>
          </a:xfrm>
          <a:prstGeom prst="rect">
            <a:avLst/>
          </a:prstGeom>
          <a:noFill/>
          <a:ln/>
        </p:spPr>
        <p:txBody>
          <a:bodyPr wrap="square" lIns="0" tIns="0" rIns="0" bIns="0" rtlCol="0" anchor="ctr"/>
          <a:lstStyle/>
          <a:p>
            <a:pPr algn="l" indent="0" marL="0">
              <a:buNone/>
            </a:pPr>
            <a:r>
              <a:rPr lang="en-US" sz="3200" b="1" dirty="0">
                <a:solidFill>
                  <a:srgbClr val="5AA6DC"/>
                </a:solidFill>
                <a:latin typeface="Cambria" pitchFamily="34" charset="0"/>
                <a:ea typeface="Cambria" pitchFamily="34" charset="-122"/>
                <a:cs typeface="Cambria" pitchFamily="34" charset="-120"/>
              </a:rPr>
              <a:t>17 850 €</a:t>
            </a:r>
            <a:endParaRPr lang="en-US" sz="3200" dirty="0"/>
          </a:p>
        </p:txBody>
      </p:sp>
      <p:sp>
        <p:nvSpPr>
          <p:cNvPr id="7" name="Text 5"/>
          <p:cNvSpPr txBox="1"/>
          <p:nvPr/>
        </p:nvSpPr>
        <p:spPr>
          <a:xfrm>
            <a:off x="640080" y="2944368"/>
            <a:ext cx="2450592" cy="457200"/>
          </a:xfrm>
          <a:prstGeom prst="rect">
            <a:avLst/>
          </a:prstGeom>
          <a:noFill/>
          <a:ln/>
        </p:spPr>
        <p:txBody>
          <a:bodyPr wrap="square" lIns="0" tIns="0" rIns="0" bIns="0" rtlCol="0" anchor="ctr"/>
          <a:lstStyle/>
          <a:p>
            <a:pPr indent="0" marL="0">
              <a:buNone/>
            </a:pPr>
            <a:r>
              <a:rPr lang="en-US" sz="1150" dirty="0">
                <a:solidFill>
                  <a:srgbClr val="6E7C87"/>
                </a:solidFill>
                <a:latin typeface="Calibri" pitchFamily="34" charset="0"/>
                <a:ea typeface="Calibri" pitchFamily="34" charset="-122"/>
                <a:cs typeface="Calibri" pitchFamily="34" charset="-120"/>
              </a:rPr>
              <a:t>Lot 0 — attaque coupée</a:t>
            </a:r>
            <a:endParaRPr lang="en-US" sz="1150" dirty="0"/>
          </a:p>
        </p:txBody>
      </p:sp>
      <p:sp>
        <p:nvSpPr>
          <p:cNvPr id="8" name="Shape 6"/>
          <p:cNvSpPr/>
          <p:nvPr/>
        </p:nvSpPr>
        <p:spPr>
          <a:xfrm>
            <a:off x="3374136" y="1920240"/>
            <a:ext cx="2724912" cy="1554480"/>
          </a:xfrm>
          <a:prstGeom prst="roundRect">
            <a:avLst>
              <a:gd name="adj" fmla="val 3529"/>
            </a:avLst>
          </a:prstGeom>
          <a:solidFill>
            <a:srgbClr val="1B242C"/>
          </a:solidFill>
          <a:ln w="12700">
            <a:solidFill>
              <a:srgbClr val="313D47"/>
            </a:solidFill>
            <a:prstDash val="solid"/>
          </a:ln>
        </p:spPr>
      </p:sp>
      <p:sp>
        <p:nvSpPr>
          <p:cNvPr id="9" name="Text 7"/>
          <p:cNvSpPr txBox="1"/>
          <p:nvPr/>
        </p:nvSpPr>
        <p:spPr>
          <a:xfrm>
            <a:off x="3511296" y="2148840"/>
            <a:ext cx="2450592" cy="731520"/>
          </a:xfrm>
          <a:prstGeom prst="rect">
            <a:avLst/>
          </a:prstGeom>
          <a:noFill/>
          <a:ln/>
        </p:spPr>
        <p:txBody>
          <a:bodyPr wrap="square" lIns="0" tIns="0" rIns="0" bIns="0" rtlCol="0" anchor="ctr"/>
          <a:lstStyle/>
          <a:p>
            <a:pPr algn="l" indent="0" marL="0">
              <a:buNone/>
            </a:pPr>
            <a:r>
              <a:rPr lang="en-US" sz="3200" b="1" dirty="0">
                <a:solidFill>
                  <a:srgbClr val="ECF1F5"/>
                </a:solidFill>
                <a:latin typeface="Cambria" pitchFamily="34" charset="0"/>
                <a:ea typeface="Cambria" pitchFamily="34" charset="-122"/>
                <a:cs typeface="Cambria" pitchFamily="34" charset="-120"/>
              </a:rPr>
              <a:t>222 570 €</a:t>
            </a:r>
            <a:endParaRPr lang="en-US" sz="3200" dirty="0"/>
          </a:p>
        </p:txBody>
      </p:sp>
      <p:sp>
        <p:nvSpPr>
          <p:cNvPr id="10" name="Text 8"/>
          <p:cNvSpPr txBox="1"/>
          <p:nvPr/>
        </p:nvSpPr>
        <p:spPr>
          <a:xfrm>
            <a:off x="3511296" y="2944368"/>
            <a:ext cx="2450592" cy="457200"/>
          </a:xfrm>
          <a:prstGeom prst="rect">
            <a:avLst/>
          </a:prstGeom>
          <a:noFill/>
          <a:ln/>
        </p:spPr>
        <p:txBody>
          <a:bodyPr wrap="square" lIns="0" tIns="0" rIns="0" bIns="0" rtlCol="0" anchor="ctr"/>
          <a:lstStyle/>
          <a:p>
            <a:pPr indent="0" marL="0">
              <a:buNone/>
            </a:pPr>
            <a:r>
              <a:rPr lang="en-US" sz="1150" dirty="0">
                <a:solidFill>
                  <a:srgbClr val="6E7C87"/>
                </a:solidFill>
                <a:latin typeface="Calibri" pitchFamily="34" charset="0"/>
                <a:ea typeface="Calibri" pitchFamily="34" charset="-122"/>
                <a:cs typeface="Calibri" pitchFamily="34" charset="-120"/>
              </a:rPr>
              <a:t>Programme complet</a:t>
            </a:r>
            <a:endParaRPr lang="en-US" sz="1150" dirty="0"/>
          </a:p>
        </p:txBody>
      </p:sp>
      <p:sp>
        <p:nvSpPr>
          <p:cNvPr id="11" name="Shape 9"/>
          <p:cNvSpPr/>
          <p:nvPr/>
        </p:nvSpPr>
        <p:spPr>
          <a:xfrm>
            <a:off x="6245352" y="1920240"/>
            <a:ext cx="2724912" cy="1554480"/>
          </a:xfrm>
          <a:prstGeom prst="roundRect">
            <a:avLst>
              <a:gd name="adj" fmla="val 3529"/>
            </a:avLst>
          </a:prstGeom>
          <a:solidFill>
            <a:srgbClr val="1B242C"/>
          </a:solidFill>
          <a:ln w="12700">
            <a:solidFill>
              <a:srgbClr val="6FBF95"/>
            </a:solidFill>
            <a:prstDash val="solid"/>
          </a:ln>
        </p:spPr>
      </p:sp>
      <p:sp>
        <p:nvSpPr>
          <p:cNvPr id="12" name="Text 10"/>
          <p:cNvSpPr txBox="1"/>
          <p:nvPr/>
        </p:nvSpPr>
        <p:spPr>
          <a:xfrm>
            <a:off x="6382512" y="2148840"/>
            <a:ext cx="2450592" cy="731520"/>
          </a:xfrm>
          <a:prstGeom prst="rect">
            <a:avLst/>
          </a:prstGeom>
          <a:noFill/>
          <a:ln/>
        </p:spPr>
        <p:txBody>
          <a:bodyPr wrap="square" lIns="0" tIns="0" rIns="0" bIns="0" rtlCol="0" anchor="ctr"/>
          <a:lstStyle/>
          <a:p>
            <a:pPr algn="l" indent="0" marL="0">
              <a:buNone/>
            </a:pPr>
            <a:r>
              <a:rPr lang="en-US" sz="3200" b="1" dirty="0">
                <a:solidFill>
                  <a:srgbClr val="6FBF95"/>
                </a:solidFill>
                <a:latin typeface="Cambria" pitchFamily="34" charset="0"/>
                <a:ea typeface="Cambria" pitchFamily="34" charset="-122"/>
                <a:cs typeface="Cambria" pitchFamily="34" charset="-120"/>
              </a:rPr>
              <a:t>134 820 €</a:t>
            </a:r>
            <a:endParaRPr lang="en-US" sz="3200" dirty="0"/>
          </a:p>
        </p:txBody>
      </p:sp>
      <p:sp>
        <p:nvSpPr>
          <p:cNvPr id="13" name="Text 11"/>
          <p:cNvSpPr txBox="1"/>
          <p:nvPr/>
        </p:nvSpPr>
        <p:spPr>
          <a:xfrm>
            <a:off x="6382512" y="2944368"/>
            <a:ext cx="2450592" cy="457200"/>
          </a:xfrm>
          <a:prstGeom prst="rect">
            <a:avLst/>
          </a:prstGeom>
          <a:noFill/>
          <a:ln/>
        </p:spPr>
        <p:txBody>
          <a:bodyPr wrap="square" lIns="0" tIns="0" rIns="0" bIns="0" rtlCol="0" anchor="ctr"/>
          <a:lstStyle/>
          <a:p>
            <a:pPr indent="0" marL="0">
              <a:buNone/>
            </a:pPr>
            <a:r>
              <a:rPr lang="en-US" sz="1150" dirty="0">
                <a:solidFill>
                  <a:srgbClr val="6E7C87"/>
                </a:solidFill>
                <a:latin typeface="Calibri" pitchFamily="34" charset="0"/>
                <a:ea typeface="Calibri" pitchFamily="34" charset="-122"/>
                <a:cs typeface="Calibri" pitchFamily="34" charset="-120"/>
              </a:rPr>
              <a:t>Si adossé aux arrêts planifiés</a:t>
            </a:r>
            <a:endParaRPr lang="en-US" sz="1150" dirty="0"/>
          </a:p>
        </p:txBody>
      </p:sp>
      <p:sp>
        <p:nvSpPr>
          <p:cNvPr id="14" name="Shape 12"/>
          <p:cNvSpPr/>
          <p:nvPr/>
        </p:nvSpPr>
        <p:spPr>
          <a:xfrm>
            <a:off x="9116568" y="1920240"/>
            <a:ext cx="2724912" cy="1554480"/>
          </a:xfrm>
          <a:prstGeom prst="roundRect">
            <a:avLst>
              <a:gd name="adj" fmla="val 3529"/>
            </a:avLst>
          </a:prstGeom>
          <a:solidFill>
            <a:srgbClr val="1B242C"/>
          </a:solidFill>
          <a:ln w="12700">
            <a:solidFill>
              <a:srgbClr val="E4796F"/>
            </a:solidFill>
            <a:prstDash val="solid"/>
          </a:ln>
        </p:spPr>
      </p:sp>
      <p:sp>
        <p:nvSpPr>
          <p:cNvPr id="15" name="Text 13"/>
          <p:cNvSpPr txBox="1"/>
          <p:nvPr/>
        </p:nvSpPr>
        <p:spPr>
          <a:xfrm>
            <a:off x="9253728" y="2148840"/>
            <a:ext cx="2450592" cy="731520"/>
          </a:xfrm>
          <a:prstGeom prst="rect">
            <a:avLst/>
          </a:prstGeom>
          <a:noFill/>
          <a:ln/>
        </p:spPr>
        <p:txBody>
          <a:bodyPr wrap="square" lIns="0" tIns="0" rIns="0" bIns="0" rtlCol="0" anchor="ctr"/>
          <a:lstStyle/>
          <a:p>
            <a:pPr algn="l" indent="0" marL="0">
              <a:buNone/>
            </a:pPr>
            <a:r>
              <a:rPr lang="en-US" sz="3200" b="1" dirty="0">
                <a:solidFill>
                  <a:srgbClr val="E4796F"/>
                </a:solidFill>
                <a:latin typeface="Cambria" pitchFamily="34" charset="0"/>
                <a:ea typeface="Cambria" pitchFamily="34" charset="-122"/>
                <a:cs typeface="Cambria" pitchFamily="34" charset="-120"/>
              </a:rPr>
              <a:t>468 000 €</a:t>
            </a:r>
            <a:endParaRPr lang="en-US" sz="3200" dirty="0"/>
          </a:p>
        </p:txBody>
      </p:sp>
      <p:sp>
        <p:nvSpPr>
          <p:cNvPr id="16" name="Text 14"/>
          <p:cNvSpPr txBox="1"/>
          <p:nvPr/>
        </p:nvSpPr>
        <p:spPr>
          <a:xfrm>
            <a:off x="9253728" y="2944368"/>
            <a:ext cx="2450592" cy="457200"/>
          </a:xfrm>
          <a:prstGeom prst="rect">
            <a:avLst/>
          </a:prstGeom>
          <a:noFill/>
          <a:ln/>
        </p:spPr>
        <p:txBody>
          <a:bodyPr wrap="square" lIns="0" tIns="0" rIns="0" bIns="0" rtlCol="0" anchor="ctr"/>
          <a:lstStyle/>
          <a:p>
            <a:pPr indent="0" marL="0">
              <a:buNone/>
            </a:pPr>
            <a:r>
              <a:rPr lang="en-US" sz="1150" dirty="0">
                <a:solidFill>
                  <a:srgbClr val="6E7C87"/>
                </a:solidFill>
                <a:latin typeface="Calibri" pitchFamily="34" charset="0"/>
                <a:ea typeface="Calibri" pitchFamily="34" charset="-122"/>
                <a:cs typeface="Calibri" pitchFamily="34" charset="-120"/>
              </a:rPr>
              <a:t>Un incident type TP (72 h)</a:t>
            </a:r>
            <a:endParaRPr lang="en-US" sz="1150" dirty="0"/>
          </a:p>
        </p:txBody>
      </p:sp>
      <p:sp>
        <p:nvSpPr>
          <p:cNvPr id="17" name="Shape 15"/>
          <p:cNvSpPr/>
          <p:nvPr/>
        </p:nvSpPr>
        <p:spPr>
          <a:xfrm>
            <a:off x="502920" y="3749040"/>
            <a:ext cx="5532120" cy="2103120"/>
          </a:xfrm>
          <a:prstGeom prst="roundRect">
            <a:avLst>
              <a:gd name="adj" fmla="val 2609"/>
            </a:avLst>
          </a:prstGeom>
          <a:solidFill>
            <a:srgbClr val="222E38"/>
          </a:solidFill>
          <a:ln w="12700">
            <a:solidFill>
              <a:srgbClr val="313D47"/>
            </a:solidFill>
            <a:prstDash val="solid"/>
          </a:ln>
        </p:spPr>
      </p:sp>
      <p:sp>
        <p:nvSpPr>
          <p:cNvPr id="18" name="Text 16"/>
          <p:cNvSpPr txBox="1"/>
          <p:nvPr/>
        </p:nvSpPr>
        <p:spPr>
          <a:xfrm>
            <a:off x="685800" y="3931920"/>
            <a:ext cx="5212080" cy="1737360"/>
          </a:xfrm>
          <a:prstGeom prst="rect">
            <a:avLst/>
          </a:prstGeom>
          <a:noFill/>
          <a:ln/>
        </p:spPr>
        <p:txBody>
          <a:bodyPr wrap="square" lIns="0" tIns="0" rIns="0" bIns="0" rtlCol="0" anchor="t"/>
          <a:lstStyle/>
          <a:p>
            <a:pPr indent="0" marL="0">
              <a:buNone/>
            </a:pPr>
            <a:r>
              <a:rPr lang="en-US" sz="1450" b="1" dirty="0">
                <a:solidFill>
                  <a:srgbClr val="ECF1F5"/>
                </a:solidFill>
                <a:latin typeface="Calibri" pitchFamily="34" charset="0"/>
                <a:ea typeface="Calibri" pitchFamily="34" charset="-122"/>
                <a:cs typeface="Calibri" pitchFamily="34" charset="-120"/>
              </a:rPr>
              <a:t>87 750 € du programme ne sont pas de la sécurité mais de l'indisponibilité</a:t>
            </a:r>
            <a:pPr indent="0" marL="0">
              <a:buNone/>
            </a:pPr>
            <a:r>
              <a:rPr lang="en-US" sz="1450" dirty="0">
                <a:solidFill>
                  <a:srgbClr val="9DABB6"/>
                </a:solidFill>
                <a:latin typeface="Calibri" pitchFamily="34" charset="0"/>
                <a:ea typeface="Calibri" pitchFamily="34" charset="-122"/>
                <a:cs typeface="Calibri" pitchFamily="34" charset="-120"/>
              </a:rPr>
              <a:t> (13,5 h × 6 500 €). En groupant les travaux sur les arrêts de maintenance existants, ce coût disparaît presque.</a:t>
            </a:r>
            <a:endParaRPr lang="en-US" sz="1450" dirty="0"/>
          </a:p>
        </p:txBody>
      </p:sp>
      <p:sp>
        <p:nvSpPr>
          <p:cNvPr id="19" name="Shape 17"/>
          <p:cNvSpPr/>
          <p:nvPr/>
        </p:nvSpPr>
        <p:spPr>
          <a:xfrm>
            <a:off x="6172200" y="3749040"/>
            <a:ext cx="5486400" cy="2103120"/>
          </a:xfrm>
          <a:prstGeom prst="roundRect">
            <a:avLst>
              <a:gd name="adj" fmla="val 2609"/>
            </a:avLst>
          </a:prstGeom>
          <a:solidFill>
            <a:srgbClr val="222E38"/>
          </a:solidFill>
          <a:ln w="12700">
            <a:solidFill>
              <a:srgbClr val="6FBF95"/>
            </a:solidFill>
            <a:prstDash val="solid"/>
          </a:ln>
        </p:spPr>
      </p:sp>
      <p:sp>
        <p:nvSpPr>
          <p:cNvPr id="20" name="Text 18"/>
          <p:cNvSpPr txBox="1"/>
          <p:nvPr/>
        </p:nvSpPr>
        <p:spPr>
          <a:xfrm>
            <a:off x="6355080" y="3931920"/>
            <a:ext cx="5120640" cy="1737360"/>
          </a:xfrm>
          <a:prstGeom prst="rect">
            <a:avLst/>
          </a:prstGeom>
          <a:noFill/>
          <a:ln/>
        </p:spPr>
        <p:txBody>
          <a:bodyPr wrap="square" lIns="0" tIns="0" rIns="0" bIns="0" rtlCol="0" anchor="t"/>
          <a:lstStyle/>
          <a:p>
            <a:pPr indent="0" marL="0">
              <a:buNone/>
            </a:pPr>
            <a:r>
              <a:rPr lang="en-US" sz="1450" b="1" dirty="0">
                <a:solidFill>
                  <a:srgbClr val="6FBF95"/>
                </a:solidFill>
                <a:latin typeface="Calibri" pitchFamily="34" charset="0"/>
                <a:ea typeface="Calibri" pitchFamily="34" charset="-122"/>
                <a:cs typeface="Calibri" pitchFamily="34" charset="-120"/>
              </a:rPr>
              <a:t>Le lot 0 se rembourse en moins de 3 heures d'arrêt évité</a:t>
            </a:r>
            <a:pPr indent="0" marL="0">
              <a:buNone/>
            </a:pPr>
            <a:r>
              <a:rPr lang="en-US" sz="1450" dirty="0">
                <a:solidFill>
                  <a:srgbClr val="9DABB6"/>
                </a:solidFill>
                <a:latin typeface="Calibri" pitchFamily="34" charset="0"/>
                <a:ea typeface="Calibri" pitchFamily="34" charset="-122"/>
                <a:cs typeface="Calibri" pitchFamily="34" charset="-120"/>
              </a:rPr>
              <a:t>. Le programme complet, en moins d'un incident évité. C'est le levier à présenter à la direction.</a:t>
            </a:r>
            <a:endParaRPr lang="en-US" sz="1450" dirty="0"/>
          </a:p>
        </p:txBody>
      </p:sp>
      <p:sp>
        <p:nvSpPr>
          <p:cNvPr id="21" name="Text 19"/>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08 / 12 · Coûts</a:t>
            </a:r>
            <a:pPr algn="l" indent="0" marL="0">
              <a:buNone/>
            </a:pPr>
            <a:r>
              <a:rPr lang="en-US" sz="950" dirty="0">
                <a:solidFill>
                  <a:srgbClr val="6E7C87"/>
                </a:solidFill>
                <a:latin typeface="Calibri" pitchFamily="34" charset="0"/>
                <a:ea typeface="Calibri" pitchFamily="34" charset="-122"/>
                <a:cs typeface="Calibri" pitchFamily="34" charset="-120"/>
              </a:rPr>
              <a:t>        Hypothèses : 480 €/j interne · 950 €/j prestataire · 6 500 €/h d'arrêt</a:t>
            </a:r>
            <a:endParaRPr lang="en-US" sz="950" dirty="0"/>
          </a:p>
        </p:txBody>
      </p:sp>
      <p:sp>
        <p:nvSpPr>
          <p:cNvPr id="22" name="Shape 20"/>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5AA6DC"/>
                </a:solidFill>
                <a:latin typeface="Calibri" pitchFamily="34" charset="0"/>
                <a:ea typeface="Calibri" pitchFamily="34" charset="-122"/>
                <a:cs typeface="Calibri" pitchFamily="34" charset="-120"/>
              </a:rPr>
              <a:t>BARÈME /3</a:t>
            </a:r>
            <a:pPr algn="l" indent="0" marL="0">
              <a:buNone/>
            </a:pPr>
            <a:r>
              <a:rPr lang="en-US" sz="1100" spc="200" kern="0" dirty="0">
                <a:solidFill>
                  <a:srgbClr val="6E7C87"/>
                </a:solidFill>
                <a:latin typeface="Calibri" pitchFamily="34" charset="0"/>
                <a:ea typeface="Calibri" pitchFamily="34" charset="-122"/>
                <a:cs typeface="Calibri" pitchFamily="34" charset="-120"/>
              </a:rPr>
              <a:t>   STRATÉGIE DE MISE EN EXÉCUTION</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Sécuriser sans arrêter la production</a:t>
            </a:r>
            <a:endParaRPr lang="en-US" sz="3400" dirty="0"/>
          </a:p>
        </p:txBody>
      </p:sp>
      <p:sp>
        <p:nvSpPr>
          <p:cNvPr id="5" name="Shape 3"/>
          <p:cNvSpPr/>
          <p:nvPr/>
        </p:nvSpPr>
        <p:spPr>
          <a:xfrm>
            <a:off x="502920" y="1920240"/>
            <a:ext cx="3712464" cy="2468880"/>
          </a:xfrm>
          <a:prstGeom prst="roundRect">
            <a:avLst>
              <a:gd name="adj" fmla="val 2222"/>
            </a:avLst>
          </a:prstGeom>
          <a:solidFill>
            <a:srgbClr val="1B242C"/>
          </a:solidFill>
          <a:ln w="12700">
            <a:solidFill>
              <a:srgbClr val="5AA6DC"/>
            </a:solidFill>
            <a:prstDash val="solid"/>
          </a:ln>
        </p:spPr>
      </p:sp>
      <p:sp>
        <p:nvSpPr>
          <p:cNvPr id="6" name="Shape 4"/>
          <p:cNvSpPr/>
          <p:nvPr/>
        </p:nvSpPr>
        <p:spPr>
          <a:xfrm>
            <a:off x="685800" y="2121408"/>
            <a:ext cx="457200" cy="457200"/>
          </a:xfrm>
          <a:prstGeom prst="roundRect">
            <a:avLst>
              <a:gd name="adj" fmla="val 50000"/>
            </a:avLst>
          </a:prstGeom>
          <a:solidFill>
            <a:srgbClr val="0B1116"/>
          </a:solidFill>
          <a:ln w="19050">
            <a:solidFill>
              <a:srgbClr val="5AA6DC"/>
            </a:solidFill>
            <a:prstDash val="solid"/>
          </a:ln>
        </p:spPr>
      </p:sp>
      <p:sp>
        <p:nvSpPr>
          <p:cNvPr id="7" name="Text 5"/>
          <p:cNvSpPr txBox="1"/>
          <p:nvPr/>
        </p:nvSpPr>
        <p:spPr>
          <a:xfrm>
            <a:off x="685800" y="2121408"/>
            <a:ext cx="457200" cy="457200"/>
          </a:xfrm>
          <a:prstGeom prst="rect">
            <a:avLst/>
          </a:prstGeom>
          <a:noFill/>
          <a:ln/>
        </p:spPr>
        <p:txBody>
          <a:bodyPr wrap="square" lIns="0" tIns="0" rIns="0" bIns="0" rtlCol="0" anchor="ctr"/>
          <a:lstStyle/>
          <a:p>
            <a:pPr algn="ctr" indent="0" marL="0">
              <a:buNone/>
            </a:pPr>
            <a:r>
              <a:rPr lang="en-US" sz="2000" b="1" dirty="0">
                <a:solidFill>
                  <a:srgbClr val="5AA6DC"/>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685800" y="2697480"/>
            <a:ext cx="3346704" cy="45720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Valider hors ligne</a:t>
            </a:r>
            <a:endParaRPr lang="en-US" sz="1600" dirty="0"/>
          </a:p>
        </p:txBody>
      </p:sp>
      <p:sp>
        <p:nvSpPr>
          <p:cNvPr id="9" name="Text 7"/>
          <p:cNvSpPr txBox="1"/>
          <p:nvPr/>
        </p:nvSpPr>
        <p:spPr>
          <a:xfrm>
            <a:off x="685800" y="3154680"/>
            <a:ext cx="3346704" cy="109728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Chaque changement testé sur un jumeau numérique avant déploiement. Le pare-feu passe 72 h en « journalisation seule » avant de bloquer.</a:t>
            </a:r>
            <a:endParaRPr lang="en-US" sz="1300" dirty="0"/>
          </a:p>
        </p:txBody>
      </p:sp>
      <p:sp>
        <p:nvSpPr>
          <p:cNvPr id="10" name="Shape 8"/>
          <p:cNvSpPr/>
          <p:nvPr/>
        </p:nvSpPr>
        <p:spPr>
          <a:xfrm>
            <a:off x="4315968" y="1920240"/>
            <a:ext cx="3712464" cy="2468880"/>
          </a:xfrm>
          <a:prstGeom prst="roundRect">
            <a:avLst>
              <a:gd name="adj" fmla="val 2222"/>
            </a:avLst>
          </a:prstGeom>
          <a:solidFill>
            <a:srgbClr val="1B242C"/>
          </a:solidFill>
          <a:ln w="12700">
            <a:solidFill>
              <a:srgbClr val="5AA6DC"/>
            </a:solidFill>
            <a:prstDash val="solid"/>
          </a:ln>
        </p:spPr>
      </p:sp>
      <p:sp>
        <p:nvSpPr>
          <p:cNvPr id="11" name="Shape 9"/>
          <p:cNvSpPr/>
          <p:nvPr/>
        </p:nvSpPr>
        <p:spPr>
          <a:xfrm>
            <a:off x="4498848" y="2121408"/>
            <a:ext cx="457200" cy="457200"/>
          </a:xfrm>
          <a:prstGeom prst="roundRect">
            <a:avLst>
              <a:gd name="adj" fmla="val 50000"/>
            </a:avLst>
          </a:prstGeom>
          <a:solidFill>
            <a:srgbClr val="0B1116"/>
          </a:solidFill>
          <a:ln w="19050">
            <a:solidFill>
              <a:srgbClr val="5AA6DC"/>
            </a:solidFill>
            <a:prstDash val="solid"/>
          </a:ln>
        </p:spPr>
      </p:sp>
      <p:sp>
        <p:nvSpPr>
          <p:cNvPr id="12" name="Text 10"/>
          <p:cNvSpPr txBox="1"/>
          <p:nvPr/>
        </p:nvSpPr>
        <p:spPr>
          <a:xfrm>
            <a:off x="4498848" y="2121408"/>
            <a:ext cx="457200" cy="457200"/>
          </a:xfrm>
          <a:prstGeom prst="rect">
            <a:avLst/>
          </a:prstGeom>
          <a:noFill/>
          <a:ln/>
        </p:spPr>
        <p:txBody>
          <a:bodyPr wrap="square" lIns="0" tIns="0" rIns="0" bIns="0" rtlCol="0" anchor="ctr"/>
          <a:lstStyle/>
          <a:p>
            <a:pPr algn="ctr" indent="0" marL="0">
              <a:buNone/>
            </a:pPr>
            <a:r>
              <a:rPr lang="en-US" sz="2000" b="1" dirty="0">
                <a:solidFill>
                  <a:srgbClr val="5AA6DC"/>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4498848" y="2697480"/>
            <a:ext cx="3346704" cy="45720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Grouper les arrêts</a:t>
            </a:r>
            <a:endParaRPr lang="en-US" sz="1600" dirty="0"/>
          </a:p>
        </p:txBody>
      </p:sp>
      <p:sp>
        <p:nvSpPr>
          <p:cNvPr id="14" name="Text 12"/>
          <p:cNvSpPr txBox="1"/>
          <p:nvPr/>
        </p:nvSpPr>
        <p:spPr>
          <a:xfrm>
            <a:off x="4498848" y="3154680"/>
            <a:ext cx="3346704" cy="109728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Les 13,5 h d'arrêt sont adossées aux fenêtres de maintenance existantes — coût marginal quasi nul au lieu de 87 750 €.</a:t>
            </a:r>
            <a:endParaRPr lang="en-US" sz="1300" dirty="0"/>
          </a:p>
        </p:txBody>
      </p:sp>
      <p:sp>
        <p:nvSpPr>
          <p:cNvPr id="15" name="Shape 13"/>
          <p:cNvSpPr/>
          <p:nvPr/>
        </p:nvSpPr>
        <p:spPr>
          <a:xfrm>
            <a:off x="8129016" y="1920240"/>
            <a:ext cx="3712464" cy="2468880"/>
          </a:xfrm>
          <a:prstGeom prst="roundRect">
            <a:avLst>
              <a:gd name="adj" fmla="val 2222"/>
            </a:avLst>
          </a:prstGeom>
          <a:solidFill>
            <a:srgbClr val="1B242C"/>
          </a:solidFill>
          <a:ln w="12700">
            <a:solidFill>
              <a:srgbClr val="5AA6DC"/>
            </a:solidFill>
            <a:prstDash val="solid"/>
          </a:ln>
        </p:spPr>
      </p:sp>
      <p:sp>
        <p:nvSpPr>
          <p:cNvPr id="16" name="Shape 14"/>
          <p:cNvSpPr/>
          <p:nvPr/>
        </p:nvSpPr>
        <p:spPr>
          <a:xfrm>
            <a:off x="8311896" y="2121408"/>
            <a:ext cx="457200" cy="457200"/>
          </a:xfrm>
          <a:prstGeom prst="roundRect">
            <a:avLst>
              <a:gd name="adj" fmla="val 50000"/>
            </a:avLst>
          </a:prstGeom>
          <a:solidFill>
            <a:srgbClr val="0B1116"/>
          </a:solidFill>
          <a:ln w="19050">
            <a:solidFill>
              <a:srgbClr val="5AA6DC"/>
            </a:solidFill>
            <a:prstDash val="solid"/>
          </a:ln>
        </p:spPr>
      </p:sp>
      <p:sp>
        <p:nvSpPr>
          <p:cNvPr id="17" name="Text 15"/>
          <p:cNvSpPr txBox="1"/>
          <p:nvPr/>
        </p:nvSpPr>
        <p:spPr>
          <a:xfrm>
            <a:off x="8311896" y="2121408"/>
            <a:ext cx="457200" cy="457200"/>
          </a:xfrm>
          <a:prstGeom prst="rect">
            <a:avLst/>
          </a:prstGeom>
          <a:noFill/>
          <a:ln/>
        </p:spPr>
        <p:txBody>
          <a:bodyPr wrap="square" lIns="0" tIns="0" rIns="0" bIns="0" rtlCol="0" anchor="ctr"/>
          <a:lstStyle/>
          <a:p>
            <a:pPr algn="ctr" indent="0" marL="0">
              <a:buNone/>
            </a:pPr>
            <a:r>
              <a:rPr lang="en-US" sz="2000" b="1" dirty="0">
                <a:solidFill>
                  <a:srgbClr val="5AA6DC"/>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8311896" y="2697480"/>
            <a:ext cx="3346704" cy="45720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Point de retour</a:t>
            </a:r>
            <a:endParaRPr lang="en-US" sz="1600" dirty="0"/>
          </a:p>
        </p:txBody>
      </p:sp>
      <p:sp>
        <p:nvSpPr>
          <p:cNvPr id="19" name="Text 17"/>
          <p:cNvSpPr txBox="1"/>
          <p:nvPr/>
        </p:nvSpPr>
        <p:spPr>
          <a:xfrm>
            <a:off x="8311896" y="3154680"/>
            <a:ext cx="3346704" cy="1097280"/>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Aucun déploiement sans sauvegarde de référence vérifiée et procédure de retour arrière prête.</a:t>
            </a:r>
            <a:endParaRPr lang="en-US" sz="1300" dirty="0"/>
          </a:p>
        </p:txBody>
      </p:sp>
      <p:sp>
        <p:nvSpPr>
          <p:cNvPr id="20" name="Shape 18"/>
          <p:cNvSpPr/>
          <p:nvPr/>
        </p:nvSpPr>
        <p:spPr>
          <a:xfrm>
            <a:off x="502920" y="4709160"/>
            <a:ext cx="11155680" cy="1143000"/>
          </a:xfrm>
          <a:prstGeom prst="roundRect">
            <a:avLst>
              <a:gd name="adj" fmla="val 4800"/>
            </a:avLst>
          </a:prstGeom>
          <a:solidFill>
            <a:srgbClr val="222E38"/>
          </a:solidFill>
          <a:ln w="12700">
            <a:solidFill>
              <a:srgbClr val="313D47"/>
            </a:solidFill>
            <a:prstDash val="solid"/>
          </a:ln>
        </p:spPr>
      </p:sp>
      <p:sp>
        <p:nvSpPr>
          <p:cNvPr id="21" name="Text 19"/>
          <p:cNvSpPr txBox="1"/>
          <p:nvPr/>
        </p:nvSpPr>
        <p:spPr>
          <a:xfrm>
            <a:off x="685800" y="4800600"/>
            <a:ext cx="10789920" cy="960120"/>
          </a:xfrm>
          <a:prstGeom prst="rect">
            <a:avLst/>
          </a:prstGeom>
          <a:noFill/>
          <a:ln/>
        </p:spPr>
        <p:txBody>
          <a:bodyPr wrap="square" lIns="0" tIns="0" rIns="0" bIns="0" rtlCol="0" anchor="ctr"/>
          <a:lstStyle/>
          <a:p>
            <a:pPr indent="0" marL="0">
              <a:buNone/>
            </a:pPr>
            <a:r>
              <a:rPr lang="en-US" sz="1350" b="1" dirty="0">
                <a:solidFill>
                  <a:srgbClr val="ECF1F5"/>
                </a:solidFill>
                <a:latin typeface="Calibri" pitchFamily="34" charset="0"/>
                <a:ea typeface="Calibri" pitchFamily="34" charset="-122"/>
                <a:cs typeface="Calibri" pitchFamily="34" charset="-120"/>
              </a:rPr>
              <a:t>Pilotage par indicateurs : </a:t>
            </a:r>
            <a:pPr indent="0" marL="0">
              <a:buNone/>
            </a:pPr>
            <a:r>
              <a:rPr lang="en-US" sz="1350" dirty="0">
                <a:solidFill>
                  <a:srgbClr val="9DABB6"/>
                </a:solidFill>
                <a:latin typeface="Calibri" pitchFamily="34" charset="0"/>
                <a:ea typeface="Calibri" pitchFamily="34" charset="-122"/>
                <a:cs typeface="Calibri" pitchFamily="34" charset="-120"/>
              </a:rPr>
              <a:t>100 % des flux filtrés explicitement · 0 compte par défaut · détection &lt; 5 min · 100 % des actifs journalisés · restauration testée 2×/an. Comité mensuel, audit de conformité en fin de programme.</a:t>
            </a:r>
            <a:endParaRPr lang="en-US" sz="1350" dirty="0"/>
          </a:p>
        </p:txBody>
      </p:sp>
      <p:sp>
        <p:nvSpPr>
          <p:cNvPr id="22" name="Text 20"/>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09 / 12 · Exécution</a:t>
            </a:r>
            <a:pPr algn="l" indent="0" marL="0">
              <a:buNone/>
            </a:pPr>
            <a:r>
              <a:rPr lang="en-US" sz="950" dirty="0">
                <a:solidFill>
                  <a:srgbClr val="6E7C87"/>
                </a:solidFill>
                <a:latin typeface="Calibri" pitchFamily="34" charset="0"/>
                <a:ea typeface="Calibri" pitchFamily="34" charset="-122"/>
                <a:cs typeface="Calibri" pitchFamily="34" charset="-120"/>
              </a:rPr>
              <a:t>        Gestion de changement · qualification · réversibilité</a:t>
            </a:r>
            <a:endParaRPr lang="en-US" sz="950" dirty="0"/>
          </a:p>
        </p:txBody>
      </p:sp>
      <p:sp>
        <p:nvSpPr>
          <p:cNvPr id="23" name="Shape 21"/>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6FBF95"/>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6FBF95"/>
                </a:solidFill>
                <a:latin typeface="Calibri" pitchFamily="34" charset="0"/>
                <a:ea typeface="Calibri" pitchFamily="34" charset="-122"/>
                <a:cs typeface="Calibri" pitchFamily="34" charset="-120"/>
              </a:rPr>
              <a:t>RÉSILIENCE</a:t>
            </a:r>
            <a:pPr algn="l" indent="0" marL="0">
              <a:buNone/>
            </a:pPr>
            <a:r>
              <a:rPr lang="en-US" sz="1100" spc="200" kern="0" dirty="0">
                <a:solidFill>
                  <a:srgbClr val="6E7C87"/>
                </a:solidFill>
                <a:latin typeface="Calibri" pitchFamily="34" charset="0"/>
                <a:ea typeface="Calibri" pitchFamily="34" charset="-122"/>
                <a:cs typeface="Calibri" pitchFamily="34" charset="-120"/>
              </a:rPr>
              <a:t>   PLAN DE CONTINGENCE — QUAND ÇA RECOMMENCE</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Voir, arrêter, redémarrer proprement</a:t>
            </a:r>
            <a:endParaRPr lang="en-US" sz="3400" dirty="0"/>
          </a:p>
        </p:txBody>
      </p:sp>
      <p:sp>
        <p:nvSpPr>
          <p:cNvPr id="5" name="Shape 3"/>
          <p:cNvSpPr/>
          <p:nvPr/>
        </p:nvSpPr>
        <p:spPr>
          <a:xfrm>
            <a:off x="502920" y="1874520"/>
            <a:ext cx="11155680" cy="658368"/>
          </a:xfrm>
          <a:prstGeom prst="roundRect">
            <a:avLst>
              <a:gd name="adj" fmla="val 8333"/>
            </a:avLst>
          </a:prstGeom>
          <a:solidFill>
            <a:srgbClr val="1B242C"/>
          </a:solidFill>
          <a:ln w="12700">
            <a:solidFill>
              <a:srgbClr val="313D47"/>
            </a:solidFill>
            <a:prstDash val="solid"/>
          </a:ln>
        </p:spPr>
      </p:sp>
      <p:sp>
        <p:nvSpPr>
          <p:cNvPr id="6" name="Text 4"/>
          <p:cNvSpPr txBox="1"/>
          <p:nvPr/>
        </p:nvSpPr>
        <p:spPr>
          <a:xfrm>
            <a:off x="640080" y="1874520"/>
            <a:ext cx="1737360" cy="658368"/>
          </a:xfrm>
          <a:prstGeom prst="rect">
            <a:avLst/>
          </a:prstGeom>
          <a:noFill/>
          <a:ln/>
        </p:spPr>
        <p:txBody>
          <a:bodyPr wrap="square" lIns="0" tIns="0" rIns="0" bIns="0" rtlCol="0" anchor="ctr"/>
          <a:lstStyle/>
          <a:p>
            <a:pPr indent="0" marL="0">
              <a:buNone/>
            </a:pPr>
            <a:r>
              <a:rPr lang="en-US" sz="1400" b="1" dirty="0">
                <a:solidFill>
                  <a:srgbClr val="6FBF95"/>
                </a:solidFill>
                <a:latin typeface="Calibri" pitchFamily="34" charset="0"/>
                <a:ea typeface="Calibri" pitchFamily="34" charset="-122"/>
                <a:cs typeface="Calibri" pitchFamily="34" charset="-120"/>
              </a:rPr>
              <a:t>Détection</a:t>
            </a:r>
            <a:endParaRPr lang="en-US" sz="1400" dirty="0"/>
          </a:p>
        </p:txBody>
      </p:sp>
      <p:sp>
        <p:nvSpPr>
          <p:cNvPr id="7" name="Text 5"/>
          <p:cNvSpPr txBox="1"/>
          <p:nvPr/>
        </p:nvSpPr>
        <p:spPr>
          <a:xfrm>
            <a:off x="2377440" y="1874520"/>
            <a:ext cx="7680960" cy="658368"/>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Alerte SIEM (écriture Modbus hors IHM, dépôt de programme) ou écart mesure / modèle</a:t>
            </a:r>
            <a:endParaRPr lang="en-US" sz="1300" dirty="0"/>
          </a:p>
        </p:txBody>
      </p:sp>
      <p:sp>
        <p:nvSpPr>
          <p:cNvPr id="8" name="Text 6"/>
          <p:cNvSpPr txBox="1"/>
          <p:nvPr/>
        </p:nvSpPr>
        <p:spPr>
          <a:xfrm>
            <a:off x="10058400" y="1874520"/>
            <a:ext cx="1508760" cy="658368"/>
          </a:xfrm>
          <a:prstGeom prst="rect">
            <a:avLst/>
          </a:prstGeom>
          <a:noFill/>
          <a:ln/>
        </p:spPr>
        <p:txBody>
          <a:bodyPr wrap="square" lIns="0" tIns="0" rIns="0" bIns="0" rtlCol="0" anchor="ctr"/>
          <a:lstStyle/>
          <a:p>
            <a:pPr algn="r" indent="0" marL="0">
              <a:buNone/>
            </a:pPr>
            <a:r>
              <a:rPr lang="en-US" sz="1400" b="1" dirty="0">
                <a:solidFill>
                  <a:srgbClr val="ECF1F5"/>
                </a:solidFill>
                <a:latin typeface="Calibri" pitchFamily="34" charset="0"/>
                <a:ea typeface="Calibri" pitchFamily="34" charset="-122"/>
                <a:cs typeface="Calibri" pitchFamily="34" charset="-120"/>
              </a:rPr>
              <a:t>&lt; 15 min</a:t>
            </a:r>
            <a:endParaRPr lang="en-US" sz="1400" dirty="0"/>
          </a:p>
        </p:txBody>
      </p:sp>
      <p:sp>
        <p:nvSpPr>
          <p:cNvPr id="9" name="Shape 7"/>
          <p:cNvSpPr/>
          <p:nvPr/>
        </p:nvSpPr>
        <p:spPr>
          <a:xfrm>
            <a:off x="502920" y="2624328"/>
            <a:ext cx="11155680" cy="658368"/>
          </a:xfrm>
          <a:prstGeom prst="roundRect">
            <a:avLst>
              <a:gd name="adj" fmla="val 8333"/>
            </a:avLst>
          </a:prstGeom>
          <a:solidFill>
            <a:srgbClr val="1B242C"/>
          </a:solidFill>
          <a:ln w="12700">
            <a:solidFill>
              <a:srgbClr val="313D47"/>
            </a:solidFill>
            <a:prstDash val="solid"/>
          </a:ln>
        </p:spPr>
      </p:sp>
      <p:sp>
        <p:nvSpPr>
          <p:cNvPr id="10" name="Text 8"/>
          <p:cNvSpPr txBox="1"/>
          <p:nvPr/>
        </p:nvSpPr>
        <p:spPr>
          <a:xfrm>
            <a:off x="640080" y="2624328"/>
            <a:ext cx="1737360" cy="658368"/>
          </a:xfrm>
          <a:prstGeom prst="rect">
            <a:avLst/>
          </a:prstGeom>
          <a:noFill/>
          <a:ln/>
        </p:spPr>
        <p:txBody>
          <a:bodyPr wrap="square" lIns="0" tIns="0" rIns="0" bIns="0" rtlCol="0" anchor="ctr"/>
          <a:lstStyle/>
          <a:p>
            <a:pPr indent="0" marL="0">
              <a:buNone/>
            </a:pPr>
            <a:r>
              <a:rPr lang="en-US" sz="1400" b="1" dirty="0">
                <a:solidFill>
                  <a:srgbClr val="6FBF95"/>
                </a:solidFill>
                <a:latin typeface="Calibri" pitchFamily="34" charset="0"/>
                <a:ea typeface="Calibri" pitchFamily="34" charset="-122"/>
                <a:cs typeface="Calibri" pitchFamily="34" charset="-120"/>
              </a:rPr>
              <a:t>Confinement</a:t>
            </a:r>
            <a:endParaRPr lang="en-US" sz="1400" dirty="0"/>
          </a:p>
        </p:txBody>
      </p:sp>
      <p:sp>
        <p:nvSpPr>
          <p:cNvPr id="11" name="Text 9"/>
          <p:cNvSpPr txBox="1"/>
          <p:nvPr/>
        </p:nvSpPr>
        <p:spPr>
          <a:xfrm>
            <a:off x="2377440" y="2624328"/>
            <a:ext cx="7680960" cy="658368"/>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Coupure du conduit supervision→automate, passage en conduite locale — la barrière SIL 2 reste active</a:t>
            </a:r>
            <a:endParaRPr lang="en-US" sz="1300" dirty="0"/>
          </a:p>
        </p:txBody>
      </p:sp>
      <p:sp>
        <p:nvSpPr>
          <p:cNvPr id="12" name="Text 10"/>
          <p:cNvSpPr txBox="1"/>
          <p:nvPr/>
        </p:nvSpPr>
        <p:spPr>
          <a:xfrm>
            <a:off x="10058400" y="2624328"/>
            <a:ext cx="1508760" cy="658368"/>
          </a:xfrm>
          <a:prstGeom prst="rect">
            <a:avLst/>
          </a:prstGeom>
          <a:noFill/>
          <a:ln/>
        </p:spPr>
        <p:txBody>
          <a:bodyPr wrap="square" lIns="0" tIns="0" rIns="0" bIns="0" rtlCol="0" anchor="ctr"/>
          <a:lstStyle/>
          <a:p>
            <a:pPr algn="r" indent="0" marL="0">
              <a:buNone/>
            </a:pPr>
            <a:r>
              <a:rPr lang="en-US" sz="1400" b="1" dirty="0">
                <a:solidFill>
                  <a:srgbClr val="ECF1F5"/>
                </a:solidFill>
                <a:latin typeface="Calibri" pitchFamily="34" charset="0"/>
                <a:ea typeface="Calibri" pitchFamily="34" charset="-122"/>
                <a:cs typeface="Calibri" pitchFamily="34" charset="-120"/>
              </a:rPr>
              <a:t>&lt; 1 h</a:t>
            </a:r>
            <a:endParaRPr lang="en-US" sz="1400" dirty="0"/>
          </a:p>
        </p:txBody>
      </p:sp>
      <p:sp>
        <p:nvSpPr>
          <p:cNvPr id="13" name="Shape 11"/>
          <p:cNvSpPr/>
          <p:nvPr/>
        </p:nvSpPr>
        <p:spPr>
          <a:xfrm>
            <a:off x="502920" y="3374136"/>
            <a:ext cx="11155680" cy="658368"/>
          </a:xfrm>
          <a:prstGeom prst="roundRect">
            <a:avLst>
              <a:gd name="adj" fmla="val 8333"/>
            </a:avLst>
          </a:prstGeom>
          <a:solidFill>
            <a:srgbClr val="1B242C"/>
          </a:solidFill>
          <a:ln w="12700">
            <a:solidFill>
              <a:srgbClr val="313D47"/>
            </a:solidFill>
            <a:prstDash val="solid"/>
          </a:ln>
        </p:spPr>
      </p:sp>
      <p:sp>
        <p:nvSpPr>
          <p:cNvPr id="14" name="Text 12"/>
          <p:cNvSpPr txBox="1"/>
          <p:nvPr/>
        </p:nvSpPr>
        <p:spPr>
          <a:xfrm>
            <a:off x="640080" y="3374136"/>
            <a:ext cx="1737360" cy="658368"/>
          </a:xfrm>
          <a:prstGeom prst="rect">
            <a:avLst/>
          </a:prstGeom>
          <a:noFill/>
          <a:ln/>
        </p:spPr>
        <p:txBody>
          <a:bodyPr wrap="square" lIns="0" tIns="0" rIns="0" bIns="0" rtlCol="0" anchor="ctr"/>
          <a:lstStyle/>
          <a:p>
            <a:pPr indent="0" marL="0">
              <a:buNone/>
            </a:pPr>
            <a:r>
              <a:rPr lang="en-US" sz="1400" b="1" dirty="0">
                <a:solidFill>
                  <a:srgbClr val="6FBF95"/>
                </a:solidFill>
                <a:latin typeface="Calibri" pitchFamily="34" charset="0"/>
                <a:ea typeface="Calibri" pitchFamily="34" charset="-122"/>
                <a:cs typeface="Calibri" pitchFamily="34" charset="-120"/>
              </a:rPr>
              <a:t>Éradication</a:t>
            </a:r>
            <a:endParaRPr lang="en-US" sz="1400" dirty="0"/>
          </a:p>
        </p:txBody>
      </p:sp>
      <p:sp>
        <p:nvSpPr>
          <p:cNvPr id="15" name="Text 13"/>
          <p:cNvSpPr txBox="1"/>
          <p:nvPr/>
        </p:nvSpPr>
        <p:spPr>
          <a:xfrm>
            <a:off x="2377440" y="3374136"/>
            <a:ext cx="7680960" cy="658368"/>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Restauration du programme automate depuis sauvegarde vérifiée, rotation des secrets</a:t>
            </a:r>
            <a:endParaRPr lang="en-US" sz="1300" dirty="0"/>
          </a:p>
        </p:txBody>
      </p:sp>
      <p:sp>
        <p:nvSpPr>
          <p:cNvPr id="16" name="Text 14"/>
          <p:cNvSpPr txBox="1"/>
          <p:nvPr/>
        </p:nvSpPr>
        <p:spPr>
          <a:xfrm>
            <a:off x="10058400" y="3374136"/>
            <a:ext cx="1508760" cy="658368"/>
          </a:xfrm>
          <a:prstGeom prst="rect">
            <a:avLst/>
          </a:prstGeom>
          <a:noFill/>
          <a:ln/>
        </p:spPr>
        <p:txBody>
          <a:bodyPr wrap="square" lIns="0" tIns="0" rIns="0" bIns="0" rtlCol="0" anchor="ctr"/>
          <a:lstStyle/>
          <a:p>
            <a:pPr algn="r" indent="0" marL="0">
              <a:buNone/>
            </a:pPr>
            <a:r>
              <a:rPr lang="en-US" sz="1400" b="1" dirty="0">
                <a:solidFill>
                  <a:srgbClr val="ECF1F5"/>
                </a:solidFill>
                <a:latin typeface="Calibri" pitchFamily="34" charset="0"/>
                <a:ea typeface="Calibri" pitchFamily="34" charset="-122"/>
                <a:cs typeface="Calibri" pitchFamily="34" charset="-120"/>
              </a:rPr>
              <a:t>&lt; 4 h</a:t>
            </a:r>
            <a:endParaRPr lang="en-US" sz="1400" dirty="0"/>
          </a:p>
        </p:txBody>
      </p:sp>
      <p:sp>
        <p:nvSpPr>
          <p:cNvPr id="17" name="Shape 15"/>
          <p:cNvSpPr/>
          <p:nvPr/>
        </p:nvSpPr>
        <p:spPr>
          <a:xfrm>
            <a:off x="502920" y="4123944"/>
            <a:ext cx="11155680" cy="658368"/>
          </a:xfrm>
          <a:prstGeom prst="roundRect">
            <a:avLst>
              <a:gd name="adj" fmla="val 8333"/>
            </a:avLst>
          </a:prstGeom>
          <a:solidFill>
            <a:srgbClr val="1B242C"/>
          </a:solidFill>
          <a:ln w="12700">
            <a:solidFill>
              <a:srgbClr val="313D47"/>
            </a:solidFill>
            <a:prstDash val="solid"/>
          </a:ln>
        </p:spPr>
      </p:sp>
      <p:sp>
        <p:nvSpPr>
          <p:cNvPr id="18" name="Text 16"/>
          <p:cNvSpPr txBox="1"/>
          <p:nvPr/>
        </p:nvSpPr>
        <p:spPr>
          <a:xfrm>
            <a:off x="640080" y="4123944"/>
            <a:ext cx="1737360" cy="658368"/>
          </a:xfrm>
          <a:prstGeom prst="rect">
            <a:avLst/>
          </a:prstGeom>
          <a:noFill/>
          <a:ln/>
        </p:spPr>
        <p:txBody>
          <a:bodyPr wrap="square" lIns="0" tIns="0" rIns="0" bIns="0" rtlCol="0" anchor="ctr"/>
          <a:lstStyle/>
          <a:p>
            <a:pPr indent="0" marL="0">
              <a:buNone/>
            </a:pPr>
            <a:r>
              <a:rPr lang="en-US" sz="1400" b="1" dirty="0">
                <a:solidFill>
                  <a:srgbClr val="6FBF95"/>
                </a:solidFill>
                <a:latin typeface="Calibri" pitchFamily="34" charset="0"/>
                <a:ea typeface="Calibri" pitchFamily="34" charset="-122"/>
                <a:cs typeface="Calibri" pitchFamily="34" charset="-120"/>
              </a:rPr>
              <a:t>Reprise</a:t>
            </a:r>
            <a:endParaRPr lang="en-US" sz="1400" dirty="0"/>
          </a:p>
        </p:txBody>
      </p:sp>
      <p:sp>
        <p:nvSpPr>
          <p:cNvPr id="19" name="Text 17"/>
          <p:cNvSpPr txBox="1"/>
          <p:nvPr/>
        </p:nvSpPr>
        <p:spPr>
          <a:xfrm>
            <a:off x="2377440" y="4123944"/>
            <a:ext cx="7680960" cy="658368"/>
          </a:xfrm>
          <a:prstGeom prst="rect">
            <a:avLst/>
          </a:prstGeom>
          <a:noFill/>
          <a:ln/>
        </p:spPr>
        <p:txBody>
          <a:bodyPr wrap="square" lIns="0" tIns="0" rIns="0" bIns="0" rtlCol="0" anchor="ctr"/>
          <a:lstStyle/>
          <a:p>
            <a:pPr indent="0" marL="0">
              <a:buNone/>
            </a:pPr>
            <a:r>
              <a:rPr lang="en-US" sz="1300" dirty="0">
                <a:solidFill>
                  <a:srgbClr val="9DABB6"/>
                </a:solidFill>
                <a:latin typeface="Calibri" pitchFamily="34" charset="0"/>
                <a:ea typeface="Calibri" pitchFamily="34" charset="-122"/>
                <a:cs typeface="Calibri" pitchFamily="34" charset="-120"/>
              </a:rPr>
              <a:t>Essais, démarrage à froid progressif, surveillance renforcée 72 h</a:t>
            </a:r>
            <a:endParaRPr lang="en-US" sz="1300" dirty="0"/>
          </a:p>
        </p:txBody>
      </p:sp>
      <p:sp>
        <p:nvSpPr>
          <p:cNvPr id="20" name="Text 18"/>
          <p:cNvSpPr txBox="1"/>
          <p:nvPr/>
        </p:nvSpPr>
        <p:spPr>
          <a:xfrm>
            <a:off x="10058400" y="4123944"/>
            <a:ext cx="1508760" cy="658368"/>
          </a:xfrm>
          <a:prstGeom prst="rect">
            <a:avLst/>
          </a:prstGeom>
          <a:noFill/>
          <a:ln/>
        </p:spPr>
        <p:txBody>
          <a:bodyPr wrap="square" lIns="0" tIns="0" rIns="0" bIns="0" rtlCol="0" anchor="ctr"/>
          <a:lstStyle/>
          <a:p>
            <a:pPr algn="r" indent="0" marL="0">
              <a:buNone/>
            </a:pPr>
            <a:r>
              <a:rPr lang="en-US" sz="1400" b="1" dirty="0">
                <a:solidFill>
                  <a:srgbClr val="ECF1F5"/>
                </a:solidFill>
                <a:latin typeface="Calibri" pitchFamily="34" charset="0"/>
                <a:ea typeface="Calibri" pitchFamily="34" charset="-122"/>
                <a:cs typeface="Calibri" pitchFamily="34" charset="-120"/>
              </a:rPr>
              <a:t>&lt; 8 h</a:t>
            </a:r>
            <a:endParaRPr lang="en-US" sz="1400" dirty="0"/>
          </a:p>
        </p:txBody>
      </p:sp>
      <p:sp>
        <p:nvSpPr>
          <p:cNvPr id="21" name="Shape 19"/>
          <p:cNvSpPr/>
          <p:nvPr/>
        </p:nvSpPr>
        <p:spPr>
          <a:xfrm>
            <a:off x="502920" y="5029200"/>
            <a:ext cx="3712464" cy="868680"/>
          </a:xfrm>
          <a:prstGeom prst="roundRect">
            <a:avLst>
              <a:gd name="adj" fmla="val 6316"/>
            </a:avLst>
          </a:prstGeom>
          <a:solidFill>
            <a:srgbClr val="222E38"/>
          </a:solidFill>
          <a:ln w="12700">
            <a:solidFill>
              <a:srgbClr val="6FBF95"/>
            </a:solidFill>
            <a:prstDash val="solid"/>
          </a:ln>
        </p:spPr>
      </p:sp>
      <p:sp>
        <p:nvSpPr>
          <p:cNvPr id="22" name="Text 20"/>
          <p:cNvSpPr txBox="1"/>
          <p:nvPr/>
        </p:nvSpPr>
        <p:spPr>
          <a:xfrm>
            <a:off x="640080" y="5029200"/>
            <a:ext cx="3438144" cy="868680"/>
          </a:xfrm>
          <a:prstGeom prst="rect">
            <a:avLst/>
          </a:prstGeom>
          <a:noFill/>
          <a:ln/>
        </p:spPr>
        <p:txBody>
          <a:bodyPr wrap="square" lIns="0" tIns="0" rIns="0" bIns="0" rtlCol="0" anchor="ctr"/>
          <a:lstStyle/>
          <a:p>
            <a:pPr indent="0" marL="0">
              <a:buNone/>
            </a:pPr>
            <a:r>
              <a:rPr lang="en-US" sz="1150" b="1" dirty="0">
                <a:solidFill>
                  <a:srgbClr val="6FBF95"/>
                </a:solidFill>
                <a:latin typeface="Calibri" pitchFamily="34" charset="0"/>
                <a:ea typeface="Calibri" pitchFamily="34" charset="-122"/>
                <a:cs typeface="Calibri" pitchFamily="34" charset="-120"/>
              </a:rPr>
              <a:t>Repli sûr automatique — </a:t>
            </a:r>
            <a:pPr indent="0" marL="0">
              <a:buNone/>
            </a:pPr>
            <a:r>
              <a:rPr lang="en-US" sz="1150" dirty="0">
                <a:solidFill>
                  <a:srgbClr val="9DABB6"/>
                </a:solidFill>
                <a:latin typeface="Calibri" pitchFamily="34" charset="0"/>
                <a:ea typeface="Calibri" pitchFamily="34" charset="-122"/>
                <a:cs typeface="Calibri" pitchFamily="34" charset="-120"/>
              </a:rPr>
              <a:t>La barrière SIL 2 met le réacteur en sécurité sans le réseau.</a:t>
            </a:r>
            <a:endParaRPr lang="en-US" sz="1150" dirty="0"/>
          </a:p>
        </p:txBody>
      </p:sp>
      <p:sp>
        <p:nvSpPr>
          <p:cNvPr id="23" name="Shape 21"/>
          <p:cNvSpPr/>
          <p:nvPr/>
        </p:nvSpPr>
        <p:spPr>
          <a:xfrm>
            <a:off x="4315968" y="5029200"/>
            <a:ext cx="3712464" cy="868680"/>
          </a:xfrm>
          <a:prstGeom prst="roundRect">
            <a:avLst>
              <a:gd name="adj" fmla="val 6316"/>
            </a:avLst>
          </a:prstGeom>
          <a:solidFill>
            <a:srgbClr val="222E38"/>
          </a:solidFill>
          <a:ln w="12700">
            <a:solidFill>
              <a:srgbClr val="313D47"/>
            </a:solidFill>
            <a:prstDash val="solid"/>
          </a:ln>
        </p:spPr>
      </p:sp>
      <p:sp>
        <p:nvSpPr>
          <p:cNvPr id="24" name="Text 22"/>
          <p:cNvSpPr txBox="1"/>
          <p:nvPr/>
        </p:nvSpPr>
        <p:spPr>
          <a:xfrm>
            <a:off x="4453128" y="5029200"/>
            <a:ext cx="3438144" cy="868680"/>
          </a:xfrm>
          <a:prstGeom prst="rect">
            <a:avLst/>
          </a:prstGeom>
          <a:noFill/>
          <a:ln/>
        </p:spPr>
        <p:txBody>
          <a:bodyPr wrap="square" lIns="0" tIns="0" rIns="0" bIns="0" rtlCol="0" anchor="ctr"/>
          <a:lstStyle/>
          <a:p>
            <a:pPr indent="0" marL="0">
              <a:buNone/>
            </a:pPr>
            <a:r>
              <a:rPr lang="en-US" sz="1150" b="1" dirty="0">
                <a:solidFill>
                  <a:srgbClr val="ECF1F5"/>
                </a:solidFill>
                <a:latin typeface="Calibri" pitchFamily="34" charset="0"/>
                <a:ea typeface="Calibri" pitchFamily="34" charset="-122"/>
                <a:cs typeface="Calibri" pitchFamily="34" charset="-120"/>
              </a:rPr>
              <a:t>Conduite locale — </a:t>
            </a:r>
            <a:pPr indent="0" marL="0">
              <a:buNone/>
            </a:pPr>
            <a:r>
              <a:rPr lang="en-US" sz="1150" dirty="0">
                <a:solidFill>
                  <a:srgbClr val="9DABB6"/>
                </a:solidFill>
                <a:latin typeface="Calibri" pitchFamily="34" charset="0"/>
                <a:ea typeface="Calibri" pitchFamily="34" charset="-122"/>
                <a:cs typeface="Calibri" pitchFamily="34" charset="-120"/>
              </a:rPr>
              <a:t>Produire en mode dégradé plutôt que s'arrêter : 6 500 €/h préservés.</a:t>
            </a:r>
            <a:endParaRPr lang="en-US" sz="1150" dirty="0"/>
          </a:p>
        </p:txBody>
      </p:sp>
      <p:sp>
        <p:nvSpPr>
          <p:cNvPr id="25" name="Shape 23"/>
          <p:cNvSpPr/>
          <p:nvPr/>
        </p:nvSpPr>
        <p:spPr>
          <a:xfrm>
            <a:off x="8129016" y="5029200"/>
            <a:ext cx="3712464" cy="868680"/>
          </a:xfrm>
          <a:prstGeom prst="roundRect">
            <a:avLst>
              <a:gd name="adj" fmla="val 6316"/>
            </a:avLst>
          </a:prstGeom>
          <a:solidFill>
            <a:srgbClr val="222E38"/>
          </a:solidFill>
          <a:ln w="12700">
            <a:solidFill>
              <a:srgbClr val="313D47"/>
            </a:solidFill>
            <a:prstDash val="solid"/>
          </a:ln>
        </p:spPr>
      </p:sp>
      <p:sp>
        <p:nvSpPr>
          <p:cNvPr id="26" name="Text 24"/>
          <p:cNvSpPr txBox="1"/>
          <p:nvPr/>
        </p:nvSpPr>
        <p:spPr>
          <a:xfrm>
            <a:off x="8266176" y="5029200"/>
            <a:ext cx="3438144" cy="868680"/>
          </a:xfrm>
          <a:prstGeom prst="rect">
            <a:avLst/>
          </a:prstGeom>
          <a:noFill/>
          <a:ln/>
        </p:spPr>
        <p:txBody>
          <a:bodyPr wrap="square" lIns="0" tIns="0" rIns="0" bIns="0" rtlCol="0" anchor="ctr"/>
          <a:lstStyle/>
          <a:p>
            <a:pPr indent="0" marL="0">
              <a:buNone/>
            </a:pPr>
            <a:r>
              <a:rPr lang="en-US" sz="1150" b="1" dirty="0">
                <a:solidFill>
                  <a:srgbClr val="ECF1F5"/>
                </a:solidFill>
                <a:latin typeface="Calibri" pitchFamily="34" charset="0"/>
                <a:ea typeface="Calibri" pitchFamily="34" charset="-122"/>
                <a:cs typeface="Calibri" pitchFamily="34" charset="-120"/>
              </a:rPr>
              <a:t>NIS 2 — </a:t>
            </a:r>
            <a:pPr indent="0" marL="0">
              <a:buNone/>
            </a:pPr>
            <a:r>
              <a:rPr lang="en-US" sz="1150" dirty="0">
                <a:solidFill>
                  <a:srgbClr val="9DABB6"/>
                </a:solidFill>
                <a:latin typeface="Calibri" pitchFamily="34" charset="0"/>
                <a:ea typeface="Calibri" pitchFamily="34" charset="-122"/>
                <a:cs typeface="Calibri" pitchFamily="34" charset="-120"/>
              </a:rPr>
              <a:t>Alerte &lt; 24 h, notification &lt; 72 h. Contacts sur papier en salle de contrôle.</a:t>
            </a:r>
            <a:endParaRPr lang="en-US" sz="1150" dirty="0"/>
          </a:p>
        </p:txBody>
      </p:sp>
      <p:sp>
        <p:nvSpPr>
          <p:cNvPr id="27" name="Text 25"/>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10 / 12 · Contingence</a:t>
            </a:r>
            <a:pPr algn="l" indent="0" marL="0">
              <a:buNone/>
            </a:pPr>
            <a:r>
              <a:rPr lang="en-US" sz="950" dirty="0">
                <a:solidFill>
                  <a:srgbClr val="6E7C87"/>
                </a:solidFill>
                <a:latin typeface="Calibri" pitchFamily="34" charset="0"/>
                <a:ea typeface="Calibri" pitchFamily="34" charset="-122"/>
                <a:cs typeface="Calibri" pitchFamily="34" charset="-120"/>
              </a:rPr>
              <a:t>        Défense en profondeur · sûreté indépendante de la sécurité</a:t>
            </a:r>
            <a:endParaRPr lang="en-US" sz="950" dirty="0"/>
          </a:p>
        </p:txBody>
      </p:sp>
      <p:sp>
        <p:nvSpPr>
          <p:cNvPr id="28" name="Shape 26"/>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61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5AA6DC"/>
                </a:solidFill>
                <a:latin typeface="Calibri" pitchFamily="34" charset="0"/>
                <a:ea typeface="Calibri" pitchFamily="34" charset="-122"/>
                <a:cs typeface="Calibri" pitchFamily="34" charset="-120"/>
              </a:rPr>
              <a:t>CONCLUSION</a:t>
            </a:r>
            <a:pPr algn="l" indent="0" marL="0">
              <a:buNone/>
            </a:pPr>
            <a:r>
              <a:rPr lang="en-US" sz="1100" spc="200" kern="0" dirty="0">
                <a:solidFill>
                  <a:srgbClr val="6E7C87"/>
                </a:solidFill>
                <a:latin typeface="Calibri" pitchFamily="34" charset="0"/>
                <a:ea typeface="Calibri" pitchFamily="34" charset="-122"/>
                <a:cs typeface="Calibri" pitchFamily="34" charset="-120"/>
              </a:rPr>
              <a:t>   CE QUE LA DIRECTION DOIT RETENIR</a:t>
            </a:r>
            <a:endParaRPr lang="en-US" sz="1100" dirty="0"/>
          </a:p>
        </p:txBody>
      </p:sp>
      <p:sp>
        <p:nvSpPr>
          <p:cNvPr id="4" name="Text 2"/>
          <p:cNvSpPr txBox="1"/>
          <p:nvPr/>
        </p:nvSpPr>
        <p:spPr>
          <a:xfrm>
            <a:off x="502920" y="822960"/>
            <a:ext cx="11155680" cy="1005840"/>
          </a:xfrm>
          <a:prstGeom prst="rect">
            <a:avLst/>
          </a:prstGeom>
          <a:noFill/>
          <a:ln/>
        </p:spPr>
        <p:txBody>
          <a:bodyPr wrap="square" lIns="0" tIns="0" rIns="0" bIns="0" rtlCol="0" anchor="t"/>
          <a:lstStyle/>
          <a:p>
            <a:pPr algn="l" indent="0" marL="0">
              <a:lnSpc>
                <a:spcPct val="98000"/>
              </a:lnSpc>
              <a:buNone/>
            </a:pPr>
            <a:r>
              <a:rPr lang="en-US" sz="3400" b="1" dirty="0">
                <a:solidFill>
                  <a:srgbClr val="ECF1F5"/>
                </a:solidFill>
                <a:latin typeface="Cambria" pitchFamily="34" charset="0"/>
                <a:ea typeface="Cambria" pitchFamily="34" charset="-122"/>
                <a:cs typeface="Cambria" pitchFamily="34" charset="-120"/>
              </a:rPr>
              <a:t>Quatre jours ciblés changent tout</a:t>
            </a:r>
            <a:endParaRPr lang="en-US" sz="3400" dirty="0"/>
          </a:p>
        </p:txBody>
      </p:sp>
      <p:sp>
        <p:nvSpPr>
          <p:cNvPr id="5" name="Shape 3"/>
          <p:cNvSpPr/>
          <p:nvPr/>
        </p:nvSpPr>
        <p:spPr>
          <a:xfrm>
            <a:off x="502920" y="1965960"/>
            <a:ext cx="5486400" cy="2468880"/>
          </a:xfrm>
          <a:prstGeom prst="roundRect">
            <a:avLst>
              <a:gd name="adj" fmla="val 2222"/>
            </a:avLst>
          </a:prstGeom>
          <a:solidFill>
            <a:srgbClr val="1B242C"/>
          </a:solidFill>
          <a:ln w="12700">
            <a:solidFill>
              <a:srgbClr val="313D47"/>
            </a:solidFill>
            <a:prstDash val="solid"/>
          </a:ln>
        </p:spPr>
      </p:sp>
      <p:sp>
        <p:nvSpPr>
          <p:cNvPr id="6" name="Text 4"/>
          <p:cNvSpPr txBox="1"/>
          <p:nvPr/>
        </p:nvSpPr>
        <p:spPr>
          <a:xfrm>
            <a:off x="731520" y="2148840"/>
            <a:ext cx="5029200" cy="36576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Le constat</a:t>
            </a:r>
            <a:endParaRPr lang="en-US" sz="1600" dirty="0"/>
          </a:p>
        </p:txBody>
      </p:sp>
      <p:sp>
        <p:nvSpPr>
          <p:cNvPr id="7" name="Text 5"/>
          <p:cNvSpPr txBox="1"/>
          <p:nvPr/>
        </p:nvSpPr>
        <p:spPr>
          <a:xfrm>
            <a:off x="731520" y="2606040"/>
            <a:ext cx="4937760" cy="1645920"/>
          </a:xfrm>
          <a:prstGeom prst="rect">
            <a:avLst/>
          </a:prstGeom>
          <a:noFill/>
          <a:ln/>
        </p:spPr>
        <p:txBody>
          <a:bodyPr wrap="square" lIns="0" tIns="0" rIns="0" bIns="0" rtlCol="0" anchor="ctr"/>
          <a:lstStyle/>
          <a:p>
            <a:pPr indent="0" marL="0">
              <a:buNone/>
            </a:pPr>
            <a:r>
              <a:rPr lang="en-US" sz="1500" dirty="0">
                <a:solidFill>
                  <a:srgbClr val="9DABB6"/>
                </a:solidFill>
                <a:latin typeface="Calibri" pitchFamily="34" charset="0"/>
                <a:ea typeface="Calibri" pitchFamily="34" charset="-122"/>
                <a:cs typeface="Calibri" pitchFamily="34" charset="-120"/>
              </a:rPr>
              <a:t>L'usine partait de zéro. La destruction du réacteur n'a demandé ni faille inédite, ni compétence rare — seulement l'absence totale de contrôles.</a:t>
            </a:r>
            <a:endParaRPr lang="en-US" sz="1500" dirty="0"/>
          </a:p>
        </p:txBody>
      </p:sp>
      <p:sp>
        <p:nvSpPr>
          <p:cNvPr id="8" name="Shape 6"/>
          <p:cNvSpPr/>
          <p:nvPr/>
        </p:nvSpPr>
        <p:spPr>
          <a:xfrm>
            <a:off x="6172200" y="1965960"/>
            <a:ext cx="5486400" cy="2468880"/>
          </a:xfrm>
          <a:prstGeom prst="roundRect">
            <a:avLst>
              <a:gd name="adj" fmla="val 2222"/>
            </a:avLst>
          </a:prstGeom>
          <a:solidFill>
            <a:srgbClr val="1B242C"/>
          </a:solidFill>
          <a:ln w="12700">
            <a:solidFill>
              <a:srgbClr val="6FBF95"/>
            </a:solidFill>
            <a:prstDash val="solid"/>
          </a:ln>
        </p:spPr>
      </p:sp>
      <p:sp>
        <p:nvSpPr>
          <p:cNvPr id="9" name="Text 7"/>
          <p:cNvSpPr txBox="1"/>
          <p:nvPr/>
        </p:nvSpPr>
        <p:spPr>
          <a:xfrm>
            <a:off x="6400800" y="2148840"/>
            <a:ext cx="5029200" cy="365760"/>
          </a:xfrm>
          <a:prstGeom prst="rect">
            <a:avLst/>
          </a:prstGeom>
          <a:noFill/>
          <a:ln/>
        </p:spPr>
        <p:txBody>
          <a:bodyPr wrap="square" lIns="0" tIns="0" rIns="0" bIns="0" rtlCol="0" anchor="ctr"/>
          <a:lstStyle/>
          <a:p>
            <a:pPr indent="0" marL="0">
              <a:buNone/>
            </a:pPr>
            <a:r>
              <a:rPr lang="en-US" sz="1600" b="1" dirty="0">
                <a:solidFill>
                  <a:srgbClr val="6FBF95"/>
                </a:solidFill>
                <a:latin typeface="Calibri" pitchFamily="34" charset="0"/>
                <a:ea typeface="Calibri" pitchFamily="34" charset="-122"/>
                <a:cs typeface="Calibri" pitchFamily="34" charset="-120"/>
              </a:rPr>
              <a:t>La réponse</a:t>
            </a:r>
            <a:endParaRPr lang="en-US" sz="1600" dirty="0"/>
          </a:p>
        </p:txBody>
      </p:sp>
      <p:sp>
        <p:nvSpPr>
          <p:cNvPr id="10" name="Text 8"/>
          <p:cNvSpPr txBox="1"/>
          <p:nvPr/>
        </p:nvSpPr>
        <p:spPr>
          <a:xfrm>
            <a:off x="6400800" y="2606040"/>
            <a:ext cx="4937760" cy="1645920"/>
          </a:xfrm>
          <a:prstGeom prst="rect">
            <a:avLst/>
          </a:prstGeom>
          <a:noFill/>
          <a:ln/>
        </p:spPr>
        <p:txBody>
          <a:bodyPr wrap="square" lIns="0" tIns="0" rIns="0" bIns="0" rtlCol="0" anchor="ctr"/>
          <a:lstStyle/>
          <a:p>
            <a:pPr indent="0" marL="0">
              <a:buNone/>
            </a:pPr>
            <a:r>
              <a:rPr lang="en-US" sz="1500" b="1" dirty="0">
                <a:solidFill>
                  <a:srgbClr val="ECF1F5"/>
                </a:solidFill>
                <a:latin typeface="Calibri" pitchFamily="34" charset="0"/>
                <a:ea typeface="Calibri" pitchFamily="34" charset="-122"/>
                <a:cs typeface="Calibri" pitchFamily="34" charset="-120"/>
              </a:rPr>
              <a:t>17 850 € et 2 semaines</a:t>
            </a:r>
            <a:pPr indent="0" marL="0">
              <a:buNone/>
            </a:pPr>
            <a:r>
              <a:rPr lang="en-US" sz="1500" dirty="0">
                <a:solidFill>
                  <a:srgbClr val="9DABB6"/>
                </a:solidFill>
                <a:latin typeface="Calibri" pitchFamily="34" charset="0"/>
                <a:ea typeface="Calibri" pitchFamily="34" charset="-122"/>
                <a:cs typeface="Calibri" pitchFamily="34" charset="-120"/>
              </a:rPr>
              <a:t> coupent la chaîne d'attaque et portent l'usine à SL 2. Les lots suivants atteignent SL 3 et réintroduisent une sûreté physique que le numérique ne peut plus annuler.</a:t>
            </a:r>
            <a:endParaRPr lang="en-US" sz="1500" dirty="0"/>
          </a:p>
        </p:txBody>
      </p:sp>
      <p:sp>
        <p:nvSpPr>
          <p:cNvPr id="11" name="Shape 9"/>
          <p:cNvSpPr/>
          <p:nvPr/>
        </p:nvSpPr>
        <p:spPr>
          <a:xfrm>
            <a:off x="502920" y="4754880"/>
            <a:ext cx="11155680" cy="1234440"/>
          </a:xfrm>
          <a:prstGeom prst="roundRect">
            <a:avLst>
              <a:gd name="adj" fmla="val 4444"/>
            </a:avLst>
          </a:prstGeom>
          <a:solidFill>
            <a:srgbClr val="0B1116"/>
          </a:solidFill>
          <a:ln w="19050">
            <a:solidFill>
              <a:srgbClr val="5AA6DC"/>
            </a:solidFill>
            <a:prstDash val="solid"/>
          </a:ln>
        </p:spPr>
      </p:sp>
      <p:sp>
        <p:nvSpPr>
          <p:cNvPr id="12" name="Text 10"/>
          <p:cNvSpPr txBox="1"/>
          <p:nvPr/>
        </p:nvSpPr>
        <p:spPr>
          <a:xfrm>
            <a:off x="822960" y="4754880"/>
            <a:ext cx="10515600" cy="1234440"/>
          </a:xfrm>
          <a:prstGeom prst="rect">
            <a:avLst/>
          </a:prstGeom>
          <a:noFill/>
          <a:ln/>
        </p:spPr>
        <p:txBody>
          <a:bodyPr wrap="square" lIns="0" tIns="0" rIns="0" bIns="0" rtlCol="0" anchor="ctr"/>
          <a:lstStyle/>
          <a:p>
            <a:pPr algn="ctr" indent="0" marL="0">
              <a:buNone/>
            </a:pPr>
            <a:r>
              <a:rPr lang="en-US" sz="1900" b="1" i="1" dirty="0">
                <a:solidFill>
                  <a:srgbClr val="ECF1F5"/>
                </a:solidFill>
                <a:latin typeface="Cambria" pitchFamily="34" charset="0"/>
                <a:ea typeface="Cambria" pitchFamily="34" charset="-122"/>
                <a:cs typeface="Cambria" pitchFamily="34" charset="-120"/>
              </a:rPr>
              <a:t>« Accepte-t-on de rester exposé à un arrêt de 468 000 € que quatre jours de travail bien ciblés rendent improbable ? »</a:t>
            </a:r>
            <a:endParaRPr lang="en-US" sz="1900" dirty="0"/>
          </a:p>
        </p:txBody>
      </p:sp>
      <p:sp>
        <p:nvSpPr>
          <p:cNvPr id="13" name="Text 11"/>
          <p:cNvSpPr txBox="1"/>
          <p:nvPr/>
        </p:nvSpPr>
        <p:spPr>
          <a:xfrm>
            <a:off x="502920" y="6355080"/>
            <a:ext cx="11155680" cy="274320"/>
          </a:xfrm>
          <a:prstGeom prst="rect">
            <a:avLst/>
          </a:prstGeom>
          <a:noFill/>
          <a:ln/>
        </p:spPr>
        <p:txBody>
          <a:bodyPr wrap="square" lIns="0" tIns="0" rIns="0" bIns="0" rtlCol="0" anchor="ctr"/>
          <a:lstStyle/>
          <a:p>
            <a:pPr algn="l" indent="0" marL="0">
              <a:buNone/>
            </a:pPr>
            <a:r>
              <a:rPr lang="en-US" sz="950" dirty="0">
                <a:solidFill>
                  <a:srgbClr val="6E7C87"/>
                </a:solidFill>
                <a:latin typeface="Calibri" pitchFamily="34" charset="0"/>
                <a:ea typeface="Calibri" pitchFamily="34" charset="-122"/>
                <a:cs typeface="Calibri" pitchFamily="34" charset="-120"/>
              </a:rPr>
              <a:t>11 / 12 · Synthèse</a:t>
            </a:r>
            <a:pPr algn="l" indent="0" marL="0">
              <a:buNone/>
            </a:pPr>
            <a:r>
              <a:rPr lang="en-US" sz="950" dirty="0">
                <a:solidFill>
                  <a:srgbClr val="6E7C87"/>
                </a:solidFill>
                <a:latin typeface="Calibri" pitchFamily="34" charset="0"/>
                <a:ea typeface="Calibri" pitchFamily="34" charset="-122"/>
                <a:cs typeface="Calibri" pitchFamily="34" charset="-120"/>
              </a:rPr>
              <a:t>        De SL 0 à SL 3 · de l'explosion à la maîtrise</a:t>
            </a:r>
            <a:endParaRPr lang="en-US" sz="950" dirty="0"/>
          </a:p>
        </p:txBody>
      </p:sp>
      <p:sp>
        <p:nvSpPr>
          <p:cNvPr id="14" name="Shape 12"/>
          <p:cNvSpPr/>
          <p:nvPr/>
        </p:nvSpPr>
        <p:spPr>
          <a:xfrm>
            <a:off x="502920" y="6291072"/>
            <a:ext cx="11155680" cy="0"/>
          </a:xfrm>
          <a:prstGeom prst="line">
            <a:avLst/>
          </a:prstGeom>
          <a:noFill/>
          <a:ln w="12700">
            <a:solidFill>
              <a:srgbClr val="313D47"/>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16"/>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5AA6DC"/>
          </a:solidFill>
          <a:ln/>
        </p:spPr>
      </p:sp>
      <p:sp>
        <p:nvSpPr>
          <p:cNvPr id="3" name="Text 1"/>
          <p:cNvSpPr txBox="1"/>
          <p:nvPr/>
        </p:nvSpPr>
        <p:spPr>
          <a:xfrm>
            <a:off x="502920" y="384048"/>
            <a:ext cx="11155680" cy="292608"/>
          </a:xfrm>
          <a:prstGeom prst="rect">
            <a:avLst/>
          </a:prstGeom>
          <a:noFill/>
          <a:ln/>
        </p:spPr>
        <p:txBody>
          <a:bodyPr wrap="square" lIns="0" tIns="0" rIns="0" bIns="0" rtlCol="0" anchor="ctr"/>
          <a:lstStyle/>
          <a:p>
            <a:pPr algn="l" indent="0" marL="0">
              <a:buNone/>
            </a:pPr>
            <a:r>
              <a:rPr lang="en-US" sz="1100" b="1" spc="200" kern="0" dirty="0">
                <a:solidFill>
                  <a:srgbClr val="5AA6DC"/>
                </a:solidFill>
                <a:latin typeface="Calibri" pitchFamily="34" charset="0"/>
                <a:ea typeface="Calibri" pitchFamily="34" charset="-122"/>
                <a:cs typeface="Calibri" pitchFamily="34" charset="-120"/>
              </a:rPr>
              <a:t>BARÈME /4</a:t>
            </a:r>
            <a:pPr algn="l" indent="0" marL="0">
              <a:buNone/>
            </a:pPr>
            <a:r>
              <a:rPr lang="en-US" sz="1100" spc="200" kern="0" dirty="0">
                <a:solidFill>
                  <a:srgbClr val="6E7C87"/>
                </a:solidFill>
                <a:latin typeface="Calibri" pitchFamily="34" charset="0"/>
                <a:ea typeface="Calibri" pitchFamily="34" charset="-122"/>
                <a:cs typeface="Calibri" pitchFamily="34" charset="-120"/>
              </a:rPr>
              <a:t>   QUESTIONS</a:t>
            </a:r>
            <a:endParaRPr lang="en-US" sz="1100" dirty="0"/>
          </a:p>
        </p:txBody>
      </p:sp>
      <p:sp>
        <p:nvSpPr>
          <p:cNvPr id="4" name="Text 2"/>
          <p:cNvSpPr txBox="1"/>
          <p:nvPr/>
        </p:nvSpPr>
        <p:spPr>
          <a:xfrm>
            <a:off x="640080" y="1737360"/>
            <a:ext cx="10972800" cy="1005840"/>
          </a:xfrm>
          <a:prstGeom prst="rect">
            <a:avLst/>
          </a:prstGeom>
          <a:noFill/>
          <a:ln/>
        </p:spPr>
        <p:txBody>
          <a:bodyPr wrap="square" lIns="0" tIns="0" rIns="0" bIns="0" rtlCol="0" anchor="ctr"/>
          <a:lstStyle/>
          <a:p>
            <a:pPr indent="0" marL="0">
              <a:buNone/>
            </a:pPr>
            <a:r>
              <a:rPr lang="en-US" sz="4600" b="1" dirty="0">
                <a:solidFill>
                  <a:srgbClr val="ECF1F5"/>
                </a:solidFill>
                <a:latin typeface="Cambria" pitchFamily="34" charset="0"/>
                <a:ea typeface="Cambria" pitchFamily="34" charset="-122"/>
                <a:cs typeface="Cambria" pitchFamily="34" charset="-120"/>
              </a:rPr>
              <a:t>Merci — vos questions</a:t>
            </a:r>
            <a:endParaRPr lang="en-US" sz="4600" dirty="0"/>
          </a:p>
        </p:txBody>
      </p:sp>
      <p:sp>
        <p:nvSpPr>
          <p:cNvPr id="5" name="Shape 3"/>
          <p:cNvSpPr/>
          <p:nvPr/>
        </p:nvSpPr>
        <p:spPr>
          <a:xfrm>
            <a:off x="640080" y="3200400"/>
            <a:ext cx="3630168" cy="2286000"/>
          </a:xfrm>
          <a:prstGeom prst="roundRect">
            <a:avLst>
              <a:gd name="adj" fmla="val 2400"/>
            </a:avLst>
          </a:prstGeom>
          <a:solidFill>
            <a:srgbClr val="1B242C"/>
          </a:solidFill>
          <a:ln w="12700">
            <a:solidFill>
              <a:srgbClr val="313D47"/>
            </a:solidFill>
            <a:prstDash val="solid"/>
          </a:ln>
        </p:spPr>
      </p:sp>
      <p:sp>
        <p:nvSpPr>
          <p:cNvPr id="6" name="Text 4"/>
          <p:cNvSpPr txBox="1"/>
          <p:nvPr/>
        </p:nvSpPr>
        <p:spPr>
          <a:xfrm>
            <a:off x="822960" y="3383280"/>
            <a:ext cx="3264408" cy="36576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Anticipées</a:t>
            </a:r>
            <a:endParaRPr lang="en-US" sz="1600" dirty="0"/>
          </a:p>
        </p:txBody>
      </p:sp>
      <p:sp>
        <p:nvSpPr>
          <p:cNvPr id="7" name="Text 5"/>
          <p:cNvSpPr txBox="1"/>
          <p:nvPr/>
        </p:nvSpPr>
        <p:spPr>
          <a:xfrm>
            <a:off x="822960" y="3840480"/>
            <a:ext cx="3264408" cy="1554480"/>
          </a:xfrm>
          <a:prstGeom prst="rect">
            <a:avLst/>
          </a:prstGeom>
          <a:noFill/>
          <a:ln/>
        </p:spPr>
        <p:txBody>
          <a:bodyPr wrap="square" lIns="0" tIns="0" rIns="0" bIns="0" rtlCol="0" anchor="ctr"/>
          <a:lstStyle/>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Pourquoi pas SL 4 ? · Chiffrer Modbus est-il réaliste ? · Impact d'un faux positif IDS sur la prod ?</a:t>
            </a:r>
            <a:endParaRPr lang="en-US" sz="1300" dirty="0"/>
          </a:p>
        </p:txBody>
      </p:sp>
      <p:sp>
        <p:nvSpPr>
          <p:cNvPr id="8" name="Shape 6"/>
          <p:cNvSpPr/>
          <p:nvPr/>
        </p:nvSpPr>
        <p:spPr>
          <a:xfrm>
            <a:off x="4389120" y="3200400"/>
            <a:ext cx="3630168" cy="2286000"/>
          </a:xfrm>
          <a:prstGeom prst="roundRect">
            <a:avLst>
              <a:gd name="adj" fmla="val 2400"/>
            </a:avLst>
          </a:prstGeom>
          <a:solidFill>
            <a:srgbClr val="1B242C"/>
          </a:solidFill>
          <a:ln w="12700">
            <a:solidFill>
              <a:srgbClr val="313D47"/>
            </a:solidFill>
            <a:prstDash val="solid"/>
          </a:ln>
        </p:spPr>
      </p:sp>
      <p:sp>
        <p:nvSpPr>
          <p:cNvPr id="9" name="Text 7"/>
          <p:cNvSpPr txBox="1"/>
          <p:nvPr/>
        </p:nvSpPr>
        <p:spPr>
          <a:xfrm>
            <a:off x="4572000" y="3383280"/>
            <a:ext cx="3264408" cy="365760"/>
          </a:xfrm>
          <a:prstGeom prst="rect">
            <a:avLst/>
          </a:prstGeom>
          <a:noFill/>
          <a:ln/>
        </p:spPr>
        <p:txBody>
          <a:bodyPr wrap="square" lIns="0" tIns="0" rIns="0" bIns="0" rtlCol="0" anchor="ctr"/>
          <a:lstStyle/>
          <a:p>
            <a:pPr indent="0" marL="0">
              <a:buNone/>
            </a:pPr>
            <a:r>
              <a:rPr lang="en-US" sz="1600" b="1" dirty="0">
                <a:solidFill>
                  <a:srgbClr val="ECF1F5"/>
                </a:solidFill>
                <a:latin typeface="Calibri" pitchFamily="34" charset="0"/>
                <a:ea typeface="Calibri" pitchFamily="34" charset="-122"/>
                <a:cs typeface="Calibri" pitchFamily="34" charset="-120"/>
              </a:rPr>
              <a:t>Références</a:t>
            </a:r>
            <a:endParaRPr lang="en-US" sz="1600" dirty="0"/>
          </a:p>
        </p:txBody>
      </p:sp>
      <p:sp>
        <p:nvSpPr>
          <p:cNvPr id="10" name="Text 8"/>
          <p:cNvSpPr txBox="1"/>
          <p:nvPr/>
        </p:nvSpPr>
        <p:spPr>
          <a:xfrm>
            <a:off x="4572000" y="3840480"/>
            <a:ext cx="3264408" cy="1554480"/>
          </a:xfrm>
          <a:prstGeom prst="rect">
            <a:avLst/>
          </a:prstGeom>
          <a:noFill/>
          <a:ln/>
        </p:spPr>
        <p:txBody>
          <a:bodyPr wrap="square" lIns="0" tIns="0" rIns="0" bIns="0" rtlCol="0" anchor="ctr"/>
          <a:lstStyle/>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IEC 62443-3-2 / 3-3</a:t>
            </a:r>
            <a:endParaRPr lang="en-US" sz="1300" dirty="0"/>
          </a:p>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IEC 61511 (SIL)</a:t>
            </a:r>
            <a:endParaRPr lang="en-US" sz="1300" dirty="0"/>
          </a:p>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MITRE ATT&amp;CK for ICS</a:t>
            </a:r>
            <a:endParaRPr lang="en-US" sz="1300" dirty="0"/>
          </a:p>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Directive NIS 2</a:t>
            </a:r>
            <a:endParaRPr lang="en-US" sz="1300" dirty="0"/>
          </a:p>
        </p:txBody>
      </p:sp>
      <p:sp>
        <p:nvSpPr>
          <p:cNvPr id="11" name="Shape 9"/>
          <p:cNvSpPr/>
          <p:nvPr/>
        </p:nvSpPr>
        <p:spPr>
          <a:xfrm>
            <a:off x="8138160" y="3200400"/>
            <a:ext cx="3630168" cy="2286000"/>
          </a:xfrm>
          <a:prstGeom prst="roundRect">
            <a:avLst>
              <a:gd name="adj" fmla="val 2400"/>
            </a:avLst>
          </a:prstGeom>
          <a:solidFill>
            <a:srgbClr val="1B242C"/>
          </a:solidFill>
          <a:ln w="12700">
            <a:solidFill>
              <a:srgbClr val="5AA6DC"/>
            </a:solidFill>
            <a:prstDash val="solid"/>
          </a:ln>
        </p:spPr>
      </p:sp>
      <p:sp>
        <p:nvSpPr>
          <p:cNvPr id="12" name="Text 10"/>
          <p:cNvSpPr txBox="1"/>
          <p:nvPr/>
        </p:nvSpPr>
        <p:spPr>
          <a:xfrm>
            <a:off x="8321040" y="3383280"/>
            <a:ext cx="3264408" cy="365760"/>
          </a:xfrm>
          <a:prstGeom prst="rect">
            <a:avLst/>
          </a:prstGeom>
          <a:noFill/>
          <a:ln/>
        </p:spPr>
        <p:txBody>
          <a:bodyPr wrap="square" lIns="0" tIns="0" rIns="0" bIns="0" rtlCol="0" anchor="ctr"/>
          <a:lstStyle/>
          <a:p>
            <a:pPr indent="0" marL="0">
              <a:buNone/>
            </a:pPr>
            <a:r>
              <a:rPr lang="en-US" sz="1600" b="1" dirty="0">
                <a:solidFill>
                  <a:srgbClr val="5AA6DC"/>
                </a:solidFill>
                <a:latin typeface="Calibri" pitchFamily="34" charset="0"/>
                <a:ea typeface="Calibri" pitchFamily="34" charset="-122"/>
                <a:cs typeface="Calibri" pitchFamily="34" charset="-120"/>
              </a:rPr>
              <a:t>Livrables</a:t>
            </a:r>
            <a:endParaRPr lang="en-US" sz="1600" dirty="0"/>
          </a:p>
        </p:txBody>
      </p:sp>
      <p:sp>
        <p:nvSpPr>
          <p:cNvPr id="13" name="Text 11"/>
          <p:cNvSpPr txBox="1"/>
          <p:nvPr/>
        </p:nvSpPr>
        <p:spPr>
          <a:xfrm>
            <a:off x="8321040" y="3840480"/>
            <a:ext cx="3264408" cy="1554480"/>
          </a:xfrm>
          <a:prstGeom prst="rect">
            <a:avLst/>
          </a:prstGeom>
          <a:noFill/>
          <a:ln/>
        </p:spPr>
        <p:txBody>
          <a:bodyPr wrap="square" lIns="0" tIns="0" rIns="0" bIns="0" rtlCol="0" anchor="ctr"/>
          <a:lstStyle/>
          <a:p>
            <a:pPr indent="0" marL="0">
              <a:lnSpc>
                <a:spcPct val="115000"/>
              </a:lnSpc>
              <a:buNone/>
            </a:pPr>
            <a:r>
              <a:rPr lang="en-US" sz="1300" dirty="0">
                <a:solidFill>
                  <a:srgbClr val="9DABB6"/>
                </a:solidFill>
                <a:latin typeface="Calibri" pitchFamily="34" charset="0"/>
                <a:ea typeface="Calibri" pitchFamily="34" charset="-122"/>
                <a:cs typeface="Calibri" pitchFamily="34" charset="-120"/>
              </a:rPr>
              <a:t>Dossier technique complet (13 fiches, 2 planches, 18 correctifs chiffrés) + ce support.</a:t>
            </a:r>
            <a:endParaRPr lang="en-US" sz="1300" dirty="0"/>
          </a:p>
        </p:txBody>
      </p:sp>
      <p:sp>
        <p:nvSpPr>
          <p:cNvPr id="14" name="Text 12"/>
          <p:cNvSpPr txBox="1"/>
          <p:nvPr/>
        </p:nvSpPr>
        <p:spPr>
          <a:xfrm>
            <a:off x="640080" y="5943600"/>
            <a:ext cx="10972800" cy="365760"/>
          </a:xfrm>
          <a:prstGeom prst="rect">
            <a:avLst/>
          </a:prstGeom>
          <a:noFill/>
          <a:ln/>
        </p:spPr>
        <p:txBody>
          <a:bodyPr wrap="square" lIns="0" tIns="0" rIns="0" bIns="0" rtlCol="0" anchor="ctr"/>
          <a:lstStyle/>
          <a:p>
            <a:pPr indent="0" marL="0">
              <a:buNone/>
            </a:pPr>
            <a:r>
              <a:rPr lang="en-US" sz="1200" dirty="0">
                <a:solidFill>
                  <a:srgbClr val="6E7C87"/>
                </a:solidFill>
                <a:latin typeface="Calibri" pitchFamily="34" charset="0"/>
                <a:ea typeface="Calibri" pitchFamily="34" charset="-122"/>
                <a:cs typeface="Calibri" pitchFamily="34" charset="-120"/>
              </a:rPr>
              <a:t>Thiboult · Grot · Gledel · Idigov — ECAM 5N 2027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2026-09-14T12:20:07Z</dcterms:created>
  <dcterms:modified xsi:type="dcterms:W3CDTF">2026-09-14T12:20:07Z</dcterms:modified>
</cp:coreProperties>
</file>