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l'architecture finale. C'est exactement le schéma de départ, avec deux différences. Premièrement, les postes Kali et Caldera ont été retirés du réseau de l'usine. Deuxièmement, quatre protections ont été ajoutées, repérées par les pastilles vertes. Un : le pare-feu est fermé, il ne laisse plus passer que l'échange IHM vers automate. Deux : les accès sont durcis, comptes nominatifs, MFA et HTTPS. Trois : un IDS et un SIEM surveillent le Modbus. Quatre : le dépôt de programme sur l'automate est fermé en exploitation.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détaille les quatre correctifs. Le message à faire passer : chacun coupe une étape précise de l'attaque qu'on a menée en TP. Le pare-feu fermé bloque le passage de la DMZ vers l'usine. Les comptes nominatifs et le HTTPS annulent le bénéfice des mots de passe trouvés physiquement. L'IDS et le SIEM font qu'on ne peut plus agir sur le Modbus sans être détecté. Et le verrouillage du dépôt de programme empêche précisément le sabotage qui a fait exploser le réacteur. Couper un seul de ces maillons suffisait à faire échouer l'attaque : là, les quatre le sont.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61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6FBF95"/>
          </a:solidFill>
          <a:ln/>
        </p:spPr>
      </p:sp>
      <p:sp>
        <p:nvSpPr>
          <p:cNvPr id="3" name="Text 1"/>
          <p:cNvSpPr txBox="1"/>
          <p:nvPr/>
        </p:nvSpPr>
        <p:spPr>
          <a:xfrm>
            <a:off x="502920" y="365760"/>
            <a:ext cx="11155680" cy="274320"/>
          </a:xfrm>
          <a:prstGeom prst="rect">
            <a:avLst/>
          </a:prstGeom>
          <a:noFill/>
          <a:ln/>
        </p:spPr>
        <p:txBody>
          <a:bodyPr wrap="square" lIns="0" tIns="0" rIns="0" bIns="0" rtlCol="0" anchor="ctr"/>
          <a:lstStyle/>
          <a:p>
            <a:pPr indent="0" marL="0">
              <a:buNone/>
            </a:pPr>
            <a:r>
              <a:rPr lang="en-US" sz="1100" b="1" spc="200" kern="0" dirty="0">
                <a:solidFill>
                  <a:srgbClr val="6FBF95"/>
                </a:solidFill>
                <a:latin typeface="Calibri" pitchFamily="34" charset="0"/>
                <a:ea typeface="Calibri" pitchFamily="34" charset="-122"/>
                <a:cs typeface="Calibri" pitchFamily="34" charset="-120"/>
              </a:rPr>
              <a:t>BARÈME /3</a:t>
            </a:r>
            <a:pPr indent="0" marL="0">
              <a:buNone/>
            </a:pPr>
            <a:r>
              <a:rPr lang="en-US" sz="1100" spc="200" kern="0" dirty="0">
                <a:solidFill>
                  <a:srgbClr val="6E7C87"/>
                </a:solidFill>
                <a:latin typeface="Calibri" pitchFamily="34" charset="0"/>
                <a:ea typeface="Calibri" pitchFamily="34" charset="-122"/>
                <a:cs typeface="Calibri" pitchFamily="34" charset="-120"/>
              </a:rPr>
              <a:t>   ARCHITECTURE FINALE — LE SCHÉMA CORRIGÉ</a:t>
            </a:r>
            <a:endParaRPr lang="en-US" sz="1100" dirty="0"/>
          </a:p>
        </p:txBody>
      </p:sp>
      <p:sp>
        <p:nvSpPr>
          <p:cNvPr id="4" name="Text 2"/>
          <p:cNvSpPr txBox="1"/>
          <p:nvPr/>
        </p:nvSpPr>
        <p:spPr>
          <a:xfrm>
            <a:off x="502920" y="731520"/>
            <a:ext cx="11155680" cy="731520"/>
          </a:xfrm>
          <a:prstGeom prst="rect">
            <a:avLst/>
          </a:prstGeom>
          <a:noFill/>
          <a:ln/>
        </p:spPr>
        <p:txBody>
          <a:bodyPr wrap="square" lIns="0" tIns="0" rIns="0" bIns="0" rtlCol="0" anchor="t"/>
          <a:lstStyle/>
          <a:p>
            <a:pPr indent="0" marL="0">
              <a:buNone/>
            </a:pPr>
            <a:r>
              <a:rPr lang="en-US" sz="3000" b="1" dirty="0">
                <a:solidFill>
                  <a:srgbClr val="ECF1F5"/>
                </a:solidFill>
                <a:latin typeface="Cambria" pitchFamily="34" charset="0"/>
                <a:ea typeface="Cambria" pitchFamily="34" charset="-122"/>
                <a:cs typeface="Cambria" pitchFamily="34" charset="-120"/>
              </a:rPr>
              <a:t>La même usine, avec 4 protections</a:t>
            </a:r>
            <a:endParaRPr lang="en-US" sz="3000" dirty="0"/>
          </a:p>
        </p:txBody>
      </p:sp>
      <p:sp>
        <p:nvSpPr>
          <p:cNvPr id="5" name="Shape 3"/>
          <p:cNvSpPr/>
          <p:nvPr/>
        </p:nvSpPr>
        <p:spPr>
          <a:xfrm>
            <a:off x="502920" y="1600200"/>
            <a:ext cx="11155680" cy="1143000"/>
          </a:xfrm>
          <a:prstGeom prst="rect">
            <a:avLst/>
          </a:prstGeom>
          <a:solidFill>
            <a:srgbClr val="0B1116"/>
          </a:solidFill>
          <a:ln w="19050">
            <a:solidFill>
              <a:srgbClr val="5AA6DC"/>
            </a:solidFill>
            <a:prstDash val="solid"/>
          </a:ln>
        </p:spPr>
      </p:sp>
      <p:sp>
        <p:nvSpPr>
          <p:cNvPr id="6" name="Shape 4"/>
          <p:cNvSpPr/>
          <p:nvPr/>
        </p:nvSpPr>
        <p:spPr>
          <a:xfrm>
            <a:off x="502920" y="1600200"/>
            <a:ext cx="1371600" cy="274320"/>
          </a:xfrm>
          <a:prstGeom prst="rect">
            <a:avLst/>
          </a:prstGeom>
          <a:solidFill>
            <a:srgbClr val="5AA6DC"/>
          </a:solidFill>
          <a:ln/>
        </p:spPr>
      </p:sp>
      <p:sp>
        <p:nvSpPr>
          <p:cNvPr id="7" name="Text 5"/>
          <p:cNvSpPr txBox="1"/>
          <p:nvPr/>
        </p:nvSpPr>
        <p:spPr>
          <a:xfrm>
            <a:off x="502920" y="1636776"/>
            <a:ext cx="1371600" cy="228600"/>
          </a:xfrm>
          <a:prstGeom prst="rect">
            <a:avLst/>
          </a:prstGeom>
          <a:noFill/>
          <a:ln/>
        </p:spPr>
        <p:txBody>
          <a:bodyPr wrap="square" lIns="0" tIns="0" rIns="0" bIns="0" rtlCol="0" anchor="t"/>
          <a:lstStyle/>
          <a:p>
            <a:pPr algn="ctr" indent="0" marL="0">
              <a:buNone/>
            </a:pPr>
            <a:r>
              <a:rPr lang="en-US" sz="1100" b="1" dirty="0">
                <a:solidFill>
                  <a:srgbClr val="10161C"/>
                </a:solidFill>
                <a:latin typeface="Calibri" pitchFamily="34" charset="0"/>
                <a:ea typeface="Calibri" pitchFamily="34" charset="-122"/>
                <a:cs typeface="Calibri" pitchFamily="34" charset="-120"/>
              </a:rPr>
              <a:t>DMZ</a:t>
            </a:r>
            <a:endParaRPr lang="en-US" sz="1100" dirty="0"/>
          </a:p>
        </p:txBody>
      </p:sp>
      <p:sp>
        <p:nvSpPr>
          <p:cNvPr id="8" name="Text 6"/>
          <p:cNvSpPr txBox="1"/>
          <p:nvPr/>
        </p:nvSpPr>
        <p:spPr>
          <a:xfrm>
            <a:off x="2011680" y="1636776"/>
            <a:ext cx="2743200" cy="228600"/>
          </a:xfrm>
          <a:prstGeom prst="rect">
            <a:avLst/>
          </a:prstGeom>
          <a:noFill/>
          <a:ln/>
        </p:spPr>
        <p:txBody>
          <a:bodyPr wrap="square" lIns="0" tIns="0" rIns="0" bIns="0" rtlCol="0" anchor="t"/>
          <a:lstStyle/>
          <a:p>
            <a:pPr algn="l" indent="0" marL="0">
              <a:buNone/>
            </a:pPr>
            <a:r>
              <a:rPr lang="en-US" sz="1100" b="1" dirty="0">
                <a:solidFill>
                  <a:srgbClr val="5AA6DC"/>
                </a:solidFill>
                <a:latin typeface="Calibri" pitchFamily="34" charset="0"/>
                <a:ea typeface="Calibri" pitchFamily="34" charset="-122"/>
                <a:cs typeface="Calibri" pitchFamily="34" charset="-120"/>
              </a:rPr>
              <a:t>192.168.90.0/24</a:t>
            </a:r>
            <a:endParaRPr lang="en-US" sz="1100" dirty="0"/>
          </a:p>
        </p:txBody>
      </p:sp>
      <p:sp>
        <p:nvSpPr>
          <p:cNvPr id="9" name="Shape 7"/>
          <p:cNvSpPr/>
          <p:nvPr/>
        </p:nvSpPr>
        <p:spPr>
          <a:xfrm>
            <a:off x="685800" y="1901952"/>
            <a:ext cx="4206240" cy="777240"/>
          </a:xfrm>
          <a:prstGeom prst="rect">
            <a:avLst/>
          </a:prstGeom>
          <a:solidFill>
            <a:srgbClr val="1B242C"/>
          </a:solidFill>
          <a:ln w="15875">
            <a:solidFill>
              <a:srgbClr val="ECF1F5"/>
            </a:solidFill>
            <a:prstDash val="solid"/>
          </a:ln>
        </p:spPr>
      </p:sp>
      <p:sp>
        <p:nvSpPr>
          <p:cNvPr id="10" name="Text 8"/>
          <p:cNvSpPr txBox="1"/>
          <p:nvPr/>
        </p:nvSpPr>
        <p:spPr>
          <a:xfrm>
            <a:off x="822960" y="1965960"/>
            <a:ext cx="3931920" cy="228600"/>
          </a:xfrm>
          <a:prstGeom prst="rect">
            <a:avLst/>
          </a:prstGeom>
          <a:noFill/>
          <a:ln/>
        </p:spPr>
        <p:txBody>
          <a:bodyPr wrap="square" lIns="0" tIns="0" rIns="0" bIns="0" rtlCol="0" anchor="t"/>
          <a:lstStyle/>
          <a:p>
            <a:pPr algn="l" indent="0" marL="0">
              <a:buNone/>
            </a:pPr>
            <a:r>
              <a:rPr lang="en-US" sz="1300" b="1" dirty="0">
                <a:solidFill>
                  <a:srgbClr val="ECF1F5"/>
                </a:solidFill>
                <a:latin typeface="Calibri" pitchFamily="34" charset="0"/>
                <a:ea typeface="Calibri" pitchFamily="34" charset="-122"/>
                <a:cs typeface="Calibri" pitchFamily="34" charset="-120"/>
              </a:rPr>
              <a:t>IHM Scada</a:t>
            </a:r>
            <a:endParaRPr lang="en-US" sz="1300" dirty="0"/>
          </a:p>
        </p:txBody>
      </p:sp>
      <p:sp>
        <p:nvSpPr>
          <p:cNvPr id="11" name="Text 9"/>
          <p:cNvSpPr txBox="1"/>
          <p:nvPr/>
        </p:nvSpPr>
        <p:spPr>
          <a:xfrm>
            <a:off x="822960" y="2212848"/>
            <a:ext cx="3931920" cy="201168"/>
          </a:xfrm>
          <a:prstGeom prst="rect">
            <a:avLst/>
          </a:prstGeom>
          <a:noFill/>
          <a:ln/>
        </p:spPr>
        <p:txBody>
          <a:bodyPr wrap="square" lIns="0" tIns="0" rIns="0" bIns="0" rtlCol="0" anchor="t"/>
          <a:lstStyle/>
          <a:p>
            <a:pPr algn="l" indent="0" marL="0">
              <a:buNone/>
            </a:pPr>
            <a:r>
              <a:rPr lang="en-US" sz="1050" dirty="0">
                <a:solidFill>
                  <a:srgbClr val="5AA6DC"/>
                </a:solidFill>
                <a:latin typeface="Calibri" pitchFamily="34" charset="0"/>
                <a:ea typeface="Calibri" pitchFamily="34" charset="-122"/>
                <a:cs typeface="Calibri" pitchFamily="34" charset="-120"/>
              </a:rPr>
              <a:t>192.168.90.107</a:t>
            </a:r>
            <a:endParaRPr lang="en-US" sz="1050" dirty="0"/>
          </a:p>
        </p:txBody>
      </p:sp>
      <p:sp>
        <p:nvSpPr>
          <p:cNvPr id="12" name="Text 10"/>
          <p:cNvSpPr txBox="1"/>
          <p:nvPr/>
        </p:nvSpPr>
        <p:spPr>
          <a:xfrm>
            <a:off x="822960" y="2432304"/>
            <a:ext cx="3931920" cy="201168"/>
          </a:xfrm>
          <a:prstGeom prst="rect">
            <a:avLst/>
          </a:prstGeom>
          <a:noFill/>
          <a:ln/>
        </p:spPr>
        <p:txBody>
          <a:bodyPr wrap="square" lIns="0" tIns="0" rIns="0" bIns="0" rtlCol="0" anchor="t"/>
          <a:lstStyle/>
          <a:p>
            <a:pPr algn="l" indent="0" marL="0">
              <a:buNone/>
            </a:pPr>
            <a:r>
              <a:rPr lang="en-US" sz="1000" dirty="0">
                <a:solidFill>
                  <a:srgbClr val="6FBF95"/>
                </a:solidFill>
                <a:latin typeface="Calibri" pitchFamily="34" charset="0"/>
                <a:ea typeface="Calibri" pitchFamily="34" charset="-122"/>
                <a:cs typeface="Calibri" pitchFamily="34" charset="-120"/>
              </a:rPr>
              <a:t>HTTPS  (au lieu de HTTP 8080)  ·  Modbus / TCP</a:t>
            </a:r>
            <a:endParaRPr lang="en-US" sz="1000" dirty="0"/>
          </a:p>
        </p:txBody>
      </p:sp>
      <p:sp>
        <p:nvSpPr>
          <p:cNvPr id="13" name="Shape 11"/>
          <p:cNvSpPr/>
          <p:nvPr/>
        </p:nvSpPr>
        <p:spPr>
          <a:xfrm>
            <a:off x="5212080" y="1901952"/>
            <a:ext cx="6263640" cy="777240"/>
          </a:xfrm>
          <a:prstGeom prst="rect">
            <a:avLst/>
          </a:prstGeom>
          <a:solidFill>
            <a:srgbClr val="16301F"/>
          </a:solidFill>
          <a:ln w="19050">
            <a:solidFill>
              <a:srgbClr val="6FBF95"/>
            </a:solidFill>
            <a:prstDash val="solid"/>
          </a:ln>
        </p:spPr>
      </p:sp>
      <p:sp>
        <p:nvSpPr>
          <p:cNvPr id="14" name="Text 12"/>
          <p:cNvSpPr txBox="1"/>
          <p:nvPr/>
        </p:nvSpPr>
        <p:spPr>
          <a:xfrm>
            <a:off x="5394960" y="1947672"/>
            <a:ext cx="5852160" cy="228600"/>
          </a:xfrm>
          <a:prstGeom prst="rect">
            <a:avLst/>
          </a:prstGeom>
          <a:noFill/>
          <a:ln/>
        </p:spPr>
        <p:txBody>
          <a:bodyPr wrap="square" lIns="0" tIns="0" rIns="0" bIns="0" rtlCol="0" anchor="t"/>
          <a:lstStyle/>
          <a:p>
            <a:pPr algn="l" indent="0" marL="0">
              <a:buNone/>
            </a:pPr>
            <a:r>
              <a:rPr lang="en-US" sz="1300" b="1" dirty="0">
                <a:solidFill>
                  <a:srgbClr val="6FBF95"/>
                </a:solidFill>
                <a:latin typeface="Calibri" pitchFamily="34" charset="0"/>
                <a:ea typeface="Calibri" pitchFamily="34" charset="-122"/>
                <a:cs typeface="Calibri" pitchFamily="34" charset="-120"/>
              </a:rPr>
              <a:t>Accès durci</a:t>
            </a:r>
            <a:endParaRPr lang="en-US" sz="1300" dirty="0"/>
          </a:p>
        </p:txBody>
      </p:sp>
      <p:sp>
        <p:nvSpPr>
          <p:cNvPr id="15" name="Text 13"/>
          <p:cNvSpPr txBox="1"/>
          <p:nvPr/>
        </p:nvSpPr>
        <p:spPr>
          <a:xfrm>
            <a:off x="5394960" y="2212848"/>
            <a:ext cx="5943600" cy="201168"/>
          </a:xfrm>
          <a:prstGeom prst="rect">
            <a:avLst/>
          </a:prstGeom>
          <a:noFill/>
          <a:ln/>
        </p:spPr>
        <p:txBody>
          <a:bodyPr wrap="square" lIns="0" tIns="0" rIns="0" bIns="0" rtlCol="0" anchor="t"/>
          <a:lstStyle/>
          <a:p>
            <a:pPr algn="l" indent="0" marL="0">
              <a:buNone/>
            </a:pPr>
            <a:r>
              <a:rPr lang="en-US" sz="1000" dirty="0">
                <a:solidFill>
                  <a:srgbClr val="6FBF95"/>
                </a:solidFill>
                <a:latin typeface="Calibri" pitchFamily="34" charset="0"/>
                <a:ea typeface="Calibri" pitchFamily="34" charset="-122"/>
                <a:cs typeface="Calibri" pitchFamily="34" charset="-120"/>
              </a:rPr>
              <a:t>+ comptes nominatifs, plus aucun mot de passe par défaut   + double authentification (MFA)</a:t>
            </a:r>
            <a:endParaRPr lang="en-US" sz="1000" dirty="0"/>
          </a:p>
        </p:txBody>
      </p:sp>
      <p:sp>
        <p:nvSpPr>
          <p:cNvPr id="16" name="Text 14"/>
          <p:cNvSpPr txBox="1"/>
          <p:nvPr/>
        </p:nvSpPr>
        <p:spPr>
          <a:xfrm>
            <a:off x="5394960" y="2432304"/>
            <a:ext cx="5943600" cy="201168"/>
          </a:xfrm>
          <a:prstGeom prst="rect">
            <a:avLst/>
          </a:prstGeom>
          <a:noFill/>
          <a:ln/>
        </p:spPr>
        <p:txBody>
          <a:bodyPr wrap="square" lIns="0" tIns="0" rIns="0" bIns="0" rtlCol="0" anchor="t"/>
          <a:lstStyle/>
          <a:p>
            <a:pPr algn="l" indent="0" marL="0">
              <a:buNone/>
            </a:pPr>
            <a:r>
              <a:rPr lang="en-US" sz="1000" dirty="0">
                <a:solidFill>
                  <a:srgbClr val="6FBF95"/>
                </a:solidFill>
                <a:latin typeface="Calibri" pitchFamily="34" charset="0"/>
                <a:ea typeface="Calibri" pitchFamily="34" charset="-122"/>
                <a:cs typeface="Calibri" pitchFamily="34" charset="-120"/>
              </a:rPr>
              <a:t>+ tout passe en HTTPS — plus rien en clair sur le réseau</a:t>
            </a:r>
            <a:endParaRPr lang="en-US" sz="1000" dirty="0"/>
          </a:p>
        </p:txBody>
      </p:sp>
      <p:sp>
        <p:nvSpPr>
          <p:cNvPr id="17" name="Shape 15"/>
          <p:cNvSpPr/>
          <p:nvPr/>
        </p:nvSpPr>
        <p:spPr>
          <a:xfrm>
            <a:off x="5038344" y="1728216"/>
            <a:ext cx="347472" cy="347472"/>
          </a:xfrm>
          <a:prstGeom prst="ellipse">
            <a:avLst/>
          </a:prstGeom>
          <a:solidFill>
            <a:srgbClr val="6FBF95"/>
          </a:solidFill>
          <a:ln w="19050">
            <a:solidFill>
              <a:srgbClr val="10161C"/>
            </a:solidFill>
            <a:prstDash val="solid"/>
          </a:ln>
        </p:spPr>
      </p:sp>
      <p:sp>
        <p:nvSpPr>
          <p:cNvPr id="18" name="Text 16"/>
          <p:cNvSpPr txBox="1"/>
          <p:nvPr/>
        </p:nvSpPr>
        <p:spPr>
          <a:xfrm>
            <a:off x="5038344" y="1728216"/>
            <a:ext cx="347472" cy="347472"/>
          </a:xfrm>
          <a:prstGeom prst="rect">
            <a:avLst/>
          </a:prstGeom>
          <a:noFill/>
          <a:ln/>
        </p:spPr>
        <p:txBody>
          <a:bodyPr wrap="square" lIns="0" tIns="0" rIns="0" bIns="0" rtlCol="0" anchor="ctr"/>
          <a:lstStyle/>
          <a:p>
            <a:pPr algn="ctr" indent="0" marL="0">
              <a:buNone/>
            </a:pPr>
            <a:r>
              <a:rPr lang="en-US" sz="1400" b="1" dirty="0">
                <a:solidFill>
                  <a:srgbClr val="10161C"/>
                </a:solidFill>
                <a:latin typeface="Calibri" pitchFamily="34" charset="0"/>
                <a:ea typeface="Calibri" pitchFamily="34" charset="-122"/>
                <a:cs typeface="Calibri" pitchFamily="34" charset="-120"/>
              </a:rPr>
              <a:t>2</a:t>
            </a:r>
            <a:endParaRPr lang="en-US" sz="1400" dirty="0"/>
          </a:p>
        </p:txBody>
      </p:sp>
      <p:sp>
        <p:nvSpPr>
          <p:cNvPr id="19" name="Shape 17"/>
          <p:cNvSpPr/>
          <p:nvPr/>
        </p:nvSpPr>
        <p:spPr>
          <a:xfrm>
            <a:off x="502920" y="2880360"/>
            <a:ext cx="11155680" cy="658368"/>
          </a:xfrm>
          <a:prstGeom prst="rect">
            <a:avLst/>
          </a:prstGeom>
          <a:solidFill>
            <a:srgbClr val="16301F"/>
          </a:solidFill>
          <a:ln w="22225">
            <a:solidFill>
              <a:srgbClr val="6FBF95"/>
            </a:solidFill>
            <a:prstDash val="solid"/>
          </a:ln>
        </p:spPr>
      </p:sp>
      <p:sp>
        <p:nvSpPr>
          <p:cNvPr id="20" name="Text 18"/>
          <p:cNvSpPr txBox="1"/>
          <p:nvPr/>
        </p:nvSpPr>
        <p:spPr>
          <a:xfrm>
            <a:off x="502920" y="2962656"/>
            <a:ext cx="11155680" cy="256032"/>
          </a:xfrm>
          <a:prstGeom prst="rect">
            <a:avLst/>
          </a:prstGeom>
          <a:noFill/>
          <a:ln/>
        </p:spPr>
        <p:txBody>
          <a:bodyPr wrap="square" lIns="0" tIns="0" rIns="0" bIns="0" rtlCol="0" anchor="t"/>
          <a:lstStyle/>
          <a:p>
            <a:pPr algn="ctr" indent="0" marL="0">
              <a:buNone/>
            </a:pPr>
            <a:r>
              <a:rPr lang="en-US" sz="1300" b="1" dirty="0">
                <a:solidFill>
                  <a:srgbClr val="6FBF95"/>
                </a:solidFill>
                <a:latin typeface="Calibri" pitchFamily="34" charset="0"/>
                <a:ea typeface="Calibri" pitchFamily="34" charset="-122"/>
                <a:cs typeface="Calibri" pitchFamily="34" charset="-120"/>
              </a:rPr>
              <a:t>PARE-FEU FERMÉ  —  192.168.90.200  ·  192.168.95.200</a:t>
            </a:r>
            <a:endParaRPr lang="en-US" sz="1300" dirty="0"/>
          </a:p>
        </p:txBody>
      </p:sp>
      <p:sp>
        <p:nvSpPr>
          <p:cNvPr id="21" name="Text 19"/>
          <p:cNvSpPr txBox="1"/>
          <p:nvPr/>
        </p:nvSpPr>
        <p:spPr>
          <a:xfrm>
            <a:off x="502920" y="3227832"/>
            <a:ext cx="11155680" cy="228600"/>
          </a:xfrm>
          <a:prstGeom prst="rect">
            <a:avLst/>
          </a:prstGeom>
          <a:noFill/>
          <a:ln/>
        </p:spPr>
        <p:txBody>
          <a:bodyPr wrap="square" lIns="0" tIns="0" rIns="0" bIns="0" rtlCol="0" anchor="t"/>
          <a:lstStyle/>
          <a:p>
            <a:pPr algn="ctr" indent="0" marL="0">
              <a:buNone/>
            </a:pPr>
            <a:r>
              <a:rPr lang="en-US" sz="1050" dirty="0">
                <a:solidFill>
                  <a:srgbClr val="6FBF95"/>
                </a:solidFill>
                <a:latin typeface="Calibri" pitchFamily="34" charset="0"/>
                <a:ea typeface="Calibri" pitchFamily="34" charset="-122"/>
                <a:cs typeface="Calibri" pitchFamily="34" charset="-120"/>
              </a:rPr>
              <a:t>ne laisse passer que IHM ↔ automate  —  tout le reste est bloqué et journalisé</a:t>
            </a:r>
            <a:endParaRPr lang="en-US" sz="1050" dirty="0"/>
          </a:p>
        </p:txBody>
      </p:sp>
      <p:sp>
        <p:nvSpPr>
          <p:cNvPr id="22" name="Shape 20"/>
          <p:cNvSpPr/>
          <p:nvPr/>
        </p:nvSpPr>
        <p:spPr>
          <a:xfrm>
            <a:off x="649224" y="3035808"/>
            <a:ext cx="347472" cy="347472"/>
          </a:xfrm>
          <a:prstGeom prst="ellipse">
            <a:avLst/>
          </a:prstGeom>
          <a:solidFill>
            <a:srgbClr val="6FBF95"/>
          </a:solidFill>
          <a:ln w="19050">
            <a:solidFill>
              <a:srgbClr val="10161C"/>
            </a:solidFill>
            <a:prstDash val="solid"/>
          </a:ln>
        </p:spPr>
      </p:sp>
      <p:sp>
        <p:nvSpPr>
          <p:cNvPr id="23" name="Text 21"/>
          <p:cNvSpPr txBox="1"/>
          <p:nvPr/>
        </p:nvSpPr>
        <p:spPr>
          <a:xfrm>
            <a:off x="649224" y="3035808"/>
            <a:ext cx="347472" cy="347472"/>
          </a:xfrm>
          <a:prstGeom prst="rect">
            <a:avLst/>
          </a:prstGeom>
          <a:noFill/>
          <a:ln/>
        </p:spPr>
        <p:txBody>
          <a:bodyPr wrap="square" lIns="0" tIns="0" rIns="0" bIns="0" rtlCol="0" anchor="ctr"/>
          <a:lstStyle/>
          <a:p>
            <a:pPr algn="ctr" indent="0" marL="0">
              <a:buNone/>
            </a:pPr>
            <a:r>
              <a:rPr lang="en-US" sz="1400" b="1" dirty="0">
                <a:solidFill>
                  <a:srgbClr val="10161C"/>
                </a:solidFill>
                <a:latin typeface="Calibri" pitchFamily="34" charset="0"/>
                <a:ea typeface="Calibri" pitchFamily="34" charset="-122"/>
                <a:cs typeface="Calibri" pitchFamily="34" charset="-120"/>
              </a:rPr>
              <a:t>1</a:t>
            </a:r>
            <a:endParaRPr lang="en-US" sz="1400" dirty="0"/>
          </a:p>
        </p:txBody>
      </p:sp>
      <p:sp>
        <p:nvSpPr>
          <p:cNvPr id="24" name="Shape 22"/>
          <p:cNvSpPr/>
          <p:nvPr/>
        </p:nvSpPr>
        <p:spPr>
          <a:xfrm>
            <a:off x="502920" y="3675888"/>
            <a:ext cx="11155680" cy="2432304"/>
          </a:xfrm>
          <a:prstGeom prst="rect">
            <a:avLst/>
          </a:prstGeom>
          <a:solidFill>
            <a:srgbClr val="0B1116"/>
          </a:solidFill>
          <a:ln w="19050">
            <a:solidFill>
              <a:srgbClr val="5AA6DC"/>
            </a:solidFill>
            <a:prstDash val="solid"/>
          </a:ln>
        </p:spPr>
      </p:sp>
      <p:sp>
        <p:nvSpPr>
          <p:cNvPr id="25" name="Shape 23"/>
          <p:cNvSpPr/>
          <p:nvPr/>
        </p:nvSpPr>
        <p:spPr>
          <a:xfrm>
            <a:off x="502920" y="3675888"/>
            <a:ext cx="1371600" cy="274320"/>
          </a:xfrm>
          <a:prstGeom prst="rect">
            <a:avLst/>
          </a:prstGeom>
          <a:solidFill>
            <a:srgbClr val="5AA6DC"/>
          </a:solidFill>
          <a:ln/>
        </p:spPr>
      </p:sp>
      <p:sp>
        <p:nvSpPr>
          <p:cNvPr id="26" name="Text 24"/>
          <p:cNvSpPr txBox="1"/>
          <p:nvPr/>
        </p:nvSpPr>
        <p:spPr>
          <a:xfrm>
            <a:off x="502920" y="3712464"/>
            <a:ext cx="1371600" cy="228600"/>
          </a:xfrm>
          <a:prstGeom prst="rect">
            <a:avLst/>
          </a:prstGeom>
          <a:noFill/>
          <a:ln/>
        </p:spPr>
        <p:txBody>
          <a:bodyPr wrap="square" lIns="0" tIns="0" rIns="0" bIns="0" rtlCol="0" anchor="t"/>
          <a:lstStyle/>
          <a:p>
            <a:pPr algn="ctr" indent="0" marL="0">
              <a:buNone/>
            </a:pPr>
            <a:r>
              <a:rPr lang="en-US" sz="1100" b="1" dirty="0">
                <a:solidFill>
                  <a:srgbClr val="10161C"/>
                </a:solidFill>
                <a:latin typeface="Calibri" pitchFamily="34" charset="0"/>
                <a:ea typeface="Calibri" pitchFamily="34" charset="-122"/>
                <a:cs typeface="Calibri" pitchFamily="34" charset="-120"/>
              </a:rPr>
              <a:t>ICS</a:t>
            </a:r>
            <a:endParaRPr lang="en-US" sz="1100" dirty="0"/>
          </a:p>
        </p:txBody>
      </p:sp>
      <p:sp>
        <p:nvSpPr>
          <p:cNvPr id="27" name="Text 25"/>
          <p:cNvSpPr txBox="1"/>
          <p:nvPr/>
        </p:nvSpPr>
        <p:spPr>
          <a:xfrm>
            <a:off x="2011680" y="3712464"/>
            <a:ext cx="2743200" cy="228600"/>
          </a:xfrm>
          <a:prstGeom prst="rect">
            <a:avLst/>
          </a:prstGeom>
          <a:noFill/>
          <a:ln/>
        </p:spPr>
        <p:txBody>
          <a:bodyPr wrap="square" lIns="0" tIns="0" rIns="0" bIns="0" rtlCol="0" anchor="t"/>
          <a:lstStyle/>
          <a:p>
            <a:pPr algn="l" indent="0" marL="0">
              <a:buNone/>
            </a:pPr>
            <a:r>
              <a:rPr lang="en-US" sz="1100" b="1" dirty="0">
                <a:solidFill>
                  <a:srgbClr val="5AA6DC"/>
                </a:solidFill>
                <a:latin typeface="Calibri" pitchFamily="34" charset="0"/>
                <a:ea typeface="Calibri" pitchFamily="34" charset="-122"/>
                <a:cs typeface="Calibri" pitchFamily="34" charset="-120"/>
              </a:rPr>
              <a:t>192.168.95.0/24</a:t>
            </a:r>
            <a:endParaRPr lang="en-US" sz="1100" dirty="0"/>
          </a:p>
        </p:txBody>
      </p:sp>
      <p:sp>
        <p:nvSpPr>
          <p:cNvPr id="28" name="Shape 26"/>
          <p:cNvSpPr/>
          <p:nvPr/>
        </p:nvSpPr>
        <p:spPr>
          <a:xfrm>
            <a:off x="685800" y="4023360"/>
            <a:ext cx="3291840" cy="1143000"/>
          </a:xfrm>
          <a:prstGeom prst="rect">
            <a:avLst/>
          </a:prstGeom>
          <a:solidFill>
            <a:srgbClr val="1B242C"/>
          </a:solidFill>
          <a:ln w="15875">
            <a:solidFill>
              <a:srgbClr val="ECF1F5"/>
            </a:solidFill>
            <a:prstDash val="solid"/>
          </a:ln>
        </p:spPr>
      </p:sp>
      <p:sp>
        <p:nvSpPr>
          <p:cNvPr id="29" name="Text 27"/>
          <p:cNvSpPr txBox="1"/>
          <p:nvPr/>
        </p:nvSpPr>
        <p:spPr>
          <a:xfrm>
            <a:off x="822960" y="4078224"/>
            <a:ext cx="3017520" cy="228600"/>
          </a:xfrm>
          <a:prstGeom prst="rect">
            <a:avLst/>
          </a:prstGeom>
          <a:noFill/>
          <a:ln/>
        </p:spPr>
        <p:txBody>
          <a:bodyPr wrap="square" lIns="0" tIns="0" rIns="0" bIns="0" rtlCol="0" anchor="t"/>
          <a:lstStyle/>
          <a:p>
            <a:pPr algn="l" indent="0" marL="0">
              <a:buNone/>
            </a:pPr>
            <a:r>
              <a:rPr lang="en-US" sz="1300" b="1" dirty="0">
                <a:solidFill>
                  <a:srgbClr val="ECF1F5"/>
                </a:solidFill>
                <a:latin typeface="Calibri" pitchFamily="34" charset="0"/>
                <a:ea typeface="Calibri" pitchFamily="34" charset="-122"/>
                <a:cs typeface="Calibri" pitchFamily="34" charset="-120"/>
              </a:rPr>
              <a:t>Open PLC</a:t>
            </a:r>
            <a:endParaRPr lang="en-US" sz="1300" dirty="0"/>
          </a:p>
        </p:txBody>
      </p:sp>
      <p:sp>
        <p:nvSpPr>
          <p:cNvPr id="30" name="Text 28"/>
          <p:cNvSpPr txBox="1"/>
          <p:nvPr/>
        </p:nvSpPr>
        <p:spPr>
          <a:xfrm>
            <a:off x="822960" y="4325112"/>
            <a:ext cx="3017520" cy="201168"/>
          </a:xfrm>
          <a:prstGeom prst="rect">
            <a:avLst/>
          </a:prstGeom>
          <a:noFill/>
          <a:ln/>
        </p:spPr>
        <p:txBody>
          <a:bodyPr wrap="square" lIns="0" tIns="0" rIns="0" bIns="0" rtlCol="0" anchor="t"/>
          <a:lstStyle/>
          <a:p>
            <a:pPr algn="l" indent="0" marL="0">
              <a:buNone/>
            </a:pPr>
            <a:r>
              <a:rPr lang="en-US" sz="1050" dirty="0">
                <a:solidFill>
                  <a:srgbClr val="5AA6DC"/>
                </a:solidFill>
                <a:latin typeface="Calibri" pitchFamily="34" charset="0"/>
                <a:ea typeface="Calibri" pitchFamily="34" charset="-122"/>
                <a:cs typeface="Calibri" pitchFamily="34" charset="-120"/>
              </a:rPr>
              <a:t>192.168.95.2</a:t>
            </a:r>
            <a:endParaRPr lang="en-US" sz="1050" dirty="0"/>
          </a:p>
        </p:txBody>
      </p:sp>
      <p:sp>
        <p:nvSpPr>
          <p:cNvPr id="31" name="Text 29"/>
          <p:cNvSpPr txBox="1"/>
          <p:nvPr/>
        </p:nvSpPr>
        <p:spPr>
          <a:xfrm>
            <a:off x="822960" y="4535424"/>
            <a:ext cx="3017520" cy="201168"/>
          </a:xfrm>
          <a:prstGeom prst="rect">
            <a:avLst/>
          </a:prstGeom>
          <a:noFill/>
          <a:ln/>
        </p:spPr>
        <p:txBody>
          <a:bodyPr wrap="square" lIns="0" tIns="0" rIns="0" bIns="0" rtlCol="0" anchor="t"/>
          <a:lstStyle/>
          <a:p>
            <a:pPr algn="l" indent="0" marL="0">
              <a:buNone/>
            </a:pPr>
            <a:r>
              <a:rPr lang="en-US" sz="1000" dirty="0">
                <a:solidFill>
                  <a:srgbClr val="9DABB6"/>
                </a:solidFill>
                <a:latin typeface="Calibri" pitchFamily="34" charset="0"/>
                <a:ea typeface="Calibri" pitchFamily="34" charset="-122"/>
                <a:cs typeface="Calibri" pitchFamily="34" charset="-120"/>
              </a:rPr>
              <a:t>Modbus / TCP (502)</a:t>
            </a:r>
            <a:endParaRPr lang="en-US" sz="1000" dirty="0"/>
          </a:p>
        </p:txBody>
      </p:sp>
      <p:sp>
        <p:nvSpPr>
          <p:cNvPr id="32" name="Text 30"/>
          <p:cNvSpPr txBox="1"/>
          <p:nvPr/>
        </p:nvSpPr>
        <p:spPr>
          <a:xfrm>
            <a:off x="822960" y="4745736"/>
            <a:ext cx="3017520" cy="201168"/>
          </a:xfrm>
          <a:prstGeom prst="rect">
            <a:avLst/>
          </a:prstGeom>
          <a:noFill/>
          <a:ln/>
        </p:spPr>
        <p:txBody>
          <a:bodyPr wrap="square" lIns="0" tIns="0" rIns="0" bIns="0" rtlCol="0" anchor="t"/>
          <a:lstStyle/>
          <a:p>
            <a:pPr algn="l" indent="0" marL="0">
              <a:buNone/>
            </a:pPr>
            <a:r>
              <a:rPr lang="en-US" sz="1000" dirty="0">
                <a:solidFill>
                  <a:srgbClr val="6FBF95"/>
                </a:solidFill>
                <a:latin typeface="Calibri" pitchFamily="34" charset="0"/>
                <a:ea typeface="Calibri" pitchFamily="34" charset="-122"/>
                <a:cs typeface="Calibri" pitchFamily="34" charset="-120"/>
              </a:rPr>
              <a:t>web de programmation FERMÉ</a:t>
            </a:r>
            <a:endParaRPr lang="en-US" sz="1000" dirty="0"/>
          </a:p>
        </p:txBody>
      </p:sp>
      <p:sp>
        <p:nvSpPr>
          <p:cNvPr id="33" name="Text 31"/>
          <p:cNvSpPr txBox="1"/>
          <p:nvPr/>
        </p:nvSpPr>
        <p:spPr>
          <a:xfrm>
            <a:off x="822960" y="4937760"/>
            <a:ext cx="3017520" cy="201168"/>
          </a:xfrm>
          <a:prstGeom prst="rect">
            <a:avLst/>
          </a:prstGeom>
          <a:noFill/>
          <a:ln/>
        </p:spPr>
        <p:txBody>
          <a:bodyPr wrap="square" lIns="0" tIns="0" rIns="0" bIns="0" rtlCol="0" anchor="t"/>
          <a:lstStyle/>
          <a:p>
            <a:pPr algn="l" indent="0" marL="0">
              <a:buNone/>
            </a:pPr>
            <a:r>
              <a:rPr lang="en-US" sz="1000" dirty="0">
                <a:solidFill>
                  <a:srgbClr val="6FBF95"/>
                </a:solidFill>
                <a:latin typeface="Calibri" pitchFamily="34" charset="0"/>
                <a:ea typeface="Calibri" pitchFamily="34" charset="-122"/>
                <a:cs typeface="Calibri" pitchFamily="34" charset="-120"/>
              </a:rPr>
              <a:t>programme signé &amp; vérifié</a:t>
            </a:r>
            <a:endParaRPr lang="en-US" sz="1000" dirty="0"/>
          </a:p>
        </p:txBody>
      </p:sp>
      <p:sp>
        <p:nvSpPr>
          <p:cNvPr id="34" name="Shape 32"/>
          <p:cNvSpPr/>
          <p:nvPr/>
        </p:nvSpPr>
        <p:spPr>
          <a:xfrm>
            <a:off x="3803904" y="3849624"/>
            <a:ext cx="347472" cy="347472"/>
          </a:xfrm>
          <a:prstGeom prst="ellipse">
            <a:avLst/>
          </a:prstGeom>
          <a:solidFill>
            <a:srgbClr val="6FBF95"/>
          </a:solidFill>
          <a:ln w="19050">
            <a:solidFill>
              <a:srgbClr val="10161C"/>
            </a:solidFill>
            <a:prstDash val="solid"/>
          </a:ln>
        </p:spPr>
      </p:sp>
      <p:sp>
        <p:nvSpPr>
          <p:cNvPr id="35" name="Text 33"/>
          <p:cNvSpPr txBox="1"/>
          <p:nvPr/>
        </p:nvSpPr>
        <p:spPr>
          <a:xfrm>
            <a:off x="3803904" y="3849624"/>
            <a:ext cx="347472" cy="347472"/>
          </a:xfrm>
          <a:prstGeom prst="rect">
            <a:avLst/>
          </a:prstGeom>
          <a:noFill/>
          <a:ln/>
        </p:spPr>
        <p:txBody>
          <a:bodyPr wrap="square" lIns="0" tIns="0" rIns="0" bIns="0" rtlCol="0" anchor="ctr"/>
          <a:lstStyle/>
          <a:p>
            <a:pPr algn="ctr" indent="0" marL="0">
              <a:buNone/>
            </a:pPr>
            <a:r>
              <a:rPr lang="en-US" sz="1400" b="1" dirty="0">
                <a:solidFill>
                  <a:srgbClr val="10161C"/>
                </a:solidFill>
                <a:latin typeface="Calibri" pitchFamily="34" charset="0"/>
                <a:ea typeface="Calibri" pitchFamily="34" charset="-122"/>
                <a:cs typeface="Calibri" pitchFamily="34" charset="-120"/>
              </a:rPr>
              <a:t>4</a:t>
            </a:r>
            <a:endParaRPr lang="en-US" sz="1400" dirty="0"/>
          </a:p>
        </p:txBody>
      </p:sp>
      <p:sp>
        <p:nvSpPr>
          <p:cNvPr id="36" name="Shape 34"/>
          <p:cNvSpPr/>
          <p:nvPr/>
        </p:nvSpPr>
        <p:spPr>
          <a:xfrm>
            <a:off x="685800" y="5349240"/>
            <a:ext cx="3291840" cy="566928"/>
          </a:xfrm>
          <a:prstGeom prst="rect">
            <a:avLst/>
          </a:prstGeom>
          <a:solidFill>
            <a:srgbClr val="1B242C"/>
          </a:solidFill>
          <a:ln w="15875">
            <a:solidFill>
              <a:srgbClr val="ECF1F5"/>
            </a:solidFill>
            <a:prstDash val="solid"/>
          </a:ln>
        </p:spPr>
      </p:sp>
      <p:sp>
        <p:nvSpPr>
          <p:cNvPr id="37" name="Text 35"/>
          <p:cNvSpPr txBox="1"/>
          <p:nvPr/>
        </p:nvSpPr>
        <p:spPr>
          <a:xfrm>
            <a:off x="822960" y="5404104"/>
            <a:ext cx="3017520" cy="228600"/>
          </a:xfrm>
          <a:prstGeom prst="rect">
            <a:avLst/>
          </a:prstGeom>
          <a:noFill/>
          <a:ln/>
        </p:spPr>
        <p:txBody>
          <a:bodyPr wrap="square" lIns="0" tIns="0" rIns="0" bIns="0" rtlCol="0" anchor="t"/>
          <a:lstStyle/>
          <a:p>
            <a:pPr algn="l" indent="0" marL="0">
              <a:buNone/>
            </a:pPr>
            <a:r>
              <a:rPr lang="en-US" sz="1250" b="1" dirty="0">
                <a:solidFill>
                  <a:srgbClr val="ECF1F5"/>
                </a:solidFill>
                <a:latin typeface="Calibri" pitchFamily="34" charset="0"/>
                <a:ea typeface="Calibri" pitchFamily="34" charset="-122"/>
                <a:cs typeface="Calibri" pitchFamily="34" charset="-120"/>
              </a:rPr>
              <a:t>Poste Ingénierie</a:t>
            </a:r>
            <a:endParaRPr lang="en-US" sz="1250" dirty="0"/>
          </a:p>
        </p:txBody>
      </p:sp>
      <p:sp>
        <p:nvSpPr>
          <p:cNvPr id="38" name="Text 36"/>
          <p:cNvSpPr txBox="1"/>
          <p:nvPr/>
        </p:nvSpPr>
        <p:spPr>
          <a:xfrm>
            <a:off x="822960" y="5641848"/>
            <a:ext cx="3017520" cy="201168"/>
          </a:xfrm>
          <a:prstGeom prst="rect">
            <a:avLst/>
          </a:prstGeom>
          <a:noFill/>
          <a:ln/>
        </p:spPr>
        <p:txBody>
          <a:bodyPr wrap="square" lIns="0" tIns="0" rIns="0" bIns="0" rtlCol="0" anchor="t"/>
          <a:lstStyle/>
          <a:p>
            <a:pPr algn="l" indent="0" marL="0">
              <a:buNone/>
            </a:pPr>
            <a:r>
              <a:rPr lang="en-US" sz="1000" dirty="0">
                <a:solidFill>
                  <a:srgbClr val="6FBF95"/>
                </a:solidFill>
                <a:latin typeface="Calibri" pitchFamily="34" charset="0"/>
                <a:ea typeface="Calibri" pitchFamily="34" charset="-122"/>
                <a:cs typeface="Calibri" pitchFamily="34" charset="-120"/>
              </a:rPr>
              <a:t>accès sur fenêtre de maintenance</a:t>
            </a:r>
            <a:endParaRPr lang="en-US" sz="1000" dirty="0"/>
          </a:p>
        </p:txBody>
      </p:sp>
      <p:sp>
        <p:nvSpPr>
          <p:cNvPr id="39" name="Shape 37"/>
          <p:cNvSpPr/>
          <p:nvPr/>
        </p:nvSpPr>
        <p:spPr>
          <a:xfrm>
            <a:off x="4343400" y="4023360"/>
            <a:ext cx="4023360" cy="1892808"/>
          </a:xfrm>
          <a:prstGeom prst="rect">
            <a:avLst/>
          </a:prstGeom>
          <a:solidFill>
            <a:srgbClr val="222E38"/>
          </a:solidFill>
          <a:ln w="15875">
            <a:solidFill>
              <a:srgbClr val="ECF1F5"/>
            </a:solidFill>
            <a:prstDash val="solid"/>
          </a:ln>
        </p:spPr>
      </p:sp>
      <p:sp>
        <p:nvSpPr>
          <p:cNvPr id="40" name="Text 38"/>
          <p:cNvSpPr txBox="1"/>
          <p:nvPr/>
        </p:nvSpPr>
        <p:spPr>
          <a:xfrm>
            <a:off x="4480560" y="4078224"/>
            <a:ext cx="3749040" cy="228600"/>
          </a:xfrm>
          <a:prstGeom prst="rect">
            <a:avLst/>
          </a:prstGeom>
          <a:noFill/>
          <a:ln/>
        </p:spPr>
        <p:txBody>
          <a:bodyPr wrap="square" lIns="0" tIns="0" rIns="0" bIns="0" rtlCol="0" anchor="t"/>
          <a:lstStyle/>
          <a:p>
            <a:pPr algn="l" indent="0" marL="0">
              <a:buNone/>
            </a:pPr>
            <a:r>
              <a:rPr lang="en-US" sz="1300" b="1" dirty="0">
                <a:solidFill>
                  <a:srgbClr val="ECF1F5"/>
                </a:solidFill>
                <a:latin typeface="Calibri" pitchFamily="34" charset="0"/>
                <a:ea typeface="Calibri" pitchFamily="34" charset="-122"/>
                <a:cs typeface="Calibri" pitchFamily="34" charset="-120"/>
              </a:rPr>
              <a:t>E / S déportées</a:t>
            </a:r>
            <a:endParaRPr lang="en-US" sz="1300" dirty="0"/>
          </a:p>
        </p:txBody>
      </p:sp>
      <p:sp>
        <p:nvSpPr>
          <p:cNvPr id="41" name="Text 39"/>
          <p:cNvSpPr txBox="1"/>
          <p:nvPr/>
        </p:nvSpPr>
        <p:spPr>
          <a:xfrm>
            <a:off x="4480560" y="4370832"/>
            <a:ext cx="3749040" cy="219456"/>
          </a:xfrm>
          <a:prstGeom prst="rect">
            <a:avLst/>
          </a:prstGeom>
          <a:noFill/>
          <a:ln/>
        </p:spPr>
        <p:txBody>
          <a:bodyPr wrap="square" lIns="0" tIns="0" rIns="0" bIns="0" rtlCol="0" anchor="t"/>
          <a:lstStyle/>
          <a:p>
            <a:pPr algn="l" indent="0" marL="0">
              <a:buNone/>
            </a:pPr>
            <a:r>
              <a:rPr lang="en-US" sz="1050" dirty="0">
                <a:solidFill>
                  <a:srgbClr val="9DABB6"/>
                </a:solidFill>
                <a:latin typeface="Calibri" pitchFamily="34" charset="0"/>
                <a:ea typeface="Calibri" pitchFamily="34" charset="-122"/>
                <a:cs typeface="Calibri" pitchFamily="34" charset="-120"/>
              </a:rPr>
              <a:t>.95.10  —  Alim</a:t>
            </a:r>
            <a:endParaRPr lang="en-US" sz="1050" dirty="0"/>
          </a:p>
        </p:txBody>
      </p:sp>
      <p:sp>
        <p:nvSpPr>
          <p:cNvPr id="42" name="Text 40"/>
          <p:cNvSpPr txBox="1"/>
          <p:nvPr/>
        </p:nvSpPr>
        <p:spPr>
          <a:xfrm>
            <a:off x="4480560" y="4608576"/>
            <a:ext cx="3749040" cy="219456"/>
          </a:xfrm>
          <a:prstGeom prst="rect">
            <a:avLst/>
          </a:prstGeom>
          <a:noFill/>
          <a:ln/>
        </p:spPr>
        <p:txBody>
          <a:bodyPr wrap="square" lIns="0" tIns="0" rIns="0" bIns="0" rtlCol="0" anchor="t"/>
          <a:lstStyle/>
          <a:p>
            <a:pPr algn="l" indent="0" marL="0">
              <a:buNone/>
            </a:pPr>
            <a:r>
              <a:rPr lang="en-US" sz="1050" dirty="0">
                <a:solidFill>
                  <a:srgbClr val="9DABB6"/>
                </a:solidFill>
                <a:latin typeface="Calibri" pitchFamily="34" charset="0"/>
                <a:ea typeface="Calibri" pitchFamily="34" charset="-122"/>
                <a:cs typeface="Calibri" pitchFamily="34" charset="-120"/>
              </a:rPr>
              <a:t>.95.11  —  Alim</a:t>
            </a:r>
            <a:endParaRPr lang="en-US" sz="1050" dirty="0"/>
          </a:p>
        </p:txBody>
      </p:sp>
      <p:sp>
        <p:nvSpPr>
          <p:cNvPr id="43" name="Text 41"/>
          <p:cNvSpPr txBox="1"/>
          <p:nvPr/>
        </p:nvSpPr>
        <p:spPr>
          <a:xfrm>
            <a:off x="4480560" y="4846320"/>
            <a:ext cx="3749040" cy="219456"/>
          </a:xfrm>
          <a:prstGeom prst="rect">
            <a:avLst/>
          </a:prstGeom>
          <a:noFill/>
          <a:ln/>
        </p:spPr>
        <p:txBody>
          <a:bodyPr wrap="square" lIns="0" tIns="0" rIns="0" bIns="0" rtlCol="0" anchor="t"/>
          <a:lstStyle/>
          <a:p>
            <a:pPr algn="l" indent="0" marL="0">
              <a:buNone/>
            </a:pPr>
            <a:r>
              <a:rPr lang="en-US" sz="1050" dirty="0">
                <a:solidFill>
                  <a:srgbClr val="9DABB6"/>
                </a:solidFill>
                <a:latin typeface="Calibri" pitchFamily="34" charset="0"/>
                <a:ea typeface="Calibri" pitchFamily="34" charset="-122"/>
                <a:cs typeface="Calibri" pitchFamily="34" charset="-120"/>
              </a:rPr>
              <a:t>.95.12  —  Vanne de purge</a:t>
            </a:r>
            <a:endParaRPr lang="en-US" sz="1050" dirty="0"/>
          </a:p>
        </p:txBody>
      </p:sp>
      <p:sp>
        <p:nvSpPr>
          <p:cNvPr id="44" name="Text 42"/>
          <p:cNvSpPr txBox="1"/>
          <p:nvPr/>
        </p:nvSpPr>
        <p:spPr>
          <a:xfrm>
            <a:off x="4480560" y="5084064"/>
            <a:ext cx="3749040" cy="219456"/>
          </a:xfrm>
          <a:prstGeom prst="rect">
            <a:avLst/>
          </a:prstGeom>
          <a:noFill/>
          <a:ln/>
        </p:spPr>
        <p:txBody>
          <a:bodyPr wrap="square" lIns="0" tIns="0" rIns="0" bIns="0" rtlCol="0" anchor="t"/>
          <a:lstStyle/>
          <a:p>
            <a:pPr algn="l" indent="0" marL="0">
              <a:buNone/>
            </a:pPr>
            <a:r>
              <a:rPr lang="en-US" sz="1050" dirty="0">
                <a:solidFill>
                  <a:srgbClr val="9DABB6"/>
                </a:solidFill>
                <a:latin typeface="Calibri" pitchFamily="34" charset="0"/>
                <a:ea typeface="Calibri" pitchFamily="34" charset="-122"/>
                <a:cs typeface="Calibri" pitchFamily="34" charset="-120"/>
              </a:rPr>
              <a:t>.95.13  —  Soutirage / Produit</a:t>
            </a:r>
            <a:endParaRPr lang="en-US" sz="1050" dirty="0"/>
          </a:p>
        </p:txBody>
      </p:sp>
      <p:sp>
        <p:nvSpPr>
          <p:cNvPr id="45" name="Text 43"/>
          <p:cNvSpPr txBox="1"/>
          <p:nvPr/>
        </p:nvSpPr>
        <p:spPr>
          <a:xfrm>
            <a:off x="4480560" y="5321808"/>
            <a:ext cx="3749040" cy="219456"/>
          </a:xfrm>
          <a:prstGeom prst="rect">
            <a:avLst/>
          </a:prstGeom>
          <a:noFill/>
          <a:ln/>
        </p:spPr>
        <p:txBody>
          <a:bodyPr wrap="square" lIns="0" tIns="0" rIns="0" bIns="0" rtlCol="0" anchor="t"/>
          <a:lstStyle/>
          <a:p>
            <a:pPr algn="l" indent="0" marL="0">
              <a:buNone/>
            </a:pPr>
            <a:r>
              <a:rPr lang="en-US" sz="1050" dirty="0">
                <a:solidFill>
                  <a:srgbClr val="E4796F"/>
                </a:solidFill>
                <a:latin typeface="Calibri" pitchFamily="34" charset="0"/>
                <a:ea typeface="Calibri" pitchFamily="34" charset="-122"/>
                <a:cs typeface="Calibri" pitchFamily="34" charset="-120"/>
              </a:rPr>
              <a:t>.95.14  —  Réacteur</a:t>
            </a:r>
            <a:endParaRPr lang="en-US" sz="1050" dirty="0"/>
          </a:p>
        </p:txBody>
      </p:sp>
      <p:sp>
        <p:nvSpPr>
          <p:cNvPr id="46" name="Text 44"/>
          <p:cNvSpPr txBox="1"/>
          <p:nvPr/>
        </p:nvSpPr>
        <p:spPr>
          <a:xfrm>
            <a:off x="4480560" y="5559552"/>
            <a:ext cx="3749040" cy="219456"/>
          </a:xfrm>
          <a:prstGeom prst="rect">
            <a:avLst/>
          </a:prstGeom>
          <a:noFill/>
          <a:ln/>
        </p:spPr>
        <p:txBody>
          <a:bodyPr wrap="square" lIns="0" tIns="0" rIns="0" bIns="0" rtlCol="0" anchor="t"/>
          <a:lstStyle/>
          <a:p>
            <a:pPr algn="l" indent="0" marL="0">
              <a:buNone/>
            </a:pPr>
            <a:r>
              <a:rPr lang="en-US" sz="1050" dirty="0">
                <a:solidFill>
                  <a:srgbClr val="9DABB6"/>
                </a:solidFill>
                <a:latin typeface="Calibri" pitchFamily="34" charset="0"/>
                <a:ea typeface="Calibri" pitchFamily="34" charset="-122"/>
                <a:cs typeface="Calibri" pitchFamily="34" charset="-120"/>
              </a:rPr>
              <a:t>.95.15  —  Analyser</a:t>
            </a:r>
            <a:endParaRPr lang="en-US" sz="1050" dirty="0"/>
          </a:p>
        </p:txBody>
      </p:sp>
      <p:sp>
        <p:nvSpPr>
          <p:cNvPr id="47" name="Shape 45"/>
          <p:cNvSpPr/>
          <p:nvPr/>
        </p:nvSpPr>
        <p:spPr>
          <a:xfrm>
            <a:off x="8732520" y="4023360"/>
            <a:ext cx="2743200" cy="1892808"/>
          </a:xfrm>
          <a:prstGeom prst="rect">
            <a:avLst/>
          </a:prstGeom>
          <a:solidFill>
            <a:srgbClr val="16301F"/>
          </a:solidFill>
          <a:ln w="19050">
            <a:solidFill>
              <a:srgbClr val="6FBF95"/>
            </a:solidFill>
            <a:prstDash val="solid"/>
          </a:ln>
        </p:spPr>
      </p:sp>
      <p:sp>
        <p:nvSpPr>
          <p:cNvPr id="48" name="Text 46"/>
          <p:cNvSpPr txBox="1"/>
          <p:nvPr/>
        </p:nvSpPr>
        <p:spPr>
          <a:xfrm>
            <a:off x="8887968" y="4078224"/>
            <a:ext cx="2468880" cy="228600"/>
          </a:xfrm>
          <a:prstGeom prst="rect">
            <a:avLst/>
          </a:prstGeom>
          <a:noFill/>
          <a:ln/>
        </p:spPr>
        <p:txBody>
          <a:bodyPr wrap="square" lIns="0" tIns="0" rIns="0" bIns="0" rtlCol="0" anchor="t"/>
          <a:lstStyle/>
          <a:p>
            <a:pPr algn="l" indent="0" marL="0">
              <a:buNone/>
            </a:pPr>
            <a:r>
              <a:rPr lang="en-US" sz="1300" b="1" dirty="0">
                <a:solidFill>
                  <a:srgbClr val="6FBF95"/>
                </a:solidFill>
                <a:latin typeface="Calibri" pitchFamily="34" charset="0"/>
                <a:ea typeface="Calibri" pitchFamily="34" charset="-122"/>
                <a:cs typeface="Calibri" pitchFamily="34" charset="-120"/>
              </a:rPr>
              <a:t>IDS + SIEM</a:t>
            </a:r>
            <a:endParaRPr lang="en-US" sz="1300" dirty="0"/>
          </a:p>
        </p:txBody>
      </p:sp>
      <p:sp>
        <p:nvSpPr>
          <p:cNvPr id="49" name="Text 47"/>
          <p:cNvSpPr txBox="1"/>
          <p:nvPr/>
        </p:nvSpPr>
        <p:spPr>
          <a:xfrm>
            <a:off x="8887968" y="4389120"/>
            <a:ext cx="2468880" cy="201168"/>
          </a:xfrm>
          <a:prstGeom prst="rect">
            <a:avLst/>
          </a:prstGeom>
          <a:noFill/>
          <a:ln/>
        </p:spPr>
        <p:txBody>
          <a:bodyPr wrap="square" lIns="0" tIns="0" rIns="0" bIns="0" rtlCol="0" anchor="t"/>
          <a:lstStyle/>
          <a:p>
            <a:pPr algn="l" indent="0" marL="0">
              <a:buNone/>
            </a:pPr>
            <a:r>
              <a:rPr lang="en-US" sz="1050" dirty="0">
                <a:solidFill>
                  <a:srgbClr val="6FBF95"/>
                </a:solidFill>
                <a:latin typeface="Calibri" pitchFamily="34" charset="0"/>
                <a:ea typeface="Calibri" pitchFamily="34" charset="-122"/>
                <a:cs typeface="Calibri" pitchFamily="34" charset="-120"/>
              </a:rPr>
              <a:t>surveille tout le Modbus</a:t>
            </a:r>
            <a:endParaRPr lang="en-US" sz="1050" dirty="0"/>
          </a:p>
        </p:txBody>
      </p:sp>
      <p:sp>
        <p:nvSpPr>
          <p:cNvPr id="50" name="Text 48"/>
          <p:cNvSpPr txBox="1"/>
          <p:nvPr/>
        </p:nvSpPr>
        <p:spPr>
          <a:xfrm>
            <a:off x="8887968" y="4718304"/>
            <a:ext cx="2468880" cy="201168"/>
          </a:xfrm>
          <a:prstGeom prst="rect">
            <a:avLst/>
          </a:prstGeom>
          <a:noFill/>
          <a:ln/>
        </p:spPr>
        <p:txBody>
          <a:bodyPr wrap="square" lIns="0" tIns="0" rIns="0" bIns="0" rtlCol="0" anchor="t"/>
          <a:lstStyle/>
          <a:p>
            <a:pPr algn="l" indent="0" marL="0">
              <a:buNone/>
            </a:pPr>
            <a:r>
              <a:rPr lang="en-US" sz="1050" dirty="0">
                <a:solidFill>
                  <a:srgbClr val="6FBF95"/>
                </a:solidFill>
                <a:latin typeface="Calibri" pitchFamily="34" charset="0"/>
                <a:ea typeface="Calibri" pitchFamily="34" charset="-122"/>
                <a:cs typeface="Calibri" pitchFamily="34" charset="-120"/>
              </a:rPr>
              <a:t>une commande anormale</a:t>
            </a:r>
            <a:endParaRPr lang="en-US" sz="1050" dirty="0"/>
          </a:p>
        </p:txBody>
      </p:sp>
      <p:sp>
        <p:nvSpPr>
          <p:cNvPr id="51" name="Text 49"/>
          <p:cNvSpPr txBox="1"/>
          <p:nvPr/>
        </p:nvSpPr>
        <p:spPr>
          <a:xfrm>
            <a:off x="8887968" y="4919472"/>
            <a:ext cx="2468880" cy="201168"/>
          </a:xfrm>
          <a:prstGeom prst="rect">
            <a:avLst/>
          </a:prstGeom>
          <a:noFill/>
          <a:ln/>
        </p:spPr>
        <p:txBody>
          <a:bodyPr wrap="square" lIns="0" tIns="0" rIns="0" bIns="0" rtlCol="0" anchor="t"/>
          <a:lstStyle/>
          <a:p>
            <a:pPr algn="l" indent="0" marL="0">
              <a:buNone/>
            </a:pPr>
            <a:r>
              <a:rPr lang="en-US" sz="1050" dirty="0">
                <a:solidFill>
                  <a:srgbClr val="6FBF95"/>
                </a:solidFill>
                <a:latin typeface="Calibri" pitchFamily="34" charset="0"/>
                <a:ea typeface="Calibri" pitchFamily="34" charset="-122"/>
                <a:cs typeface="Calibri" pitchFamily="34" charset="-120"/>
              </a:rPr>
              <a:t>déclenche une alerte</a:t>
            </a:r>
            <a:endParaRPr lang="en-US" sz="1050" dirty="0"/>
          </a:p>
        </p:txBody>
      </p:sp>
      <p:sp>
        <p:nvSpPr>
          <p:cNvPr id="52" name="Text 50"/>
          <p:cNvSpPr txBox="1"/>
          <p:nvPr/>
        </p:nvSpPr>
        <p:spPr>
          <a:xfrm>
            <a:off x="8887968" y="5248656"/>
            <a:ext cx="2468880" cy="201168"/>
          </a:xfrm>
          <a:prstGeom prst="rect">
            <a:avLst/>
          </a:prstGeom>
          <a:noFill/>
          <a:ln/>
        </p:spPr>
        <p:txBody>
          <a:bodyPr wrap="square" lIns="0" tIns="0" rIns="0" bIns="0" rtlCol="0" anchor="t"/>
          <a:lstStyle/>
          <a:p>
            <a:pPr algn="l" indent="0" marL="0">
              <a:buNone/>
            </a:pPr>
            <a:r>
              <a:rPr lang="en-US" sz="1050" dirty="0">
                <a:solidFill>
                  <a:srgbClr val="6FBF95"/>
                </a:solidFill>
                <a:latin typeface="Calibri" pitchFamily="34" charset="0"/>
                <a:ea typeface="Calibri" pitchFamily="34" charset="-122"/>
                <a:cs typeface="Calibri" pitchFamily="34" charset="-120"/>
              </a:rPr>
              <a:t>journalise tout</a:t>
            </a:r>
            <a:endParaRPr lang="en-US" sz="1050" dirty="0"/>
          </a:p>
        </p:txBody>
      </p:sp>
      <p:sp>
        <p:nvSpPr>
          <p:cNvPr id="53" name="Shape 51"/>
          <p:cNvSpPr/>
          <p:nvPr/>
        </p:nvSpPr>
        <p:spPr>
          <a:xfrm>
            <a:off x="8558784" y="3849624"/>
            <a:ext cx="347472" cy="347472"/>
          </a:xfrm>
          <a:prstGeom prst="ellipse">
            <a:avLst/>
          </a:prstGeom>
          <a:solidFill>
            <a:srgbClr val="6FBF95"/>
          </a:solidFill>
          <a:ln w="19050">
            <a:solidFill>
              <a:srgbClr val="10161C"/>
            </a:solidFill>
            <a:prstDash val="solid"/>
          </a:ln>
        </p:spPr>
      </p:sp>
      <p:sp>
        <p:nvSpPr>
          <p:cNvPr id="54" name="Text 52"/>
          <p:cNvSpPr txBox="1"/>
          <p:nvPr/>
        </p:nvSpPr>
        <p:spPr>
          <a:xfrm>
            <a:off x="8558784" y="3849624"/>
            <a:ext cx="347472" cy="347472"/>
          </a:xfrm>
          <a:prstGeom prst="rect">
            <a:avLst/>
          </a:prstGeom>
          <a:noFill/>
          <a:ln/>
        </p:spPr>
        <p:txBody>
          <a:bodyPr wrap="square" lIns="0" tIns="0" rIns="0" bIns="0" rtlCol="0" anchor="ctr"/>
          <a:lstStyle/>
          <a:p>
            <a:pPr algn="ctr" indent="0" marL="0">
              <a:buNone/>
            </a:pPr>
            <a:r>
              <a:rPr lang="en-US" sz="1400" b="1" dirty="0">
                <a:solidFill>
                  <a:srgbClr val="10161C"/>
                </a:solidFill>
                <a:latin typeface="Calibri" pitchFamily="34" charset="0"/>
                <a:ea typeface="Calibri" pitchFamily="34" charset="-122"/>
                <a:cs typeface="Calibri" pitchFamily="34" charset="-120"/>
              </a:rPr>
              <a:t>3</a:t>
            </a:r>
            <a:endParaRPr lang="en-US" sz="1400" dirty="0"/>
          </a:p>
        </p:txBody>
      </p:sp>
      <p:sp>
        <p:nvSpPr>
          <p:cNvPr id="55" name="Shape 53"/>
          <p:cNvSpPr/>
          <p:nvPr/>
        </p:nvSpPr>
        <p:spPr>
          <a:xfrm>
            <a:off x="8366760" y="4663440"/>
            <a:ext cx="365760" cy="0"/>
          </a:xfrm>
          <a:prstGeom prst="line">
            <a:avLst/>
          </a:prstGeom>
          <a:noFill/>
          <a:ln w="17780">
            <a:solidFill>
              <a:srgbClr val="6FBF95"/>
            </a:solidFill>
            <a:prstDash val="dash"/>
          </a:ln>
        </p:spPr>
      </p:sp>
      <p:sp>
        <p:nvSpPr>
          <p:cNvPr id="56" name="Shape 54"/>
          <p:cNvSpPr/>
          <p:nvPr/>
        </p:nvSpPr>
        <p:spPr>
          <a:xfrm>
            <a:off x="3291840" y="2679192"/>
            <a:ext cx="0" cy="201168"/>
          </a:xfrm>
          <a:prstGeom prst="line">
            <a:avLst/>
          </a:prstGeom>
          <a:noFill/>
          <a:ln w="22225">
            <a:solidFill>
              <a:srgbClr val="5AA6DC"/>
            </a:solidFill>
            <a:prstDash val="solid"/>
            <a:tailEnd type="triangle"/>
          </a:ln>
        </p:spPr>
      </p:sp>
      <p:sp>
        <p:nvSpPr>
          <p:cNvPr id="57" name="Shape 55"/>
          <p:cNvSpPr/>
          <p:nvPr/>
        </p:nvSpPr>
        <p:spPr>
          <a:xfrm>
            <a:off x="3291840" y="3538728"/>
            <a:ext cx="0" cy="484632"/>
          </a:xfrm>
          <a:prstGeom prst="line">
            <a:avLst/>
          </a:prstGeom>
          <a:noFill/>
          <a:ln w="22225">
            <a:solidFill>
              <a:srgbClr val="5AA6DC"/>
            </a:solidFill>
            <a:prstDash val="solid"/>
            <a:tailEnd type="triangle"/>
          </a:ln>
        </p:spPr>
      </p:sp>
      <p:sp>
        <p:nvSpPr>
          <p:cNvPr id="58" name="Text 56"/>
          <p:cNvSpPr txBox="1"/>
          <p:nvPr/>
        </p:nvSpPr>
        <p:spPr>
          <a:xfrm>
            <a:off x="3429000" y="2688336"/>
            <a:ext cx="2926080" cy="182880"/>
          </a:xfrm>
          <a:prstGeom prst="rect">
            <a:avLst/>
          </a:prstGeom>
          <a:noFill/>
          <a:ln/>
        </p:spPr>
        <p:txBody>
          <a:bodyPr wrap="square" lIns="0" tIns="0" rIns="0" bIns="0" rtlCol="0" anchor="t"/>
          <a:lstStyle/>
          <a:p>
            <a:pPr algn="l" indent="0" marL="0">
              <a:buNone/>
            </a:pPr>
            <a:r>
              <a:rPr lang="en-US" sz="1000" dirty="0">
                <a:solidFill>
                  <a:srgbClr val="5AA6DC"/>
                </a:solidFill>
                <a:latin typeface="Calibri" pitchFamily="34" charset="0"/>
                <a:ea typeface="Calibri" pitchFamily="34" charset="-122"/>
                <a:cs typeface="Calibri" pitchFamily="34" charset="-120"/>
              </a:rPr>
              <a:t>Modbus / TCP — surveillé</a:t>
            </a:r>
            <a:endParaRPr lang="en-US" sz="1000" dirty="0"/>
          </a:p>
        </p:txBody>
      </p:sp>
      <p:sp>
        <p:nvSpPr>
          <p:cNvPr id="59" name="Shape 57"/>
          <p:cNvSpPr/>
          <p:nvPr/>
        </p:nvSpPr>
        <p:spPr>
          <a:xfrm>
            <a:off x="3977640" y="4526280"/>
            <a:ext cx="365760" cy="0"/>
          </a:xfrm>
          <a:prstGeom prst="line">
            <a:avLst/>
          </a:prstGeom>
          <a:noFill/>
          <a:ln w="22225">
            <a:solidFill>
              <a:srgbClr val="5AA6DC"/>
            </a:solidFill>
            <a:prstDash val="solid"/>
            <a:tailEnd type="triangle"/>
          </a:ln>
        </p:spPr>
      </p:sp>
      <p:sp>
        <p:nvSpPr>
          <p:cNvPr id="60" name="Text 58"/>
          <p:cNvSpPr txBox="1"/>
          <p:nvPr/>
        </p:nvSpPr>
        <p:spPr>
          <a:xfrm>
            <a:off x="3931920" y="4297680"/>
            <a:ext cx="822960" cy="201168"/>
          </a:xfrm>
          <a:prstGeom prst="rect">
            <a:avLst/>
          </a:prstGeom>
          <a:noFill/>
          <a:ln/>
        </p:spPr>
        <p:txBody>
          <a:bodyPr wrap="square" lIns="0" tIns="0" rIns="0" bIns="0" rtlCol="0" anchor="t"/>
          <a:lstStyle/>
          <a:p>
            <a:pPr algn="ctr" indent="0" marL="0">
              <a:buNone/>
            </a:pPr>
            <a:r>
              <a:rPr lang="en-US" sz="1000" dirty="0">
                <a:solidFill>
                  <a:srgbClr val="5AA6DC"/>
                </a:solidFill>
                <a:latin typeface="Calibri" pitchFamily="34" charset="0"/>
                <a:ea typeface="Calibri" pitchFamily="34" charset="-122"/>
                <a:cs typeface="Calibri" pitchFamily="34" charset="-120"/>
              </a:rPr>
              <a:t>Modbus</a:t>
            </a:r>
            <a:endParaRPr lang="en-US" sz="1000" dirty="0"/>
          </a:p>
        </p:txBody>
      </p:sp>
      <p:sp>
        <p:nvSpPr>
          <p:cNvPr id="61" name="Shape 59"/>
          <p:cNvSpPr/>
          <p:nvPr/>
        </p:nvSpPr>
        <p:spPr>
          <a:xfrm>
            <a:off x="1828800" y="5166360"/>
            <a:ext cx="0" cy="182880"/>
          </a:xfrm>
          <a:prstGeom prst="line">
            <a:avLst/>
          </a:prstGeom>
          <a:noFill/>
          <a:ln w="19050">
            <a:solidFill>
              <a:srgbClr val="5AA6DC"/>
            </a:solidFill>
            <a:prstDash val="dash"/>
            <a:headEnd type="triangle"/>
          </a:ln>
        </p:spPr>
      </p:sp>
      <p:sp>
        <p:nvSpPr>
          <p:cNvPr id="62" name="Text 60"/>
          <p:cNvSpPr txBox="1"/>
          <p:nvPr/>
        </p:nvSpPr>
        <p:spPr>
          <a:xfrm>
            <a:off x="1965960" y="5175504"/>
            <a:ext cx="2743200" cy="164592"/>
          </a:xfrm>
          <a:prstGeom prst="rect">
            <a:avLst/>
          </a:prstGeom>
          <a:noFill/>
          <a:ln/>
        </p:spPr>
        <p:txBody>
          <a:bodyPr wrap="square" lIns="0" tIns="0" rIns="0" bIns="0" rtlCol="0" anchor="t"/>
          <a:lstStyle/>
          <a:p>
            <a:pPr algn="l" indent="0" marL="0">
              <a:buNone/>
            </a:pPr>
            <a:r>
              <a:rPr lang="en-US" sz="950" dirty="0">
                <a:solidFill>
                  <a:srgbClr val="6E7C87"/>
                </a:solidFill>
                <a:latin typeface="Calibri" pitchFamily="34" charset="0"/>
                <a:ea typeface="Calibri" pitchFamily="34" charset="-122"/>
                <a:cs typeface="Calibri" pitchFamily="34" charset="-120"/>
              </a:rPr>
              <a:t>dépôt bloqué en exploitation</a:t>
            </a:r>
            <a:endParaRPr lang="en-US" sz="950" dirty="0"/>
          </a:p>
        </p:txBody>
      </p:sp>
      <p:sp>
        <p:nvSpPr>
          <p:cNvPr id="63" name="Text 61"/>
          <p:cNvSpPr txBox="1"/>
          <p:nvPr/>
        </p:nvSpPr>
        <p:spPr>
          <a:xfrm>
            <a:off x="502920" y="6382512"/>
            <a:ext cx="11155680" cy="256032"/>
          </a:xfrm>
          <a:prstGeom prst="rect">
            <a:avLst/>
          </a:prstGeom>
          <a:noFill/>
          <a:ln/>
        </p:spPr>
        <p:txBody>
          <a:bodyPr wrap="square" lIns="0" tIns="0" rIns="0" bIns="0" rtlCol="0" anchor="ctr"/>
          <a:lstStyle/>
          <a:p>
            <a:pPr indent="0" marL="0">
              <a:buNone/>
            </a:pPr>
            <a:r>
              <a:rPr lang="en-US" sz="950" dirty="0">
                <a:solidFill>
                  <a:srgbClr val="6E7C87"/>
                </a:solidFill>
                <a:latin typeface="Calibri" pitchFamily="34" charset="0"/>
                <a:ea typeface="Calibri" pitchFamily="34" charset="-122"/>
                <a:cs typeface="Calibri" pitchFamily="34" charset="-120"/>
              </a:rPr>
              <a:t>Architecture finale · 1/2 — Schéma</a:t>
            </a:r>
            <a:pPr indent="0" marL="0">
              <a:buNone/>
            </a:pPr>
            <a:r>
              <a:rPr lang="en-US" sz="950" dirty="0">
                <a:solidFill>
                  <a:srgbClr val="6E7C87"/>
                </a:solidFill>
                <a:latin typeface="Calibri" pitchFamily="34" charset="0"/>
                <a:ea typeface="Calibri" pitchFamily="34" charset="-122"/>
                <a:cs typeface="Calibri" pitchFamily="34" charset="-120"/>
              </a:rPr>
              <a:t>        Kali et Caldera retirés du réseau · pare-feu passé de « Accept All » à fermé</a:t>
            </a:r>
            <a:endParaRPr lang="en-US" sz="950" dirty="0"/>
          </a:p>
        </p:txBody>
      </p:sp>
      <p:sp>
        <p:nvSpPr>
          <p:cNvPr id="64" name="Shape 62"/>
          <p:cNvSpPr/>
          <p:nvPr/>
        </p:nvSpPr>
        <p:spPr>
          <a:xfrm>
            <a:off x="502920" y="6309360"/>
            <a:ext cx="11155680" cy="0"/>
          </a:xfrm>
          <a:prstGeom prst="line">
            <a:avLst/>
          </a:prstGeom>
          <a:noFill/>
          <a:ln w="12700">
            <a:solidFill>
              <a:srgbClr val="313D4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61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6FBF95"/>
          </a:solidFill>
          <a:ln/>
        </p:spPr>
      </p:sp>
      <p:sp>
        <p:nvSpPr>
          <p:cNvPr id="3" name="Text 1"/>
          <p:cNvSpPr txBox="1"/>
          <p:nvPr/>
        </p:nvSpPr>
        <p:spPr>
          <a:xfrm>
            <a:off x="502920" y="365760"/>
            <a:ext cx="11155680" cy="274320"/>
          </a:xfrm>
          <a:prstGeom prst="rect">
            <a:avLst/>
          </a:prstGeom>
          <a:noFill/>
          <a:ln/>
        </p:spPr>
        <p:txBody>
          <a:bodyPr wrap="square" lIns="0" tIns="0" rIns="0" bIns="0" rtlCol="0" anchor="ctr"/>
          <a:lstStyle/>
          <a:p>
            <a:pPr indent="0" marL="0">
              <a:buNone/>
            </a:pPr>
            <a:r>
              <a:rPr lang="en-US" sz="1100" b="1" spc="200" kern="0" dirty="0">
                <a:solidFill>
                  <a:srgbClr val="6FBF95"/>
                </a:solidFill>
                <a:latin typeface="Calibri" pitchFamily="34" charset="0"/>
                <a:ea typeface="Calibri" pitchFamily="34" charset="-122"/>
                <a:cs typeface="Calibri" pitchFamily="34" charset="-120"/>
              </a:rPr>
              <a:t>BARÈME /3</a:t>
            </a:r>
            <a:pPr indent="0" marL="0">
              <a:buNone/>
            </a:pPr>
            <a:r>
              <a:rPr lang="en-US" sz="1100" spc="200" kern="0" dirty="0">
                <a:solidFill>
                  <a:srgbClr val="6E7C87"/>
                </a:solidFill>
                <a:latin typeface="Calibri" pitchFamily="34" charset="0"/>
                <a:ea typeface="Calibri" pitchFamily="34" charset="-122"/>
                <a:cs typeface="Calibri" pitchFamily="34" charset="-120"/>
              </a:rPr>
              <a:t>   ARCHITECTURE FINALE — LES CORRECTIFS</a:t>
            </a:r>
            <a:endParaRPr lang="en-US" sz="1100" dirty="0"/>
          </a:p>
        </p:txBody>
      </p:sp>
      <p:sp>
        <p:nvSpPr>
          <p:cNvPr id="4" name="Text 2"/>
          <p:cNvSpPr txBox="1"/>
          <p:nvPr/>
        </p:nvSpPr>
        <p:spPr>
          <a:xfrm>
            <a:off x="502920" y="731520"/>
            <a:ext cx="11155680" cy="731520"/>
          </a:xfrm>
          <a:prstGeom prst="rect">
            <a:avLst/>
          </a:prstGeom>
          <a:noFill/>
          <a:ln/>
        </p:spPr>
        <p:txBody>
          <a:bodyPr wrap="square" lIns="0" tIns="0" rIns="0" bIns="0" rtlCol="0" anchor="t"/>
          <a:lstStyle/>
          <a:p>
            <a:pPr indent="0" marL="0">
              <a:buNone/>
            </a:pPr>
            <a:r>
              <a:rPr lang="en-US" sz="3000" b="1" dirty="0">
                <a:solidFill>
                  <a:srgbClr val="ECF1F5"/>
                </a:solidFill>
                <a:latin typeface="Cambria" pitchFamily="34" charset="0"/>
                <a:ea typeface="Cambria" pitchFamily="34" charset="-122"/>
                <a:cs typeface="Cambria" pitchFamily="34" charset="-120"/>
              </a:rPr>
              <a:t>Les 4 correctifs, en clair</a:t>
            </a:r>
            <a:endParaRPr lang="en-US" sz="3000" dirty="0"/>
          </a:p>
        </p:txBody>
      </p:sp>
      <p:sp>
        <p:nvSpPr>
          <p:cNvPr id="5" name="Shape 3"/>
          <p:cNvSpPr/>
          <p:nvPr/>
        </p:nvSpPr>
        <p:spPr>
          <a:xfrm>
            <a:off x="502920" y="1783080"/>
            <a:ext cx="5468112" cy="1874520"/>
          </a:xfrm>
          <a:prstGeom prst="roundRect">
            <a:avLst>
              <a:gd name="adj" fmla="val 2927"/>
            </a:avLst>
          </a:prstGeom>
          <a:solidFill>
            <a:srgbClr val="1B242C"/>
          </a:solidFill>
          <a:ln w="12700">
            <a:solidFill>
              <a:srgbClr val="313D47"/>
            </a:solidFill>
            <a:prstDash val="solid"/>
          </a:ln>
        </p:spPr>
      </p:sp>
      <p:sp>
        <p:nvSpPr>
          <p:cNvPr id="6" name="Shape 4"/>
          <p:cNvSpPr/>
          <p:nvPr/>
        </p:nvSpPr>
        <p:spPr>
          <a:xfrm>
            <a:off x="502920" y="1783080"/>
            <a:ext cx="82296" cy="1874520"/>
          </a:xfrm>
          <a:prstGeom prst="rect">
            <a:avLst/>
          </a:prstGeom>
          <a:solidFill>
            <a:srgbClr val="6FBF95"/>
          </a:solidFill>
          <a:ln/>
        </p:spPr>
      </p:sp>
      <p:sp>
        <p:nvSpPr>
          <p:cNvPr id="7" name="Shape 5"/>
          <p:cNvSpPr/>
          <p:nvPr/>
        </p:nvSpPr>
        <p:spPr>
          <a:xfrm>
            <a:off x="758952" y="1984248"/>
            <a:ext cx="420624" cy="420624"/>
          </a:xfrm>
          <a:prstGeom prst="ellipse">
            <a:avLst/>
          </a:prstGeom>
          <a:solidFill>
            <a:srgbClr val="6FBF95"/>
          </a:solidFill>
          <a:ln/>
        </p:spPr>
      </p:sp>
      <p:sp>
        <p:nvSpPr>
          <p:cNvPr id="8" name="Text 6"/>
          <p:cNvSpPr txBox="1"/>
          <p:nvPr/>
        </p:nvSpPr>
        <p:spPr>
          <a:xfrm>
            <a:off x="758952" y="1984248"/>
            <a:ext cx="420624" cy="420624"/>
          </a:xfrm>
          <a:prstGeom prst="rect">
            <a:avLst/>
          </a:prstGeom>
          <a:noFill/>
          <a:ln/>
        </p:spPr>
        <p:txBody>
          <a:bodyPr wrap="square" lIns="0" tIns="0" rIns="0" bIns="0" rtlCol="0" anchor="ctr"/>
          <a:lstStyle/>
          <a:p>
            <a:pPr algn="ctr" indent="0" marL="0">
              <a:buNone/>
            </a:pPr>
            <a:r>
              <a:rPr lang="en-US" sz="1700" b="1" dirty="0">
                <a:solidFill>
                  <a:srgbClr val="10161C"/>
                </a:solidFill>
                <a:latin typeface="Calibri" pitchFamily="34" charset="0"/>
                <a:ea typeface="Calibri" pitchFamily="34" charset="-122"/>
                <a:cs typeface="Calibri" pitchFamily="34" charset="-120"/>
              </a:rPr>
              <a:t>1</a:t>
            </a:r>
            <a:endParaRPr lang="en-US" sz="1700" dirty="0"/>
          </a:p>
        </p:txBody>
      </p:sp>
      <p:sp>
        <p:nvSpPr>
          <p:cNvPr id="9" name="Text 7"/>
          <p:cNvSpPr txBox="1"/>
          <p:nvPr/>
        </p:nvSpPr>
        <p:spPr>
          <a:xfrm>
            <a:off x="1325880" y="2002536"/>
            <a:ext cx="4416552" cy="402336"/>
          </a:xfrm>
          <a:prstGeom prst="rect">
            <a:avLst/>
          </a:prstGeom>
          <a:noFill/>
          <a:ln/>
        </p:spPr>
        <p:txBody>
          <a:bodyPr wrap="square" lIns="0" tIns="0" rIns="0" bIns="0" rtlCol="0" anchor="ctr"/>
          <a:lstStyle/>
          <a:p>
            <a:pPr indent="0" marL="0">
              <a:buNone/>
            </a:pPr>
            <a:r>
              <a:rPr lang="en-US" sz="1600" b="1" dirty="0">
                <a:solidFill>
                  <a:srgbClr val="ECF1F5"/>
                </a:solidFill>
                <a:latin typeface="Calibri" pitchFamily="34" charset="0"/>
                <a:ea typeface="Calibri" pitchFamily="34" charset="-122"/>
                <a:cs typeface="Calibri" pitchFamily="34" charset="-120"/>
              </a:rPr>
              <a:t>On ferme le pare-feu</a:t>
            </a:r>
            <a:endParaRPr lang="en-US" sz="1600" dirty="0"/>
          </a:p>
        </p:txBody>
      </p:sp>
      <p:sp>
        <p:nvSpPr>
          <p:cNvPr id="10" name="Text 8"/>
          <p:cNvSpPr txBox="1"/>
          <p:nvPr/>
        </p:nvSpPr>
        <p:spPr>
          <a:xfrm>
            <a:off x="758952" y="2514600"/>
            <a:ext cx="4956048" cy="768096"/>
          </a:xfrm>
          <a:prstGeom prst="rect">
            <a:avLst/>
          </a:prstGeom>
          <a:noFill/>
          <a:ln/>
        </p:spPr>
        <p:txBody>
          <a:bodyPr wrap="square" lIns="0" tIns="0" rIns="0" bIns="0" rtlCol="0" anchor="t"/>
          <a:lstStyle/>
          <a:p>
            <a:pPr indent="0" marL="0">
              <a:buNone/>
            </a:pPr>
            <a:r>
              <a:rPr lang="en-US" sz="1250" dirty="0">
                <a:solidFill>
                  <a:srgbClr val="9DABB6"/>
                </a:solidFill>
                <a:latin typeface="Calibri" pitchFamily="34" charset="0"/>
                <a:ea typeface="Calibri" pitchFamily="34" charset="-122"/>
                <a:cs typeface="Calibri" pitchFamily="34" charset="-120"/>
              </a:rPr>
              <a:t>Il ne laisse plus passer que l'échange utile : IHM ↔ automate. Tout le reste est bloqué et journalisé — un poste de la DMZ ne peut plus atteindre l'automate.</a:t>
            </a:r>
            <a:endParaRPr lang="en-US" sz="1250" dirty="0"/>
          </a:p>
        </p:txBody>
      </p:sp>
      <p:sp>
        <p:nvSpPr>
          <p:cNvPr id="11" name="Text 9"/>
          <p:cNvSpPr txBox="1"/>
          <p:nvPr/>
        </p:nvSpPr>
        <p:spPr>
          <a:xfrm>
            <a:off x="758952" y="3300984"/>
            <a:ext cx="4956048" cy="274320"/>
          </a:xfrm>
          <a:prstGeom prst="rect">
            <a:avLst/>
          </a:prstGeom>
          <a:noFill/>
          <a:ln/>
        </p:spPr>
        <p:txBody>
          <a:bodyPr wrap="square" lIns="0" tIns="0" rIns="0" bIns="0" rtlCol="0" anchor="ctr"/>
          <a:lstStyle/>
          <a:p>
            <a:pPr indent="0" marL="0">
              <a:buNone/>
            </a:pPr>
            <a:r>
              <a:rPr lang="en-US" sz="1050" i="1" dirty="0">
                <a:solidFill>
                  <a:srgbClr val="6E7C87"/>
                </a:solidFill>
                <a:latin typeface="Calibri" pitchFamily="34" charset="0"/>
                <a:ea typeface="Calibri" pitchFamily="34" charset="-122"/>
                <a:cs typeface="Calibri" pitchFamily="34" charset="-120"/>
              </a:rPr>
              <a:t>corrige : pare-feu ouvert (V1)</a:t>
            </a:r>
            <a:endParaRPr lang="en-US" sz="1050" dirty="0"/>
          </a:p>
        </p:txBody>
      </p:sp>
      <p:sp>
        <p:nvSpPr>
          <p:cNvPr id="12" name="Shape 10"/>
          <p:cNvSpPr/>
          <p:nvPr/>
        </p:nvSpPr>
        <p:spPr>
          <a:xfrm>
            <a:off x="6190488" y="1783080"/>
            <a:ext cx="5468112" cy="1874520"/>
          </a:xfrm>
          <a:prstGeom prst="roundRect">
            <a:avLst>
              <a:gd name="adj" fmla="val 2927"/>
            </a:avLst>
          </a:prstGeom>
          <a:solidFill>
            <a:srgbClr val="1B242C"/>
          </a:solidFill>
          <a:ln w="12700">
            <a:solidFill>
              <a:srgbClr val="313D47"/>
            </a:solidFill>
            <a:prstDash val="solid"/>
          </a:ln>
        </p:spPr>
      </p:sp>
      <p:sp>
        <p:nvSpPr>
          <p:cNvPr id="13" name="Shape 11"/>
          <p:cNvSpPr/>
          <p:nvPr/>
        </p:nvSpPr>
        <p:spPr>
          <a:xfrm>
            <a:off x="6190488" y="1783080"/>
            <a:ext cx="82296" cy="1874520"/>
          </a:xfrm>
          <a:prstGeom prst="rect">
            <a:avLst/>
          </a:prstGeom>
          <a:solidFill>
            <a:srgbClr val="6FBF95"/>
          </a:solidFill>
          <a:ln/>
        </p:spPr>
      </p:sp>
      <p:sp>
        <p:nvSpPr>
          <p:cNvPr id="14" name="Shape 12"/>
          <p:cNvSpPr/>
          <p:nvPr/>
        </p:nvSpPr>
        <p:spPr>
          <a:xfrm>
            <a:off x="6446520" y="1984248"/>
            <a:ext cx="420624" cy="420624"/>
          </a:xfrm>
          <a:prstGeom prst="ellipse">
            <a:avLst/>
          </a:prstGeom>
          <a:solidFill>
            <a:srgbClr val="6FBF95"/>
          </a:solidFill>
          <a:ln/>
        </p:spPr>
      </p:sp>
      <p:sp>
        <p:nvSpPr>
          <p:cNvPr id="15" name="Text 13"/>
          <p:cNvSpPr txBox="1"/>
          <p:nvPr/>
        </p:nvSpPr>
        <p:spPr>
          <a:xfrm>
            <a:off x="6446520" y="1984248"/>
            <a:ext cx="420624" cy="420624"/>
          </a:xfrm>
          <a:prstGeom prst="rect">
            <a:avLst/>
          </a:prstGeom>
          <a:noFill/>
          <a:ln/>
        </p:spPr>
        <p:txBody>
          <a:bodyPr wrap="square" lIns="0" tIns="0" rIns="0" bIns="0" rtlCol="0" anchor="ctr"/>
          <a:lstStyle/>
          <a:p>
            <a:pPr algn="ctr" indent="0" marL="0">
              <a:buNone/>
            </a:pPr>
            <a:r>
              <a:rPr lang="en-US" sz="1700" b="1" dirty="0">
                <a:solidFill>
                  <a:srgbClr val="10161C"/>
                </a:solidFill>
                <a:latin typeface="Calibri" pitchFamily="34" charset="0"/>
                <a:ea typeface="Calibri" pitchFamily="34" charset="-122"/>
                <a:cs typeface="Calibri" pitchFamily="34" charset="-120"/>
              </a:rPr>
              <a:t>2</a:t>
            </a:r>
            <a:endParaRPr lang="en-US" sz="1700" dirty="0"/>
          </a:p>
        </p:txBody>
      </p:sp>
      <p:sp>
        <p:nvSpPr>
          <p:cNvPr id="16" name="Text 14"/>
          <p:cNvSpPr txBox="1"/>
          <p:nvPr/>
        </p:nvSpPr>
        <p:spPr>
          <a:xfrm>
            <a:off x="7013448" y="2002536"/>
            <a:ext cx="4416552" cy="402336"/>
          </a:xfrm>
          <a:prstGeom prst="rect">
            <a:avLst/>
          </a:prstGeom>
          <a:noFill/>
          <a:ln/>
        </p:spPr>
        <p:txBody>
          <a:bodyPr wrap="square" lIns="0" tIns="0" rIns="0" bIns="0" rtlCol="0" anchor="ctr"/>
          <a:lstStyle/>
          <a:p>
            <a:pPr indent="0" marL="0">
              <a:buNone/>
            </a:pPr>
            <a:r>
              <a:rPr lang="en-US" sz="1600" b="1" dirty="0">
                <a:solidFill>
                  <a:srgbClr val="ECF1F5"/>
                </a:solidFill>
                <a:latin typeface="Calibri" pitchFamily="34" charset="0"/>
                <a:ea typeface="Calibri" pitchFamily="34" charset="-122"/>
                <a:cs typeface="Calibri" pitchFamily="34" charset="-120"/>
              </a:rPr>
              <a:t>On change les mots de passe et on chiffre</a:t>
            </a:r>
            <a:endParaRPr lang="en-US" sz="1600" dirty="0"/>
          </a:p>
        </p:txBody>
      </p:sp>
      <p:sp>
        <p:nvSpPr>
          <p:cNvPr id="17" name="Text 15"/>
          <p:cNvSpPr txBox="1"/>
          <p:nvPr/>
        </p:nvSpPr>
        <p:spPr>
          <a:xfrm>
            <a:off x="6446520" y="2514600"/>
            <a:ext cx="4956048" cy="768096"/>
          </a:xfrm>
          <a:prstGeom prst="rect">
            <a:avLst/>
          </a:prstGeom>
          <a:noFill/>
          <a:ln/>
        </p:spPr>
        <p:txBody>
          <a:bodyPr wrap="square" lIns="0" tIns="0" rIns="0" bIns="0" rtlCol="0" anchor="t"/>
          <a:lstStyle/>
          <a:p>
            <a:pPr indent="0" marL="0">
              <a:buNone/>
            </a:pPr>
            <a:r>
              <a:rPr lang="en-US" sz="1250" dirty="0">
                <a:solidFill>
                  <a:srgbClr val="9DABB6"/>
                </a:solidFill>
                <a:latin typeface="Calibri" pitchFamily="34" charset="0"/>
                <a:ea typeface="Calibri" pitchFamily="34" charset="-122"/>
                <a:cs typeface="Calibri" pitchFamily="34" charset="-120"/>
              </a:rPr>
              <a:t>Fini les mots de passe par défaut et les post-it : comptes nominatifs, double authentification, et tous les accès passent en HTTPS au lieu du HTTP en clair.</a:t>
            </a:r>
            <a:endParaRPr lang="en-US" sz="1250" dirty="0"/>
          </a:p>
        </p:txBody>
      </p:sp>
      <p:sp>
        <p:nvSpPr>
          <p:cNvPr id="18" name="Text 16"/>
          <p:cNvSpPr txBox="1"/>
          <p:nvPr/>
        </p:nvSpPr>
        <p:spPr>
          <a:xfrm>
            <a:off x="6446520" y="3300984"/>
            <a:ext cx="4956048" cy="274320"/>
          </a:xfrm>
          <a:prstGeom prst="rect">
            <a:avLst/>
          </a:prstGeom>
          <a:noFill/>
          <a:ln/>
        </p:spPr>
        <p:txBody>
          <a:bodyPr wrap="square" lIns="0" tIns="0" rIns="0" bIns="0" rtlCol="0" anchor="ctr"/>
          <a:lstStyle/>
          <a:p>
            <a:pPr indent="0" marL="0">
              <a:buNone/>
            </a:pPr>
            <a:r>
              <a:rPr lang="en-US" sz="1050" i="1" dirty="0">
                <a:solidFill>
                  <a:srgbClr val="6E7C87"/>
                </a:solidFill>
                <a:latin typeface="Calibri" pitchFamily="34" charset="0"/>
                <a:ea typeface="Calibri" pitchFamily="34" charset="-122"/>
                <a:cs typeface="Calibri" pitchFamily="34" charset="-120"/>
              </a:rPr>
              <a:t>corrige : mots de passe physiques (1·2·4) et accès en clair</a:t>
            </a:r>
            <a:endParaRPr lang="en-US" sz="1050" dirty="0"/>
          </a:p>
        </p:txBody>
      </p:sp>
      <p:sp>
        <p:nvSpPr>
          <p:cNvPr id="19" name="Shape 17"/>
          <p:cNvSpPr/>
          <p:nvPr/>
        </p:nvSpPr>
        <p:spPr>
          <a:xfrm>
            <a:off x="502920" y="3858768"/>
            <a:ext cx="5468112" cy="1874520"/>
          </a:xfrm>
          <a:prstGeom prst="roundRect">
            <a:avLst>
              <a:gd name="adj" fmla="val 2927"/>
            </a:avLst>
          </a:prstGeom>
          <a:solidFill>
            <a:srgbClr val="1B242C"/>
          </a:solidFill>
          <a:ln w="12700">
            <a:solidFill>
              <a:srgbClr val="313D47"/>
            </a:solidFill>
            <a:prstDash val="solid"/>
          </a:ln>
        </p:spPr>
      </p:sp>
      <p:sp>
        <p:nvSpPr>
          <p:cNvPr id="20" name="Shape 18"/>
          <p:cNvSpPr/>
          <p:nvPr/>
        </p:nvSpPr>
        <p:spPr>
          <a:xfrm>
            <a:off x="502920" y="3858768"/>
            <a:ext cx="82296" cy="1874520"/>
          </a:xfrm>
          <a:prstGeom prst="rect">
            <a:avLst/>
          </a:prstGeom>
          <a:solidFill>
            <a:srgbClr val="6FBF95"/>
          </a:solidFill>
          <a:ln/>
        </p:spPr>
      </p:sp>
      <p:sp>
        <p:nvSpPr>
          <p:cNvPr id="21" name="Shape 19"/>
          <p:cNvSpPr/>
          <p:nvPr/>
        </p:nvSpPr>
        <p:spPr>
          <a:xfrm>
            <a:off x="758952" y="4059936"/>
            <a:ext cx="420624" cy="420624"/>
          </a:xfrm>
          <a:prstGeom prst="ellipse">
            <a:avLst/>
          </a:prstGeom>
          <a:solidFill>
            <a:srgbClr val="6FBF95"/>
          </a:solidFill>
          <a:ln/>
        </p:spPr>
      </p:sp>
      <p:sp>
        <p:nvSpPr>
          <p:cNvPr id="22" name="Text 20"/>
          <p:cNvSpPr txBox="1"/>
          <p:nvPr/>
        </p:nvSpPr>
        <p:spPr>
          <a:xfrm>
            <a:off x="758952" y="4059936"/>
            <a:ext cx="420624" cy="420624"/>
          </a:xfrm>
          <a:prstGeom prst="rect">
            <a:avLst/>
          </a:prstGeom>
          <a:noFill/>
          <a:ln/>
        </p:spPr>
        <p:txBody>
          <a:bodyPr wrap="square" lIns="0" tIns="0" rIns="0" bIns="0" rtlCol="0" anchor="ctr"/>
          <a:lstStyle/>
          <a:p>
            <a:pPr algn="ctr" indent="0" marL="0">
              <a:buNone/>
            </a:pPr>
            <a:r>
              <a:rPr lang="en-US" sz="1700" b="1" dirty="0">
                <a:solidFill>
                  <a:srgbClr val="10161C"/>
                </a:solidFill>
                <a:latin typeface="Calibri" pitchFamily="34" charset="0"/>
                <a:ea typeface="Calibri" pitchFamily="34" charset="-122"/>
                <a:cs typeface="Calibri" pitchFamily="34" charset="-120"/>
              </a:rPr>
              <a:t>3</a:t>
            </a:r>
            <a:endParaRPr lang="en-US" sz="1700" dirty="0"/>
          </a:p>
        </p:txBody>
      </p:sp>
      <p:sp>
        <p:nvSpPr>
          <p:cNvPr id="23" name="Text 21"/>
          <p:cNvSpPr txBox="1"/>
          <p:nvPr/>
        </p:nvSpPr>
        <p:spPr>
          <a:xfrm>
            <a:off x="1325880" y="4078224"/>
            <a:ext cx="4416552" cy="402336"/>
          </a:xfrm>
          <a:prstGeom prst="rect">
            <a:avLst/>
          </a:prstGeom>
          <a:noFill/>
          <a:ln/>
        </p:spPr>
        <p:txBody>
          <a:bodyPr wrap="square" lIns="0" tIns="0" rIns="0" bIns="0" rtlCol="0" anchor="ctr"/>
          <a:lstStyle/>
          <a:p>
            <a:pPr indent="0" marL="0">
              <a:buNone/>
            </a:pPr>
            <a:r>
              <a:rPr lang="en-US" sz="1600" b="1" dirty="0">
                <a:solidFill>
                  <a:srgbClr val="ECF1F5"/>
                </a:solidFill>
                <a:latin typeface="Calibri" pitchFamily="34" charset="0"/>
                <a:ea typeface="Calibri" pitchFamily="34" charset="-122"/>
                <a:cs typeface="Calibri" pitchFamily="34" charset="-120"/>
              </a:rPr>
              <a:t>On surveille le Modbus</a:t>
            </a:r>
            <a:endParaRPr lang="en-US" sz="1600" dirty="0"/>
          </a:p>
        </p:txBody>
      </p:sp>
      <p:sp>
        <p:nvSpPr>
          <p:cNvPr id="24" name="Text 22"/>
          <p:cNvSpPr txBox="1"/>
          <p:nvPr/>
        </p:nvSpPr>
        <p:spPr>
          <a:xfrm>
            <a:off x="758952" y="4590288"/>
            <a:ext cx="4956048" cy="768096"/>
          </a:xfrm>
          <a:prstGeom prst="rect">
            <a:avLst/>
          </a:prstGeom>
          <a:noFill/>
          <a:ln/>
        </p:spPr>
        <p:txBody>
          <a:bodyPr wrap="square" lIns="0" tIns="0" rIns="0" bIns="0" rtlCol="0" anchor="t"/>
          <a:lstStyle/>
          <a:p>
            <a:pPr indent="0" marL="0">
              <a:buNone/>
            </a:pPr>
            <a:r>
              <a:rPr lang="en-US" sz="1250" dirty="0">
                <a:solidFill>
                  <a:srgbClr val="9DABB6"/>
                </a:solidFill>
                <a:latin typeface="Calibri" pitchFamily="34" charset="0"/>
                <a:ea typeface="Calibri" pitchFamily="34" charset="-122"/>
                <a:cs typeface="Calibri" pitchFamily="34" charset="-120"/>
              </a:rPr>
              <a:t>Une sonde IDS lit les échanges et un SIEM centralise les journaux : toute commande anormale — une écriture qui ne vient pas de l'IHM — déclenche une alerte.</a:t>
            </a:r>
            <a:endParaRPr lang="en-US" sz="1250" dirty="0"/>
          </a:p>
        </p:txBody>
      </p:sp>
      <p:sp>
        <p:nvSpPr>
          <p:cNvPr id="25" name="Text 23"/>
          <p:cNvSpPr txBox="1"/>
          <p:nvPr/>
        </p:nvSpPr>
        <p:spPr>
          <a:xfrm>
            <a:off x="758952" y="5376672"/>
            <a:ext cx="4956048" cy="274320"/>
          </a:xfrm>
          <a:prstGeom prst="rect">
            <a:avLst/>
          </a:prstGeom>
          <a:noFill/>
          <a:ln/>
        </p:spPr>
        <p:txBody>
          <a:bodyPr wrap="square" lIns="0" tIns="0" rIns="0" bIns="0" rtlCol="0" anchor="ctr"/>
          <a:lstStyle/>
          <a:p>
            <a:pPr indent="0" marL="0">
              <a:buNone/>
            </a:pPr>
            <a:r>
              <a:rPr lang="en-US" sz="1050" i="1" dirty="0">
                <a:solidFill>
                  <a:srgbClr val="6E7C87"/>
                </a:solidFill>
                <a:latin typeface="Calibri" pitchFamily="34" charset="0"/>
                <a:ea typeface="Calibri" pitchFamily="34" charset="-122"/>
                <a:cs typeface="Calibri" pitchFamily="34" charset="-120"/>
              </a:rPr>
              <a:t>corrige : Modbus sans authentification (V3) · aucune détection (V7·V8)</a:t>
            </a:r>
            <a:endParaRPr lang="en-US" sz="1050" dirty="0"/>
          </a:p>
        </p:txBody>
      </p:sp>
      <p:sp>
        <p:nvSpPr>
          <p:cNvPr id="26" name="Shape 24"/>
          <p:cNvSpPr/>
          <p:nvPr/>
        </p:nvSpPr>
        <p:spPr>
          <a:xfrm>
            <a:off x="6190488" y="3858768"/>
            <a:ext cx="5468112" cy="1874520"/>
          </a:xfrm>
          <a:prstGeom prst="roundRect">
            <a:avLst>
              <a:gd name="adj" fmla="val 2927"/>
            </a:avLst>
          </a:prstGeom>
          <a:solidFill>
            <a:srgbClr val="1B242C"/>
          </a:solidFill>
          <a:ln w="12700">
            <a:solidFill>
              <a:srgbClr val="313D47"/>
            </a:solidFill>
            <a:prstDash val="solid"/>
          </a:ln>
        </p:spPr>
      </p:sp>
      <p:sp>
        <p:nvSpPr>
          <p:cNvPr id="27" name="Shape 25"/>
          <p:cNvSpPr/>
          <p:nvPr/>
        </p:nvSpPr>
        <p:spPr>
          <a:xfrm>
            <a:off x="6190488" y="3858768"/>
            <a:ext cx="82296" cy="1874520"/>
          </a:xfrm>
          <a:prstGeom prst="rect">
            <a:avLst/>
          </a:prstGeom>
          <a:solidFill>
            <a:srgbClr val="6FBF95"/>
          </a:solidFill>
          <a:ln/>
        </p:spPr>
      </p:sp>
      <p:sp>
        <p:nvSpPr>
          <p:cNvPr id="28" name="Shape 26"/>
          <p:cNvSpPr/>
          <p:nvPr/>
        </p:nvSpPr>
        <p:spPr>
          <a:xfrm>
            <a:off x="6446520" y="4059936"/>
            <a:ext cx="420624" cy="420624"/>
          </a:xfrm>
          <a:prstGeom prst="ellipse">
            <a:avLst/>
          </a:prstGeom>
          <a:solidFill>
            <a:srgbClr val="6FBF95"/>
          </a:solidFill>
          <a:ln/>
        </p:spPr>
      </p:sp>
      <p:sp>
        <p:nvSpPr>
          <p:cNvPr id="29" name="Text 27"/>
          <p:cNvSpPr txBox="1"/>
          <p:nvPr/>
        </p:nvSpPr>
        <p:spPr>
          <a:xfrm>
            <a:off x="6446520" y="4059936"/>
            <a:ext cx="420624" cy="420624"/>
          </a:xfrm>
          <a:prstGeom prst="rect">
            <a:avLst/>
          </a:prstGeom>
          <a:noFill/>
          <a:ln/>
        </p:spPr>
        <p:txBody>
          <a:bodyPr wrap="square" lIns="0" tIns="0" rIns="0" bIns="0" rtlCol="0" anchor="ctr"/>
          <a:lstStyle/>
          <a:p>
            <a:pPr algn="ctr" indent="0" marL="0">
              <a:buNone/>
            </a:pPr>
            <a:r>
              <a:rPr lang="en-US" sz="1700" b="1" dirty="0">
                <a:solidFill>
                  <a:srgbClr val="10161C"/>
                </a:solidFill>
                <a:latin typeface="Calibri" pitchFamily="34" charset="0"/>
                <a:ea typeface="Calibri" pitchFamily="34" charset="-122"/>
                <a:cs typeface="Calibri" pitchFamily="34" charset="-120"/>
              </a:rPr>
              <a:t>4</a:t>
            </a:r>
            <a:endParaRPr lang="en-US" sz="1700" dirty="0"/>
          </a:p>
        </p:txBody>
      </p:sp>
      <p:sp>
        <p:nvSpPr>
          <p:cNvPr id="30" name="Text 28"/>
          <p:cNvSpPr txBox="1"/>
          <p:nvPr/>
        </p:nvSpPr>
        <p:spPr>
          <a:xfrm>
            <a:off x="7013448" y="4078224"/>
            <a:ext cx="4416552" cy="402336"/>
          </a:xfrm>
          <a:prstGeom prst="rect">
            <a:avLst/>
          </a:prstGeom>
          <a:noFill/>
          <a:ln/>
        </p:spPr>
        <p:txBody>
          <a:bodyPr wrap="square" lIns="0" tIns="0" rIns="0" bIns="0" rtlCol="0" anchor="ctr"/>
          <a:lstStyle/>
          <a:p>
            <a:pPr indent="0" marL="0">
              <a:buNone/>
            </a:pPr>
            <a:r>
              <a:rPr lang="en-US" sz="1600" b="1" dirty="0">
                <a:solidFill>
                  <a:srgbClr val="ECF1F5"/>
                </a:solidFill>
                <a:latin typeface="Calibri" pitchFamily="34" charset="0"/>
                <a:ea typeface="Calibri" pitchFamily="34" charset="-122"/>
                <a:cs typeface="Calibri" pitchFamily="34" charset="-120"/>
              </a:rPr>
              <a:t>On bloque la modification de l'automate</a:t>
            </a:r>
            <a:endParaRPr lang="en-US" sz="1600" dirty="0"/>
          </a:p>
        </p:txBody>
      </p:sp>
      <p:sp>
        <p:nvSpPr>
          <p:cNvPr id="31" name="Text 29"/>
          <p:cNvSpPr txBox="1"/>
          <p:nvPr/>
        </p:nvSpPr>
        <p:spPr>
          <a:xfrm>
            <a:off x="6446520" y="4590288"/>
            <a:ext cx="4956048" cy="768096"/>
          </a:xfrm>
          <a:prstGeom prst="rect">
            <a:avLst/>
          </a:prstGeom>
          <a:noFill/>
          <a:ln/>
        </p:spPr>
        <p:txBody>
          <a:bodyPr wrap="square" lIns="0" tIns="0" rIns="0" bIns="0" rtlCol="0" anchor="t"/>
          <a:lstStyle/>
          <a:p>
            <a:pPr indent="0" marL="0">
              <a:buNone/>
            </a:pPr>
            <a:r>
              <a:rPr lang="en-US" sz="1250" dirty="0">
                <a:solidFill>
                  <a:srgbClr val="9DABB6"/>
                </a:solidFill>
                <a:latin typeface="Calibri" pitchFamily="34" charset="0"/>
                <a:ea typeface="Calibri" pitchFamily="34" charset="-122"/>
                <a:cs typeface="Calibri" pitchFamily="34" charset="-120"/>
              </a:rPr>
              <a:t>Le dépôt de programme est fermé en fonctionnement et le programme est signé puis vérifié. Le poste d'ingénierie n'y accède que sur fenêtre de maintenance déclarée.</a:t>
            </a:r>
            <a:endParaRPr lang="en-US" sz="1250" dirty="0"/>
          </a:p>
        </p:txBody>
      </p:sp>
      <p:sp>
        <p:nvSpPr>
          <p:cNvPr id="32" name="Text 30"/>
          <p:cNvSpPr txBox="1"/>
          <p:nvPr/>
        </p:nvSpPr>
        <p:spPr>
          <a:xfrm>
            <a:off x="6446520" y="5376672"/>
            <a:ext cx="4956048" cy="274320"/>
          </a:xfrm>
          <a:prstGeom prst="rect">
            <a:avLst/>
          </a:prstGeom>
          <a:noFill/>
          <a:ln/>
        </p:spPr>
        <p:txBody>
          <a:bodyPr wrap="square" lIns="0" tIns="0" rIns="0" bIns="0" rtlCol="0" anchor="ctr"/>
          <a:lstStyle/>
          <a:p>
            <a:pPr indent="0" marL="0">
              <a:buNone/>
            </a:pPr>
            <a:r>
              <a:rPr lang="en-US" sz="1050" i="1" dirty="0">
                <a:solidFill>
                  <a:srgbClr val="6E7C87"/>
                </a:solidFill>
                <a:latin typeface="Calibri" pitchFamily="34" charset="0"/>
                <a:ea typeface="Calibri" pitchFamily="34" charset="-122"/>
                <a:cs typeface="Calibri" pitchFamily="34" charset="-120"/>
              </a:rPr>
              <a:t>empêche le sabotage du TP (pressure_sp := 65535)</a:t>
            </a:r>
            <a:endParaRPr lang="en-US" sz="1050" dirty="0"/>
          </a:p>
        </p:txBody>
      </p:sp>
      <p:sp>
        <p:nvSpPr>
          <p:cNvPr id="33" name="Text 31"/>
          <p:cNvSpPr txBox="1"/>
          <p:nvPr/>
        </p:nvSpPr>
        <p:spPr>
          <a:xfrm>
            <a:off x="502920" y="5797296"/>
            <a:ext cx="11155680" cy="402336"/>
          </a:xfrm>
          <a:prstGeom prst="rect">
            <a:avLst/>
          </a:prstGeom>
          <a:noFill/>
          <a:ln/>
        </p:spPr>
        <p:txBody>
          <a:bodyPr wrap="square" lIns="0" tIns="0" rIns="0" bIns="0" rtlCol="0" anchor="ctr"/>
          <a:lstStyle/>
          <a:p>
            <a:pPr indent="0" marL="0">
              <a:buNone/>
            </a:pPr>
            <a:r>
              <a:rPr lang="en-US" sz="1150" b="1" dirty="0">
                <a:solidFill>
                  <a:srgbClr val="6FBF95"/>
                </a:solidFill>
                <a:latin typeface="Calibri" pitchFamily="34" charset="0"/>
                <a:ea typeface="Calibri" pitchFamily="34" charset="-122"/>
                <a:cs typeface="Calibri" pitchFamily="34" charset="-120"/>
              </a:rPr>
              <a:t>Résultat : </a:t>
            </a:r>
            <a:pPr indent="0" marL="0">
              <a:buNone/>
            </a:pPr>
            <a:r>
              <a:rPr lang="en-US" sz="1150" dirty="0">
                <a:solidFill>
                  <a:srgbClr val="9DABB6"/>
                </a:solidFill>
                <a:latin typeface="Calibri" pitchFamily="34" charset="0"/>
                <a:ea typeface="Calibri" pitchFamily="34" charset="-122"/>
                <a:cs typeface="Calibri" pitchFamily="34" charset="-120"/>
              </a:rPr>
              <a:t>la chaîne d'attaque du TP est coupée à chaque étape — on ne traverse plus du bureau vers l'usine (1), on ne se connecte plus avec un mot de passe trouvé (2), on ne pilote plus le Modbus sans être vu (3), on ne sabote plus l'automate à distance (4).</a:t>
            </a:r>
            <a:endParaRPr lang="en-US" sz="1150" dirty="0"/>
          </a:p>
        </p:txBody>
      </p:sp>
      <p:sp>
        <p:nvSpPr>
          <p:cNvPr id="34" name="Text 32"/>
          <p:cNvSpPr txBox="1"/>
          <p:nvPr/>
        </p:nvSpPr>
        <p:spPr>
          <a:xfrm>
            <a:off x="502920" y="6382512"/>
            <a:ext cx="11155680" cy="256032"/>
          </a:xfrm>
          <a:prstGeom prst="rect">
            <a:avLst/>
          </a:prstGeom>
          <a:noFill/>
          <a:ln/>
        </p:spPr>
        <p:txBody>
          <a:bodyPr wrap="square" lIns="0" tIns="0" rIns="0" bIns="0" rtlCol="0" anchor="ctr"/>
          <a:lstStyle/>
          <a:p>
            <a:pPr indent="0" marL="0">
              <a:buNone/>
            </a:pPr>
            <a:r>
              <a:rPr lang="en-US" sz="950" dirty="0">
                <a:solidFill>
                  <a:srgbClr val="6E7C87"/>
                </a:solidFill>
                <a:latin typeface="Calibri" pitchFamily="34" charset="0"/>
                <a:ea typeface="Calibri" pitchFamily="34" charset="-122"/>
                <a:cs typeface="Calibri" pitchFamily="34" charset="-120"/>
              </a:rPr>
              <a:t>Architecture finale · 2/2 — Les correctifs</a:t>
            </a:r>
            <a:pPr indent="0" marL="0">
              <a:buNone/>
            </a:pPr>
            <a:r>
              <a:rPr lang="en-US" sz="950" dirty="0">
                <a:solidFill>
                  <a:srgbClr val="6E7C87"/>
                </a:solidFill>
                <a:latin typeface="Calibri" pitchFamily="34" charset="0"/>
                <a:ea typeface="Calibri" pitchFamily="34" charset="-122"/>
                <a:cs typeface="Calibri" pitchFamily="34" charset="-120"/>
              </a:rPr>
              <a:t>        Couper un seul maillon suffisait — là, les quatre le sont</a:t>
            </a:r>
            <a:endParaRPr lang="en-US" sz="950" dirty="0"/>
          </a:p>
        </p:txBody>
      </p:sp>
      <p:sp>
        <p:nvSpPr>
          <p:cNvPr id="35" name="Shape 33"/>
          <p:cNvSpPr/>
          <p:nvPr/>
        </p:nvSpPr>
        <p:spPr>
          <a:xfrm>
            <a:off x="502920" y="6309360"/>
            <a:ext cx="11155680" cy="0"/>
          </a:xfrm>
          <a:prstGeom prst="line">
            <a:avLst/>
          </a:prstGeom>
          <a:noFill/>
          <a:ln w="12700">
            <a:solidFill>
              <a:srgbClr val="313D47"/>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2026-09-21T11:01:18Z</dcterms:created>
  <dcterms:modified xsi:type="dcterms:W3CDTF">2026-09-21T11:01:18Z</dcterms:modified>
</cp:coreProperties>
</file>