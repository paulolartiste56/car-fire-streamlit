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failles physiques : cinq problèmes repérés simplement en visitant l'usine, sans toucher à un ordinateur. C'est là que notre attaque a vraiment commencé — on a récupéré les mots de passe du routeur et de l'automate à la main. Presque tout relève de l'habitude et non de la technique : la meilleure parade, c'est donc la formation des équipes.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quatre failles informatiques, expliquées simplement. Le filtre entre les bureaux et l'usine laisse tout passer — c'est le pare-feu ouvert. Les ordres envoyés aux machines ne sont pas vérifiés — c'est le Modbus sans authentification : n'importe qui peut commander une vanne. Personne ne surveille et rien n'est enregistré — donc l'attaque passe inaperçue. Et surtout : rien n'arrête le réacteur si l'automate est piraté, puisque la seule protection est justement le programme qu'on a modifié. Sur chaque carte, la ligne verte donne le correctif.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retenir : l'enchaînement se lit en une phrase. Les failles physiques donnent l'accès et les mots de passe. Le filtre ouvert et les ordres non vérifiés mènent jusqu'à l'automate. L'absence de surveillance fait que l'attaque passe inaperçue. Et l'absence de sécurité indépendante transforme la prise de contrôle en explosion. Message clé : couper un seul de ces maillons suffit à faire échouer l'attaque, et la sécurité câblée reste le dernier rempart même si tout le reste tombe.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4796F"/>
          </a:solidFill>
          <a:ln/>
        </p:spPr>
      </p:sp>
      <p:sp>
        <p:nvSpPr>
          <p:cNvPr id="3" name="Text 1"/>
          <p:cNvSpPr txBox="1"/>
          <p:nvPr/>
        </p:nvSpPr>
        <p:spPr>
          <a:xfrm>
            <a:off x="502920" y="384048"/>
            <a:ext cx="11155680" cy="292608"/>
          </a:xfrm>
          <a:prstGeom prst="rect">
            <a:avLst/>
          </a:prstGeom>
          <a:noFill/>
          <a:ln/>
        </p:spPr>
        <p:txBody>
          <a:bodyPr wrap="square" lIns="0" tIns="0" rIns="0" bIns="0" rtlCol="0" anchor="ctr"/>
          <a:lstStyle/>
          <a:p>
            <a:pPr indent="0" marL="0">
              <a:buNone/>
            </a:pPr>
            <a:r>
              <a:rPr lang="en-US" sz="1100" b="1" spc="200" kern="0" dirty="0">
                <a:solidFill>
                  <a:srgbClr val="E4796F"/>
                </a:solidFill>
                <a:latin typeface="Calibri" pitchFamily="34" charset="0"/>
                <a:ea typeface="Calibri" pitchFamily="34" charset="-122"/>
                <a:cs typeface="Calibri" pitchFamily="34" charset="-120"/>
              </a:rPr>
              <a:t>BARÈME /4</a:t>
            </a:r>
            <a:pPr indent="0" marL="0">
              <a:buNone/>
            </a:pPr>
            <a:r>
              <a:rPr lang="en-US" sz="1100" spc="200" kern="0" dirty="0">
                <a:solidFill>
                  <a:srgbClr val="6E7C87"/>
                </a:solidFill>
                <a:latin typeface="Calibri" pitchFamily="34" charset="0"/>
                <a:ea typeface="Calibri" pitchFamily="34" charset="-122"/>
                <a:cs typeface="Calibri" pitchFamily="34" charset="-120"/>
              </a:rPr>
              <a:t>   LES FAILLES PHYSIQUES — CE QU'ON TROUVE EN SE PROMENANT</a:t>
            </a:r>
            <a:endParaRPr lang="en-US" sz="1100" dirty="0"/>
          </a:p>
        </p:txBody>
      </p:sp>
      <p:sp>
        <p:nvSpPr>
          <p:cNvPr id="4" name="Text 2"/>
          <p:cNvSpPr txBox="1"/>
          <p:nvPr/>
        </p:nvSpPr>
        <p:spPr>
          <a:xfrm>
            <a:off x="502920" y="786384"/>
            <a:ext cx="11155680" cy="914400"/>
          </a:xfrm>
          <a:prstGeom prst="rect">
            <a:avLst/>
          </a:prstGeom>
          <a:noFill/>
          <a:ln/>
        </p:spPr>
        <p:txBody>
          <a:bodyPr wrap="square" lIns="0" tIns="0" rIns="0" bIns="0" rtlCol="0" anchor="t"/>
          <a:lstStyle/>
          <a:p>
            <a:pPr indent="0" marL="0">
              <a:lnSpc>
                <a:spcPct val="98000"/>
              </a:lnSpc>
              <a:buNone/>
            </a:pPr>
            <a:r>
              <a:rPr lang="en-US" sz="3200" b="1" dirty="0">
                <a:solidFill>
                  <a:srgbClr val="ECF1F5"/>
                </a:solidFill>
                <a:latin typeface="Cambria" pitchFamily="34" charset="0"/>
                <a:ea typeface="Cambria" pitchFamily="34" charset="-122"/>
                <a:cs typeface="Cambria" pitchFamily="34" charset="-120"/>
              </a:rPr>
              <a:t>5 failles trouvées sans toucher à un ordinateur</a:t>
            </a:r>
            <a:endParaRPr lang="en-US" sz="3200" dirty="0"/>
          </a:p>
        </p:txBody>
      </p:sp>
      <p:sp>
        <p:nvSpPr>
          <p:cNvPr id="5" name="Shape 3"/>
          <p:cNvSpPr/>
          <p:nvPr/>
        </p:nvSpPr>
        <p:spPr>
          <a:xfrm>
            <a:off x="502920" y="1874520"/>
            <a:ext cx="11155680" cy="822960"/>
          </a:xfrm>
          <a:prstGeom prst="roundRect">
            <a:avLst>
              <a:gd name="adj" fmla="val 6667"/>
            </a:avLst>
          </a:prstGeom>
          <a:solidFill>
            <a:srgbClr val="1B242C"/>
          </a:solidFill>
          <a:ln w="12700">
            <a:solidFill>
              <a:srgbClr val="313D47"/>
            </a:solidFill>
            <a:prstDash val="solid"/>
          </a:ln>
        </p:spPr>
      </p:sp>
      <p:sp>
        <p:nvSpPr>
          <p:cNvPr id="6" name="Text 4"/>
          <p:cNvSpPr txBox="1"/>
          <p:nvPr/>
        </p:nvSpPr>
        <p:spPr>
          <a:xfrm>
            <a:off x="548640" y="1874520"/>
            <a:ext cx="640080" cy="822960"/>
          </a:xfrm>
          <a:prstGeom prst="rect">
            <a:avLst/>
          </a:prstGeom>
          <a:noFill/>
          <a:ln/>
        </p:spPr>
        <p:txBody>
          <a:bodyPr wrap="square" lIns="0" tIns="0" rIns="0" bIns="0" rtlCol="0" anchor="ctr"/>
          <a:lstStyle/>
          <a:p>
            <a:pPr algn="ctr" indent="0" marL="0">
              <a:buNone/>
            </a:pPr>
            <a:r>
              <a:rPr lang="en-US" sz="2600" b="1" dirty="0">
                <a:solidFill>
                  <a:srgbClr val="E0A64A"/>
                </a:solidFill>
                <a:latin typeface="Cambria" pitchFamily="34" charset="0"/>
                <a:ea typeface="Cambria" pitchFamily="34" charset="-122"/>
                <a:cs typeface="Cambria" pitchFamily="34" charset="-120"/>
              </a:rPr>
              <a:t>1</a:t>
            </a:r>
            <a:endParaRPr lang="en-US" sz="2600" dirty="0"/>
          </a:p>
        </p:txBody>
      </p:sp>
      <p:sp>
        <p:nvSpPr>
          <p:cNvPr id="7" name="Text 5"/>
          <p:cNvSpPr txBox="1"/>
          <p:nvPr/>
        </p:nvSpPr>
        <p:spPr>
          <a:xfrm>
            <a:off x="1280160" y="1874520"/>
            <a:ext cx="4480560" cy="822960"/>
          </a:xfrm>
          <a:prstGeom prst="rect">
            <a:avLst/>
          </a:prstGeom>
          <a:noFill/>
          <a:ln/>
        </p:spPr>
        <p:txBody>
          <a:bodyPr wrap="square" lIns="0" tIns="0" rIns="0" bIns="0" rtlCol="0" anchor="ctr"/>
          <a:lstStyle/>
          <a:p>
            <a:pPr indent="0" marL="0">
              <a:buNone/>
            </a:pPr>
            <a:r>
              <a:rPr lang="en-US" sz="1450" dirty="0">
                <a:solidFill>
                  <a:srgbClr val="ECF1F5"/>
                </a:solidFill>
                <a:latin typeface="Calibri" pitchFamily="34" charset="0"/>
                <a:ea typeface="Calibri" pitchFamily="34" charset="-122"/>
                <a:cs typeface="Calibri" pitchFamily="34" charset="-120"/>
              </a:rPr>
              <a:t>Une porte à badge calée ouverte avec un parpaing</a:t>
            </a:r>
            <a:endParaRPr lang="en-US" sz="1450" dirty="0"/>
          </a:p>
        </p:txBody>
      </p:sp>
      <p:sp>
        <p:nvSpPr>
          <p:cNvPr id="8" name="Text 6"/>
          <p:cNvSpPr txBox="1"/>
          <p:nvPr/>
        </p:nvSpPr>
        <p:spPr>
          <a:xfrm>
            <a:off x="5852160" y="1874520"/>
            <a:ext cx="2651760" cy="822960"/>
          </a:xfrm>
          <a:prstGeom prst="rect">
            <a:avLst/>
          </a:prstGeom>
          <a:noFill/>
          <a:ln/>
        </p:spPr>
        <p:txBody>
          <a:bodyPr wrap="square" lIns="0" tIns="0" rIns="0" bIns="0" rtlCol="0" anchor="ctr"/>
          <a:lstStyle/>
          <a:p>
            <a:pPr indent="0" marL="0">
              <a:buNone/>
            </a:pPr>
            <a:r>
              <a:rPr lang="en-US" sz="1250" dirty="0">
                <a:solidFill>
                  <a:srgbClr val="9DABB6"/>
                </a:solidFill>
                <a:latin typeface="Calibri" pitchFamily="34" charset="0"/>
                <a:ea typeface="Calibri" pitchFamily="34" charset="-122"/>
                <a:cs typeface="Calibri" pitchFamily="34" charset="-120"/>
              </a:rPr>
              <a:t>→  On entre sans badge</a:t>
            </a:r>
            <a:endParaRPr lang="en-US" sz="1250" dirty="0"/>
          </a:p>
        </p:txBody>
      </p:sp>
      <p:sp>
        <p:nvSpPr>
          <p:cNvPr id="9" name="Shape 7"/>
          <p:cNvSpPr/>
          <p:nvPr/>
        </p:nvSpPr>
        <p:spPr>
          <a:xfrm>
            <a:off x="8641080" y="2020824"/>
            <a:ext cx="0" cy="530352"/>
          </a:xfrm>
          <a:prstGeom prst="line">
            <a:avLst/>
          </a:prstGeom>
          <a:noFill/>
          <a:ln w="12700">
            <a:solidFill>
              <a:srgbClr val="313D47"/>
            </a:solidFill>
            <a:prstDash val="solid"/>
          </a:ln>
        </p:spPr>
      </p:sp>
      <p:sp>
        <p:nvSpPr>
          <p:cNvPr id="10" name="Text 8"/>
          <p:cNvSpPr txBox="1"/>
          <p:nvPr/>
        </p:nvSpPr>
        <p:spPr>
          <a:xfrm>
            <a:off x="8823960" y="1874520"/>
            <a:ext cx="2788920" cy="822960"/>
          </a:xfrm>
          <a:prstGeom prst="rect">
            <a:avLst/>
          </a:prstGeom>
          <a:noFill/>
          <a:ln/>
        </p:spPr>
        <p:txBody>
          <a:bodyPr wrap="square" lIns="0" tIns="0" rIns="0" bIns="0" rtlCol="0" anchor="ctr"/>
          <a:lstStyle/>
          <a:p>
            <a:pPr indent="0" marL="0">
              <a:buNone/>
            </a:pPr>
            <a:r>
              <a:rPr lang="en-US" sz="1200" dirty="0">
                <a:solidFill>
                  <a:srgbClr val="6FBF95"/>
                </a:solidFill>
                <a:latin typeface="Calibri" pitchFamily="34" charset="0"/>
                <a:ea typeface="Calibri" pitchFamily="34" charset="-122"/>
                <a:cs typeface="Calibri" pitchFamily="34" charset="-120"/>
              </a:rPr>
              <a:t>Ferme-porte + alarme, sensibilisation</a:t>
            </a:r>
            <a:endParaRPr lang="en-US" sz="1200" dirty="0"/>
          </a:p>
        </p:txBody>
      </p:sp>
      <p:sp>
        <p:nvSpPr>
          <p:cNvPr id="11" name="Shape 9"/>
          <p:cNvSpPr/>
          <p:nvPr/>
        </p:nvSpPr>
        <p:spPr>
          <a:xfrm>
            <a:off x="502920" y="2807208"/>
            <a:ext cx="11155680" cy="822960"/>
          </a:xfrm>
          <a:prstGeom prst="roundRect">
            <a:avLst>
              <a:gd name="adj" fmla="val 6667"/>
            </a:avLst>
          </a:prstGeom>
          <a:solidFill>
            <a:srgbClr val="1B242C"/>
          </a:solidFill>
          <a:ln w="12700">
            <a:solidFill>
              <a:srgbClr val="313D47"/>
            </a:solidFill>
            <a:prstDash val="solid"/>
          </a:ln>
        </p:spPr>
      </p:sp>
      <p:sp>
        <p:nvSpPr>
          <p:cNvPr id="12" name="Text 10"/>
          <p:cNvSpPr txBox="1"/>
          <p:nvPr/>
        </p:nvSpPr>
        <p:spPr>
          <a:xfrm>
            <a:off x="548640" y="2807208"/>
            <a:ext cx="640080" cy="822960"/>
          </a:xfrm>
          <a:prstGeom prst="rect">
            <a:avLst/>
          </a:prstGeom>
          <a:noFill/>
          <a:ln/>
        </p:spPr>
        <p:txBody>
          <a:bodyPr wrap="square" lIns="0" tIns="0" rIns="0" bIns="0" rtlCol="0" anchor="ctr"/>
          <a:lstStyle/>
          <a:p>
            <a:pPr algn="ctr" indent="0" marL="0">
              <a:buNone/>
            </a:pPr>
            <a:r>
              <a:rPr lang="en-US" sz="2600" b="1" dirty="0">
                <a:solidFill>
                  <a:srgbClr val="E0A64A"/>
                </a:solidFill>
                <a:latin typeface="Cambria" pitchFamily="34" charset="0"/>
                <a:ea typeface="Cambria" pitchFamily="34" charset="-122"/>
                <a:cs typeface="Cambria" pitchFamily="34" charset="-120"/>
              </a:rPr>
              <a:t>2</a:t>
            </a:r>
            <a:endParaRPr lang="en-US" sz="2600" dirty="0"/>
          </a:p>
        </p:txBody>
      </p:sp>
      <p:sp>
        <p:nvSpPr>
          <p:cNvPr id="13" name="Text 11"/>
          <p:cNvSpPr txBox="1"/>
          <p:nvPr/>
        </p:nvSpPr>
        <p:spPr>
          <a:xfrm>
            <a:off x="1280160" y="2807208"/>
            <a:ext cx="4480560" cy="822960"/>
          </a:xfrm>
          <a:prstGeom prst="rect">
            <a:avLst/>
          </a:prstGeom>
          <a:noFill/>
          <a:ln/>
        </p:spPr>
        <p:txBody>
          <a:bodyPr wrap="square" lIns="0" tIns="0" rIns="0" bIns="0" rtlCol="0" anchor="ctr"/>
          <a:lstStyle/>
          <a:p>
            <a:pPr indent="0" marL="0">
              <a:buNone/>
            </a:pPr>
            <a:r>
              <a:rPr lang="en-US" sz="1450" dirty="0">
                <a:solidFill>
                  <a:srgbClr val="ECF1F5"/>
                </a:solidFill>
                <a:latin typeface="Calibri" pitchFamily="34" charset="0"/>
                <a:ea typeface="Calibri" pitchFamily="34" charset="-122"/>
                <a:cs typeface="Calibri" pitchFamily="34" charset="-120"/>
              </a:rPr>
              <a:t>Des mots de passe écrits sur des post-it (×2)</a:t>
            </a:r>
            <a:endParaRPr lang="en-US" sz="1450" dirty="0"/>
          </a:p>
        </p:txBody>
      </p:sp>
      <p:sp>
        <p:nvSpPr>
          <p:cNvPr id="14" name="Text 12"/>
          <p:cNvSpPr txBox="1"/>
          <p:nvPr/>
        </p:nvSpPr>
        <p:spPr>
          <a:xfrm>
            <a:off x="5852160" y="2807208"/>
            <a:ext cx="2651760" cy="822960"/>
          </a:xfrm>
          <a:prstGeom prst="rect">
            <a:avLst/>
          </a:prstGeom>
          <a:noFill/>
          <a:ln/>
        </p:spPr>
        <p:txBody>
          <a:bodyPr wrap="square" lIns="0" tIns="0" rIns="0" bIns="0" rtlCol="0" anchor="ctr"/>
          <a:lstStyle/>
          <a:p>
            <a:pPr indent="0" marL="0">
              <a:buNone/>
            </a:pPr>
            <a:r>
              <a:rPr lang="en-US" sz="1250" dirty="0">
                <a:solidFill>
                  <a:srgbClr val="9DABB6"/>
                </a:solidFill>
                <a:latin typeface="Calibri" pitchFamily="34" charset="0"/>
                <a:ea typeface="Calibri" pitchFamily="34" charset="-122"/>
                <a:cs typeface="Calibri" pitchFamily="34" charset="-120"/>
              </a:rPr>
              <a:t>→  On récupère les identifiants</a:t>
            </a:r>
            <a:endParaRPr lang="en-US" sz="1250" dirty="0"/>
          </a:p>
        </p:txBody>
      </p:sp>
      <p:sp>
        <p:nvSpPr>
          <p:cNvPr id="15" name="Shape 13"/>
          <p:cNvSpPr/>
          <p:nvPr/>
        </p:nvSpPr>
        <p:spPr>
          <a:xfrm>
            <a:off x="8641080" y="2953512"/>
            <a:ext cx="0" cy="530352"/>
          </a:xfrm>
          <a:prstGeom prst="line">
            <a:avLst/>
          </a:prstGeom>
          <a:noFill/>
          <a:ln w="12700">
            <a:solidFill>
              <a:srgbClr val="313D47"/>
            </a:solidFill>
            <a:prstDash val="solid"/>
          </a:ln>
        </p:spPr>
      </p:sp>
      <p:sp>
        <p:nvSpPr>
          <p:cNvPr id="16" name="Text 14"/>
          <p:cNvSpPr txBox="1"/>
          <p:nvPr/>
        </p:nvSpPr>
        <p:spPr>
          <a:xfrm>
            <a:off x="8823960" y="2807208"/>
            <a:ext cx="2788920" cy="822960"/>
          </a:xfrm>
          <a:prstGeom prst="rect">
            <a:avLst/>
          </a:prstGeom>
          <a:noFill/>
          <a:ln/>
        </p:spPr>
        <p:txBody>
          <a:bodyPr wrap="square" lIns="0" tIns="0" rIns="0" bIns="0" rtlCol="0" anchor="ctr"/>
          <a:lstStyle/>
          <a:p>
            <a:pPr indent="0" marL="0">
              <a:buNone/>
            </a:pPr>
            <a:r>
              <a:rPr lang="en-US" sz="1200" dirty="0">
                <a:solidFill>
                  <a:srgbClr val="6FBF95"/>
                </a:solidFill>
                <a:latin typeface="Calibri" pitchFamily="34" charset="0"/>
                <a:ea typeface="Calibri" pitchFamily="34" charset="-122"/>
                <a:cs typeface="Calibri" pitchFamily="34" charset="-120"/>
              </a:rPr>
              <a:t>Coffre-fort de mots de passe, bureau net</a:t>
            </a:r>
            <a:endParaRPr lang="en-US" sz="1200" dirty="0"/>
          </a:p>
        </p:txBody>
      </p:sp>
      <p:sp>
        <p:nvSpPr>
          <p:cNvPr id="17" name="Shape 15"/>
          <p:cNvSpPr/>
          <p:nvPr/>
        </p:nvSpPr>
        <p:spPr>
          <a:xfrm>
            <a:off x="502920" y="3739896"/>
            <a:ext cx="11155680" cy="822960"/>
          </a:xfrm>
          <a:prstGeom prst="roundRect">
            <a:avLst>
              <a:gd name="adj" fmla="val 6667"/>
            </a:avLst>
          </a:prstGeom>
          <a:solidFill>
            <a:srgbClr val="1B242C"/>
          </a:solidFill>
          <a:ln w="12700">
            <a:solidFill>
              <a:srgbClr val="313D47"/>
            </a:solidFill>
            <a:prstDash val="solid"/>
          </a:ln>
        </p:spPr>
      </p:sp>
      <p:sp>
        <p:nvSpPr>
          <p:cNvPr id="18" name="Text 16"/>
          <p:cNvSpPr txBox="1"/>
          <p:nvPr/>
        </p:nvSpPr>
        <p:spPr>
          <a:xfrm>
            <a:off x="548640" y="3739896"/>
            <a:ext cx="640080" cy="822960"/>
          </a:xfrm>
          <a:prstGeom prst="rect">
            <a:avLst/>
          </a:prstGeom>
          <a:noFill/>
          <a:ln/>
        </p:spPr>
        <p:txBody>
          <a:bodyPr wrap="square" lIns="0" tIns="0" rIns="0" bIns="0" rtlCol="0" anchor="ctr"/>
          <a:lstStyle/>
          <a:p>
            <a:pPr algn="ctr" indent="0" marL="0">
              <a:buNone/>
            </a:pPr>
            <a:r>
              <a:rPr lang="en-US" sz="2600" b="1" dirty="0">
                <a:solidFill>
                  <a:srgbClr val="E0A64A"/>
                </a:solidFill>
                <a:latin typeface="Cambria" pitchFamily="34" charset="0"/>
                <a:ea typeface="Cambria" pitchFamily="34" charset="-122"/>
                <a:cs typeface="Cambria" pitchFamily="34" charset="-120"/>
              </a:rPr>
              <a:t>4</a:t>
            </a:r>
            <a:endParaRPr lang="en-US" sz="2600" dirty="0"/>
          </a:p>
        </p:txBody>
      </p:sp>
      <p:sp>
        <p:nvSpPr>
          <p:cNvPr id="19" name="Text 17"/>
          <p:cNvSpPr txBox="1"/>
          <p:nvPr/>
        </p:nvSpPr>
        <p:spPr>
          <a:xfrm>
            <a:off x="1280160" y="3739896"/>
            <a:ext cx="4480560" cy="822960"/>
          </a:xfrm>
          <a:prstGeom prst="rect">
            <a:avLst/>
          </a:prstGeom>
          <a:noFill/>
          <a:ln/>
        </p:spPr>
        <p:txBody>
          <a:bodyPr wrap="square" lIns="0" tIns="0" rIns="0" bIns="0" rtlCol="0" anchor="ctr"/>
          <a:lstStyle/>
          <a:p>
            <a:pPr indent="0" marL="0">
              <a:buNone/>
            </a:pPr>
            <a:r>
              <a:rPr lang="en-US" sz="1450" dirty="0">
                <a:solidFill>
                  <a:srgbClr val="ECF1F5"/>
                </a:solidFill>
                <a:latin typeface="Calibri" pitchFamily="34" charset="0"/>
                <a:ea typeface="Calibri" pitchFamily="34" charset="-122"/>
                <a:cs typeface="Calibri" pitchFamily="34" charset="-120"/>
              </a:rPr>
              <a:t>Une carte d'accès qui traîne sur un bureau</a:t>
            </a:r>
            <a:endParaRPr lang="en-US" sz="1450" dirty="0"/>
          </a:p>
        </p:txBody>
      </p:sp>
      <p:sp>
        <p:nvSpPr>
          <p:cNvPr id="20" name="Text 18"/>
          <p:cNvSpPr txBox="1"/>
          <p:nvPr/>
        </p:nvSpPr>
        <p:spPr>
          <a:xfrm>
            <a:off x="5852160" y="3739896"/>
            <a:ext cx="2651760" cy="822960"/>
          </a:xfrm>
          <a:prstGeom prst="rect">
            <a:avLst/>
          </a:prstGeom>
          <a:noFill/>
          <a:ln/>
        </p:spPr>
        <p:txBody>
          <a:bodyPr wrap="square" lIns="0" tIns="0" rIns="0" bIns="0" rtlCol="0" anchor="ctr"/>
          <a:lstStyle/>
          <a:p>
            <a:pPr indent="0" marL="0">
              <a:buNone/>
            </a:pPr>
            <a:r>
              <a:rPr lang="en-US" sz="1250" dirty="0">
                <a:solidFill>
                  <a:srgbClr val="9DABB6"/>
                </a:solidFill>
                <a:latin typeface="Calibri" pitchFamily="34" charset="0"/>
                <a:ea typeface="Calibri" pitchFamily="34" charset="-122"/>
                <a:cs typeface="Calibri" pitchFamily="34" charset="-120"/>
              </a:rPr>
              <a:t>→  On emprunte le badge</a:t>
            </a:r>
            <a:endParaRPr lang="en-US" sz="1250" dirty="0"/>
          </a:p>
        </p:txBody>
      </p:sp>
      <p:sp>
        <p:nvSpPr>
          <p:cNvPr id="21" name="Shape 19"/>
          <p:cNvSpPr/>
          <p:nvPr/>
        </p:nvSpPr>
        <p:spPr>
          <a:xfrm>
            <a:off x="8641080" y="3886200"/>
            <a:ext cx="0" cy="530352"/>
          </a:xfrm>
          <a:prstGeom prst="line">
            <a:avLst/>
          </a:prstGeom>
          <a:noFill/>
          <a:ln w="12700">
            <a:solidFill>
              <a:srgbClr val="313D47"/>
            </a:solidFill>
            <a:prstDash val="solid"/>
          </a:ln>
        </p:spPr>
      </p:sp>
      <p:sp>
        <p:nvSpPr>
          <p:cNvPr id="22" name="Text 20"/>
          <p:cNvSpPr txBox="1"/>
          <p:nvPr/>
        </p:nvSpPr>
        <p:spPr>
          <a:xfrm>
            <a:off x="8823960" y="3739896"/>
            <a:ext cx="2788920" cy="822960"/>
          </a:xfrm>
          <a:prstGeom prst="rect">
            <a:avLst/>
          </a:prstGeom>
          <a:noFill/>
          <a:ln/>
        </p:spPr>
        <p:txBody>
          <a:bodyPr wrap="square" lIns="0" tIns="0" rIns="0" bIns="0" rtlCol="0" anchor="ctr"/>
          <a:lstStyle/>
          <a:p>
            <a:pPr indent="0" marL="0">
              <a:buNone/>
            </a:pPr>
            <a:r>
              <a:rPr lang="en-US" sz="1200" dirty="0">
                <a:solidFill>
                  <a:srgbClr val="6FBF95"/>
                </a:solidFill>
                <a:latin typeface="Calibri" pitchFamily="34" charset="0"/>
                <a:ea typeface="Calibri" pitchFamily="34" charset="-122"/>
                <a:cs typeface="Calibri" pitchFamily="34" charset="-120"/>
              </a:rPr>
              <a:t>Badge personnel, gardé sur soi</a:t>
            </a:r>
            <a:endParaRPr lang="en-US" sz="1200" dirty="0"/>
          </a:p>
        </p:txBody>
      </p:sp>
      <p:sp>
        <p:nvSpPr>
          <p:cNvPr id="23" name="Shape 21"/>
          <p:cNvSpPr/>
          <p:nvPr/>
        </p:nvSpPr>
        <p:spPr>
          <a:xfrm>
            <a:off x="502920" y="4672584"/>
            <a:ext cx="11155680" cy="822960"/>
          </a:xfrm>
          <a:prstGeom prst="roundRect">
            <a:avLst>
              <a:gd name="adj" fmla="val 6667"/>
            </a:avLst>
          </a:prstGeom>
          <a:solidFill>
            <a:srgbClr val="1B242C"/>
          </a:solidFill>
          <a:ln w="12700">
            <a:solidFill>
              <a:srgbClr val="313D47"/>
            </a:solidFill>
            <a:prstDash val="solid"/>
          </a:ln>
        </p:spPr>
      </p:sp>
      <p:sp>
        <p:nvSpPr>
          <p:cNvPr id="24" name="Text 22"/>
          <p:cNvSpPr txBox="1"/>
          <p:nvPr/>
        </p:nvSpPr>
        <p:spPr>
          <a:xfrm>
            <a:off x="548640" y="4672584"/>
            <a:ext cx="640080" cy="822960"/>
          </a:xfrm>
          <a:prstGeom prst="rect">
            <a:avLst/>
          </a:prstGeom>
          <a:noFill/>
          <a:ln/>
        </p:spPr>
        <p:txBody>
          <a:bodyPr wrap="square" lIns="0" tIns="0" rIns="0" bIns="0" rtlCol="0" anchor="ctr"/>
          <a:lstStyle/>
          <a:p>
            <a:pPr algn="ctr" indent="0" marL="0">
              <a:buNone/>
            </a:pPr>
            <a:r>
              <a:rPr lang="en-US" sz="2600" b="1" dirty="0">
                <a:solidFill>
                  <a:srgbClr val="E0A64A"/>
                </a:solidFill>
                <a:latin typeface="Cambria" pitchFamily="34" charset="0"/>
                <a:ea typeface="Cambria" pitchFamily="34" charset="-122"/>
                <a:cs typeface="Cambria" pitchFamily="34" charset="-120"/>
              </a:rPr>
              <a:t>6</a:t>
            </a:r>
            <a:endParaRPr lang="en-US" sz="2600" dirty="0"/>
          </a:p>
        </p:txBody>
      </p:sp>
      <p:sp>
        <p:nvSpPr>
          <p:cNvPr id="25" name="Text 23"/>
          <p:cNvSpPr txBox="1"/>
          <p:nvPr/>
        </p:nvSpPr>
        <p:spPr>
          <a:xfrm>
            <a:off x="1280160" y="4672584"/>
            <a:ext cx="4480560" cy="822960"/>
          </a:xfrm>
          <a:prstGeom prst="rect">
            <a:avLst/>
          </a:prstGeom>
          <a:noFill/>
          <a:ln/>
        </p:spPr>
        <p:txBody>
          <a:bodyPr wrap="square" lIns="0" tIns="0" rIns="0" bIns="0" rtlCol="0" anchor="ctr"/>
          <a:lstStyle/>
          <a:p>
            <a:pPr indent="0" marL="0">
              <a:buNone/>
            </a:pPr>
            <a:r>
              <a:rPr lang="en-US" sz="1450" dirty="0">
                <a:solidFill>
                  <a:srgbClr val="ECF1F5"/>
                </a:solidFill>
                <a:latin typeface="Calibri" pitchFamily="34" charset="0"/>
                <a:ea typeface="Calibri" pitchFamily="34" charset="-122"/>
                <a:cs typeface="Calibri" pitchFamily="34" charset="-120"/>
              </a:rPr>
              <a:t>L'armoire de l'automate laissée ouverte</a:t>
            </a:r>
            <a:endParaRPr lang="en-US" sz="1450" dirty="0"/>
          </a:p>
        </p:txBody>
      </p:sp>
      <p:sp>
        <p:nvSpPr>
          <p:cNvPr id="26" name="Text 24"/>
          <p:cNvSpPr txBox="1"/>
          <p:nvPr/>
        </p:nvSpPr>
        <p:spPr>
          <a:xfrm>
            <a:off x="5852160" y="4672584"/>
            <a:ext cx="2651760" cy="822960"/>
          </a:xfrm>
          <a:prstGeom prst="rect">
            <a:avLst/>
          </a:prstGeom>
          <a:noFill/>
          <a:ln/>
        </p:spPr>
        <p:txBody>
          <a:bodyPr wrap="square" lIns="0" tIns="0" rIns="0" bIns="0" rtlCol="0" anchor="ctr"/>
          <a:lstStyle/>
          <a:p>
            <a:pPr indent="0" marL="0">
              <a:buNone/>
            </a:pPr>
            <a:r>
              <a:rPr lang="en-US" sz="1250" dirty="0">
                <a:solidFill>
                  <a:srgbClr val="9DABB6"/>
                </a:solidFill>
                <a:latin typeface="Calibri" pitchFamily="34" charset="0"/>
                <a:ea typeface="Calibri" pitchFamily="34" charset="-122"/>
                <a:cs typeface="Calibri" pitchFamily="34" charset="-120"/>
              </a:rPr>
              <a:t>→  On agit directement sur les machines</a:t>
            </a:r>
            <a:endParaRPr lang="en-US" sz="1250" dirty="0"/>
          </a:p>
        </p:txBody>
      </p:sp>
      <p:sp>
        <p:nvSpPr>
          <p:cNvPr id="27" name="Shape 25"/>
          <p:cNvSpPr/>
          <p:nvPr/>
        </p:nvSpPr>
        <p:spPr>
          <a:xfrm>
            <a:off x="8641080" y="4818888"/>
            <a:ext cx="0" cy="530352"/>
          </a:xfrm>
          <a:prstGeom prst="line">
            <a:avLst/>
          </a:prstGeom>
          <a:noFill/>
          <a:ln w="12700">
            <a:solidFill>
              <a:srgbClr val="313D47"/>
            </a:solidFill>
            <a:prstDash val="solid"/>
          </a:ln>
        </p:spPr>
      </p:sp>
      <p:sp>
        <p:nvSpPr>
          <p:cNvPr id="28" name="Text 26"/>
          <p:cNvSpPr txBox="1"/>
          <p:nvPr/>
        </p:nvSpPr>
        <p:spPr>
          <a:xfrm>
            <a:off x="8823960" y="4672584"/>
            <a:ext cx="2788920" cy="822960"/>
          </a:xfrm>
          <a:prstGeom prst="rect">
            <a:avLst/>
          </a:prstGeom>
          <a:noFill/>
          <a:ln/>
        </p:spPr>
        <p:txBody>
          <a:bodyPr wrap="square" lIns="0" tIns="0" rIns="0" bIns="0" rtlCol="0" anchor="ctr"/>
          <a:lstStyle/>
          <a:p>
            <a:pPr indent="0" marL="0">
              <a:buNone/>
            </a:pPr>
            <a:r>
              <a:rPr lang="en-US" sz="1200" dirty="0">
                <a:solidFill>
                  <a:srgbClr val="6FBF95"/>
                </a:solidFill>
                <a:latin typeface="Calibri" pitchFamily="34" charset="0"/>
                <a:ea typeface="Calibri" pitchFamily="34" charset="-122"/>
                <a:cs typeface="Calibri" pitchFamily="34" charset="-120"/>
              </a:rPr>
              <a:t>Armoire à clé, bouton physique de blocage</a:t>
            </a:r>
            <a:endParaRPr lang="en-US" sz="1200" dirty="0"/>
          </a:p>
        </p:txBody>
      </p:sp>
      <p:sp>
        <p:nvSpPr>
          <p:cNvPr id="29" name="Shape 27"/>
          <p:cNvSpPr/>
          <p:nvPr/>
        </p:nvSpPr>
        <p:spPr>
          <a:xfrm>
            <a:off x="502920" y="5605272"/>
            <a:ext cx="11155680" cy="822960"/>
          </a:xfrm>
          <a:prstGeom prst="roundRect">
            <a:avLst>
              <a:gd name="adj" fmla="val 6667"/>
            </a:avLst>
          </a:prstGeom>
          <a:solidFill>
            <a:srgbClr val="1B242C"/>
          </a:solidFill>
          <a:ln w="12700">
            <a:solidFill>
              <a:srgbClr val="313D47"/>
            </a:solidFill>
            <a:prstDash val="solid"/>
          </a:ln>
        </p:spPr>
      </p:sp>
      <p:sp>
        <p:nvSpPr>
          <p:cNvPr id="30" name="Text 28"/>
          <p:cNvSpPr txBox="1"/>
          <p:nvPr/>
        </p:nvSpPr>
        <p:spPr>
          <a:xfrm>
            <a:off x="548640" y="5605272"/>
            <a:ext cx="640080" cy="822960"/>
          </a:xfrm>
          <a:prstGeom prst="rect">
            <a:avLst/>
          </a:prstGeom>
          <a:noFill/>
          <a:ln/>
        </p:spPr>
        <p:txBody>
          <a:bodyPr wrap="square" lIns="0" tIns="0" rIns="0" bIns="0" rtlCol="0" anchor="ctr"/>
          <a:lstStyle/>
          <a:p>
            <a:pPr algn="ctr" indent="0" marL="0">
              <a:buNone/>
            </a:pPr>
            <a:r>
              <a:rPr lang="en-US" sz="2600" b="1" dirty="0">
                <a:solidFill>
                  <a:srgbClr val="E0A64A"/>
                </a:solidFill>
                <a:latin typeface="Cambria" pitchFamily="34" charset="0"/>
                <a:ea typeface="Cambria" pitchFamily="34" charset="-122"/>
                <a:cs typeface="Cambria" pitchFamily="34" charset="-120"/>
              </a:rPr>
              <a:t>7</a:t>
            </a:r>
            <a:endParaRPr lang="en-US" sz="2600" dirty="0"/>
          </a:p>
        </p:txBody>
      </p:sp>
      <p:sp>
        <p:nvSpPr>
          <p:cNvPr id="31" name="Text 29"/>
          <p:cNvSpPr txBox="1"/>
          <p:nvPr/>
        </p:nvSpPr>
        <p:spPr>
          <a:xfrm>
            <a:off x="1280160" y="5605272"/>
            <a:ext cx="4480560" cy="822960"/>
          </a:xfrm>
          <a:prstGeom prst="rect">
            <a:avLst/>
          </a:prstGeom>
          <a:noFill/>
          <a:ln/>
        </p:spPr>
        <p:txBody>
          <a:bodyPr wrap="square" lIns="0" tIns="0" rIns="0" bIns="0" rtlCol="0" anchor="ctr"/>
          <a:lstStyle/>
          <a:p>
            <a:pPr indent="0" marL="0">
              <a:buNone/>
            </a:pPr>
            <a:r>
              <a:rPr lang="en-US" sz="1450" dirty="0">
                <a:solidFill>
                  <a:srgbClr val="ECF1F5"/>
                </a:solidFill>
                <a:latin typeface="Calibri" pitchFamily="34" charset="0"/>
                <a:ea typeface="Calibri" pitchFamily="34" charset="-122"/>
                <a:cs typeface="Calibri" pitchFamily="34" charset="-120"/>
              </a:rPr>
              <a:t>L'écran de supervision utilisable sans se connecter</a:t>
            </a:r>
            <a:endParaRPr lang="en-US" sz="1450" dirty="0"/>
          </a:p>
        </p:txBody>
      </p:sp>
      <p:sp>
        <p:nvSpPr>
          <p:cNvPr id="32" name="Text 30"/>
          <p:cNvSpPr txBox="1"/>
          <p:nvPr/>
        </p:nvSpPr>
        <p:spPr>
          <a:xfrm>
            <a:off x="5852160" y="5605272"/>
            <a:ext cx="2651760" cy="822960"/>
          </a:xfrm>
          <a:prstGeom prst="rect">
            <a:avLst/>
          </a:prstGeom>
          <a:noFill/>
          <a:ln/>
        </p:spPr>
        <p:txBody>
          <a:bodyPr wrap="square" lIns="0" tIns="0" rIns="0" bIns="0" rtlCol="0" anchor="ctr"/>
          <a:lstStyle/>
          <a:p>
            <a:pPr indent="0" marL="0">
              <a:buNone/>
            </a:pPr>
            <a:r>
              <a:rPr lang="en-US" sz="1250" dirty="0">
                <a:solidFill>
                  <a:srgbClr val="9DABB6"/>
                </a:solidFill>
                <a:latin typeface="Calibri" pitchFamily="34" charset="0"/>
                <a:ea typeface="Calibri" pitchFamily="34" charset="-122"/>
                <a:cs typeface="Calibri" pitchFamily="34" charset="-120"/>
              </a:rPr>
              <a:t>→  On pilote l'usine sans mot de passe</a:t>
            </a:r>
            <a:endParaRPr lang="en-US" sz="1250" dirty="0"/>
          </a:p>
        </p:txBody>
      </p:sp>
      <p:sp>
        <p:nvSpPr>
          <p:cNvPr id="33" name="Shape 31"/>
          <p:cNvSpPr/>
          <p:nvPr/>
        </p:nvSpPr>
        <p:spPr>
          <a:xfrm>
            <a:off x="8641080" y="5751576"/>
            <a:ext cx="0" cy="530352"/>
          </a:xfrm>
          <a:prstGeom prst="line">
            <a:avLst/>
          </a:prstGeom>
          <a:noFill/>
          <a:ln w="12700">
            <a:solidFill>
              <a:srgbClr val="313D47"/>
            </a:solidFill>
            <a:prstDash val="solid"/>
          </a:ln>
        </p:spPr>
      </p:sp>
      <p:sp>
        <p:nvSpPr>
          <p:cNvPr id="34" name="Text 32"/>
          <p:cNvSpPr txBox="1"/>
          <p:nvPr/>
        </p:nvSpPr>
        <p:spPr>
          <a:xfrm>
            <a:off x="8823960" y="5605272"/>
            <a:ext cx="2788920" cy="822960"/>
          </a:xfrm>
          <a:prstGeom prst="rect">
            <a:avLst/>
          </a:prstGeom>
          <a:noFill/>
          <a:ln/>
        </p:spPr>
        <p:txBody>
          <a:bodyPr wrap="square" lIns="0" tIns="0" rIns="0" bIns="0" rtlCol="0" anchor="ctr"/>
          <a:lstStyle/>
          <a:p>
            <a:pPr indent="0" marL="0">
              <a:buNone/>
            </a:pPr>
            <a:r>
              <a:rPr lang="en-US" sz="1200" dirty="0">
                <a:solidFill>
                  <a:srgbClr val="6FBF95"/>
                </a:solidFill>
                <a:latin typeface="Calibri" pitchFamily="34" charset="0"/>
                <a:ea typeface="Calibri" pitchFamily="34" charset="-122"/>
                <a:cs typeface="Calibri" pitchFamily="34" charset="-120"/>
              </a:rPr>
              <a:t>Session qui se verrouille, connexion obligatoire</a:t>
            </a:r>
            <a:endParaRPr lang="en-US" sz="1200" dirty="0"/>
          </a:p>
        </p:txBody>
      </p:sp>
      <p:sp>
        <p:nvSpPr>
          <p:cNvPr id="35" name="Text 33"/>
          <p:cNvSpPr txBox="1"/>
          <p:nvPr/>
        </p:nvSpPr>
        <p:spPr>
          <a:xfrm>
            <a:off x="502920" y="5989320"/>
            <a:ext cx="11155680" cy="365760"/>
          </a:xfrm>
          <a:prstGeom prst="rect">
            <a:avLst/>
          </a:prstGeom>
          <a:noFill/>
          <a:ln/>
        </p:spPr>
        <p:txBody>
          <a:bodyPr wrap="square" lIns="0" tIns="0" rIns="0" bIns="0" rtlCol="0" anchor="ctr"/>
          <a:lstStyle/>
          <a:p>
            <a:pPr indent="0" marL="0">
              <a:buNone/>
            </a:pPr>
            <a:r>
              <a:rPr lang="en-US" sz="1200" i="1" dirty="0">
                <a:solidFill>
                  <a:srgbClr val="6E7C87"/>
                </a:solidFill>
                <a:latin typeface="Calibri" pitchFamily="34" charset="0"/>
                <a:ea typeface="Calibri" pitchFamily="34" charset="-122"/>
                <a:cs typeface="Calibri" pitchFamily="34" charset="-120"/>
              </a:rPr>
              <a:t>Presque tout relève de l'habitude, pas de la technique → la meilleure parade est la formation des équipes.</a:t>
            </a:r>
            <a:endParaRPr lang="en-US" sz="1200" dirty="0"/>
          </a:p>
        </p:txBody>
      </p:sp>
      <p:sp>
        <p:nvSpPr>
          <p:cNvPr id="36" name="Text 34"/>
          <p:cNvSpPr txBox="1"/>
          <p:nvPr/>
        </p:nvSpPr>
        <p:spPr>
          <a:xfrm>
            <a:off x="502920" y="6355080"/>
            <a:ext cx="11155680" cy="274320"/>
          </a:xfrm>
          <a:prstGeom prst="rect">
            <a:avLst/>
          </a:prstGeom>
          <a:noFill/>
          <a:ln/>
        </p:spPr>
        <p:txBody>
          <a:bodyPr wrap="square" lIns="0" tIns="0" rIns="0" bIns="0" rtlCol="0" anchor="ctr"/>
          <a:lstStyle/>
          <a:p>
            <a:pPr indent="0" marL="0">
              <a:buNone/>
            </a:pPr>
            <a:r>
              <a:rPr lang="en-US" sz="950" dirty="0">
                <a:solidFill>
                  <a:srgbClr val="6E7C87"/>
                </a:solidFill>
                <a:latin typeface="Calibri" pitchFamily="34" charset="0"/>
                <a:ea typeface="Calibri" pitchFamily="34" charset="-122"/>
                <a:cs typeface="Calibri" pitchFamily="34" charset="-120"/>
              </a:rPr>
              <a:t>Vulnérabilités · 1/3 — Physiques</a:t>
            </a:r>
            <a:pPr indent="0" marL="0">
              <a:buNone/>
            </a:pPr>
            <a:r>
              <a:rPr lang="en-US" sz="950" dirty="0">
                <a:solidFill>
                  <a:srgbClr val="6E7C87"/>
                </a:solidFill>
                <a:latin typeface="Calibri" pitchFamily="34" charset="0"/>
                <a:ea typeface="Calibri" pitchFamily="34" charset="-122"/>
                <a:cs typeface="Calibri" pitchFamily="34" charset="-120"/>
              </a:rPr>
              <a:t>        L'attaque a commencé ici : les mots de passe ont été ramassés à la main</a:t>
            </a:r>
            <a:endParaRPr lang="en-US" sz="950" dirty="0"/>
          </a:p>
        </p:txBody>
      </p:sp>
      <p:sp>
        <p:nvSpPr>
          <p:cNvPr id="37" name="Shape 35"/>
          <p:cNvSpPr/>
          <p:nvPr/>
        </p:nvSpPr>
        <p:spPr>
          <a:xfrm>
            <a:off x="502920" y="6291072"/>
            <a:ext cx="11155680" cy="0"/>
          </a:xfrm>
          <a:prstGeom prst="line">
            <a:avLst/>
          </a:prstGeom>
          <a:noFill/>
          <a:ln w="12700">
            <a:solidFill>
              <a:srgbClr val="313D4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0A64A"/>
          </a:solidFill>
          <a:ln/>
        </p:spPr>
      </p:sp>
      <p:sp>
        <p:nvSpPr>
          <p:cNvPr id="3" name="Text 1"/>
          <p:cNvSpPr txBox="1"/>
          <p:nvPr/>
        </p:nvSpPr>
        <p:spPr>
          <a:xfrm>
            <a:off x="502920" y="384048"/>
            <a:ext cx="11155680" cy="292608"/>
          </a:xfrm>
          <a:prstGeom prst="rect">
            <a:avLst/>
          </a:prstGeom>
          <a:noFill/>
          <a:ln/>
        </p:spPr>
        <p:txBody>
          <a:bodyPr wrap="square" lIns="0" tIns="0" rIns="0" bIns="0" rtlCol="0" anchor="ctr"/>
          <a:lstStyle/>
          <a:p>
            <a:pPr indent="0" marL="0">
              <a:buNone/>
            </a:pPr>
            <a:r>
              <a:rPr lang="en-US" sz="1100" b="1" spc="200" kern="0" dirty="0">
                <a:solidFill>
                  <a:srgbClr val="E0A64A"/>
                </a:solidFill>
                <a:latin typeface="Calibri" pitchFamily="34" charset="0"/>
                <a:ea typeface="Calibri" pitchFamily="34" charset="-122"/>
                <a:cs typeface="Calibri" pitchFamily="34" charset="-120"/>
              </a:rPr>
              <a:t>BARÈME /4</a:t>
            </a:r>
            <a:pPr indent="0" marL="0">
              <a:buNone/>
            </a:pPr>
            <a:r>
              <a:rPr lang="en-US" sz="1100" spc="200" kern="0" dirty="0">
                <a:solidFill>
                  <a:srgbClr val="6E7C87"/>
                </a:solidFill>
                <a:latin typeface="Calibri" pitchFamily="34" charset="0"/>
                <a:ea typeface="Calibri" pitchFamily="34" charset="-122"/>
                <a:cs typeface="Calibri" pitchFamily="34" charset="-120"/>
              </a:rPr>
              <a:t>   LES FAILLES INFORMATIQUES — EXPLIQUÉES SIMPLEMENT</a:t>
            </a:r>
            <a:endParaRPr lang="en-US" sz="1100" dirty="0"/>
          </a:p>
        </p:txBody>
      </p:sp>
      <p:sp>
        <p:nvSpPr>
          <p:cNvPr id="4" name="Text 2"/>
          <p:cNvSpPr txBox="1"/>
          <p:nvPr/>
        </p:nvSpPr>
        <p:spPr>
          <a:xfrm>
            <a:off x="502920" y="786384"/>
            <a:ext cx="11155680" cy="914400"/>
          </a:xfrm>
          <a:prstGeom prst="rect">
            <a:avLst/>
          </a:prstGeom>
          <a:noFill/>
          <a:ln/>
        </p:spPr>
        <p:txBody>
          <a:bodyPr wrap="square" lIns="0" tIns="0" rIns="0" bIns="0" rtlCol="0" anchor="t"/>
          <a:lstStyle/>
          <a:p>
            <a:pPr indent="0" marL="0">
              <a:lnSpc>
                <a:spcPct val="98000"/>
              </a:lnSpc>
              <a:buNone/>
            </a:pPr>
            <a:r>
              <a:rPr lang="en-US" sz="3200" b="1" dirty="0">
                <a:solidFill>
                  <a:srgbClr val="ECF1F5"/>
                </a:solidFill>
                <a:latin typeface="Cambria" pitchFamily="34" charset="0"/>
                <a:ea typeface="Cambria" pitchFamily="34" charset="-122"/>
                <a:cs typeface="Cambria" pitchFamily="34" charset="-120"/>
              </a:rPr>
              <a:t>4 failles mènent du bureau jusqu'à l'explosion</a:t>
            </a:r>
            <a:endParaRPr lang="en-US" sz="3200" dirty="0"/>
          </a:p>
        </p:txBody>
      </p:sp>
      <p:sp>
        <p:nvSpPr>
          <p:cNvPr id="5" name="Shape 3"/>
          <p:cNvSpPr/>
          <p:nvPr/>
        </p:nvSpPr>
        <p:spPr>
          <a:xfrm>
            <a:off x="502920" y="1828800"/>
            <a:ext cx="5468112" cy="2011680"/>
          </a:xfrm>
          <a:prstGeom prst="roundRect">
            <a:avLst>
              <a:gd name="adj" fmla="val 2727"/>
            </a:avLst>
          </a:prstGeom>
          <a:solidFill>
            <a:srgbClr val="1B242C"/>
          </a:solidFill>
          <a:ln w="12700">
            <a:solidFill>
              <a:srgbClr val="313D47"/>
            </a:solidFill>
            <a:prstDash val="solid"/>
          </a:ln>
        </p:spPr>
      </p:sp>
      <p:sp>
        <p:nvSpPr>
          <p:cNvPr id="6" name="Shape 4"/>
          <p:cNvSpPr/>
          <p:nvPr/>
        </p:nvSpPr>
        <p:spPr>
          <a:xfrm>
            <a:off x="502920" y="1828800"/>
            <a:ext cx="73152" cy="2011680"/>
          </a:xfrm>
          <a:prstGeom prst="rect">
            <a:avLst/>
          </a:prstGeom>
          <a:solidFill>
            <a:srgbClr val="E4796F"/>
          </a:solidFill>
          <a:ln/>
        </p:spPr>
      </p:sp>
      <p:sp>
        <p:nvSpPr>
          <p:cNvPr id="7" name="Text 5"/>
          <p:cNvSpPr txBox="1"/>
          <p:nvPr/>
        </p:nvSpPr>
        <p:spPr>
          <a:xfrm>
            <a:off x="740664" y="1975104"/>
            <a:ext cx="4992624" cy="475488"/>
          </a:xfrm>
          <a:prstGeom prst="rect">
            <a:avLst/>
          </a:prstGeom>
          <a:noFill/>
          <a:ln/>
        </p:spPr>
        <p:txBody>
          <a:bodyPr wrap="square" lIns="0" tIns="0" rIns="0" bIns="0" rtlCol="0" anchor="t"/>
          <a:lstStyle/>
          <a:p>
            <a:pPr indent="0" marL="0">
              <a:lnSpc>
                <a:spcPct val="95000"/>
              </a:lnSpc>
              <a:buNone/>
            </a:pPr>
            <a:r>
              <a:rPr lang="en-US" sz="1550" b="1" dirty="0">
                <a:solidFill>
                  <a:srgbClr val="ECF1F5"/>
                </a:solidFill>
                <a:latin typeface="Calibri" pitchFamily="34" charset="0"/>
                <a:ea typeface="Calibri" pitchFamily="34" charset="-122"/>
                <a:cs typeface="Calibri" pitchFamily="34" charset="-120"/>
              </a:rPr>
              <a:t>Le filtre entre les bureaux et l'usine laisse tout passer</a:t>
            </a:r>
            <a:endParaRPr lang="en-US" sz="1550" dirty="0"/>
          </a:p>
        </p:txBody>
      </p:sp>
      <p:sp>
        <p:nvSpPr>
          <p:cNvPr id="8" name="Text 6"/>
          <p:cNvSpPr txBox="1"/>
          <p:nvPr/>
        </p:nvSpPr>
        <p:spPr>
          <a:xfrm>
            <a:off x="740664" y="2450592"/>
            <a:ext cx="4992624" cy="182880"/>
          </a:xfrm>
          <a:prstGeom prst="rect">
            <a:avLst/>
          </a:prstGeom>
          <a:noFill/>
          <a:ln/>
        </p:spPr>
        <p:txBody>
          <a:bodyPr wrap="square" lIns="0" tIns="0" rIns="0" bIns="0" rtlCol="0" anchor="t"/>
          <a:lstStyle/>
          <a:p>
            <a:pPr indent="0" marL="0">
              <a:buNone/>
            </a:pPr>
            <a:r>
              <a:rPr lang="en-US" sz="1000" dirty="0">
                <a:solidFill>
                  <a:srgbClr val="E4796F"/>
                </a:solidFill>
                <a:latin typeface="Calibri" pitchFamily="34" charset="0"/>
                <a:ea typeface="Calibri" pitchFamily="34" charset="-122"/>
                <a:cs typeface="Calibri" pitchFamily="34" charset="-120"/>
              </a:rPr>
              <a:t>V1 — pare-feu ouvert</a:t>
            </a:r>
            <a:endParaRPr lang="en-US" sz="1000" dirty="0"/>
          </a:p>
        </p:txBody>
      </p:sp>
      <p:sp>
        <p:nvSpPr>
          <p:cNvPr id="9" name="Text 7"/>
          <p:cNvSpPr txBox="1"/>
          <p:nvPr/>
        </p:nvSpPr>
        <p:spPr>
          <a:xfrm>
            <a:off x="740664" y="2706624"/>
            <a:ext cx="4992624" cy="713232"/>
          </a:xfrm>
          <a:prstGeom prst="rect">
            <a:avLst/>
          </a:prstGeom>
          <a:noFill/>
          <a:ln/>
        </p:spPr>
        <p:txBody>
          <a:bodyPr wrap="square" lIns="0" tIns="0" rIns="0" bIns="0" rtlCol="0" anchor="t"/>
          <a:lstStyle/>
          <a:p>
            <a:pPr indent="0" marL="0">
              <a:buNone/>
            </a:pPr>
            <a:r>
              <a:rPr lang="en-US" sz="1350" dirty="0">
                <a:solidFill>
                  <a:srgbClr val="9DABB6"/>
                </a:solidFill>
                <a:latin typeface="Calibri" pitchFamily="34" charset="0"/>
                <a:ea typeface="Calibri" pitchFamily="34" charset="-122"/>
                <a:cs typeface="Calibri" pitchFamily="34" charset="-120"/>
              </a:rPr>
              <a:t>Il a été réglé sur « autorise tout le monde » pour un test, et jamais remis en place.</a:t>
            </a:r>
            <a:endParaRPr lang="en-US" sz="1350" dirty="0"/>
          </a:p>
        </p:txBody>
      </p:sp>
      <p:sp>
        <p:nvSpPr>
          <p:cNvPr id="10" name="Text 8"/>
          <p:cNvSpPr txBox="1"/>
          <p:nvPr/>
        </p:nvSpPr>
        <p:spPr>
          <a:xfrm>
            <a:off x="740664" y="3474720"/>
            <a:ext cx="4992624" cy="274320"/>
          </a:xfrm>
          <a:prstGeom prst="rect">
            <a:avLst/>
          </a:prstGeom>
          <a:noFill/>
          <a:ln/>
        </p:spPr>
        <p:txBody>
          <a:bodyPr wrap="square" lIns="0" tIns="0" rIns="0" bIns="0" rtlCol="0" anchor="ctr"/>
          <a:lstStyle/>
          <a:p>
            <a:pPr indent="0" marL="0">
              <a:buNone/>
            </a:pPr>
            <a:r>
              <a:rPr lang="en-US" sz="1250" b="1" dirty="0">
                <a:solidFill>
                  <a:srgbClr val="6FBF95"/>
                </a:solidFill>
                <a:latin typeface="Calibri" pitchFamily="34" charset="0"/>
                <a:ea typeface="Calibri" pitchFamily="34" charset="-122"/>
                <a:cs typeface="Calibri" pitchFamily="34" charset="-120"/>
              </a:rPr>
              <a:t>→  </a:t>
            </a:r>
            <a:pPr indent="0" marL="0">
              <a:buNone/>
            </a:pPr>
            <a:r>
              <a:rPr lang="en-US" sz="1250" dirty="0">
                <a:solidFill>
                  <a:srgbClr val="6FBF95"/>
                </a:solidFill>
                <a:latin typeface="Calibri" pitchFamily="34" charset="0"/>
                <a:ea typeface="Calibri" pitchFamily="34" charset="-122"/>
                <a:cs typeface="Calibri" pitchFamily="34" charset="-120"/>
              </a:rPr>
              <a:t>On bloque tout par défaut, on n'ouvre que le strict nécessaire</a:t>
            </a:r>
            <a:endParaRPr lang="en-US" sz="1250" dirty="0"/>
          </a:p>
        </p:txBody>
      </p:sp>
      <p:sp>
        <p:nvSpPr>
          <p:cNvPr id="11" name="Shape 9"/>
          <p:cNvSpPr/>
          <p:nvPr/>
        </p:nvSpPr>
        <p:spPr>
          <a:xfrm>
            <a:off x="6190488" y="1828800"/>
            <a:ext cx="5468112" cy="2011680"/>
          </a:xfrm>
          <a:prstGeom prst="roundRect">
            <a:avLst>
              <a:gd name="adj" fmla="val 2727"/>
            </a:avLst>
          </a:prstGeom>
          <a:solidFill>
            <a:srgbClr val="1B242C"/>
          </a:solidFill>
          <a:ln w="12700">
            <a:solidFill>
              <a:srgbClr val="313D47"/>
            </a:solidFill>
            <a:prstDash val="solid"/>
          </a:ln>
        </p:spPr>
      </p:sp>
      <p:sp>
        <p:nvSpPr>
          <p:cNvPr id="12" name="Shape 10"/>
          <p:cNvSpPr/>
          <p:nvPr/>
        </p:nvSpPr>
        <p:spPr>
          <a:xfrm>
            <a:off x="6190488" y="1828800"/>
            <a:ext cx="73152" cy="2011680"/>
          </a:xfrm>
          <a:prstGeom prst="rect">
            <a:avLst/>
          </a:prstGeom>
          <a:solidFill>
            <a:srgbClr val="E4796F"/>
          </a:solidFill>
          <a:ln/>
        </p:spPr>
      </p:sp>
      <p:sp>
        <p:nvSpPr>
          <p:cNvPr id="13" name="Text 11"/>
          <p:cNvSpPr txBox="1"/>
          <p:nvPr/>
        </p:nvSpPr>
        <p:spPr>
          <a:xfrm>
            <a:off x="6428232" y="1975104"/>
            <a:ext cx="4992624" cy="475488"/>
          </a:xfrm>
          <a:prstGeom prst="rect">
            <a:avLst/>
          </a:prstGeom>
          <a:noFill/>
          <a:ln/>
        </p:spPr>
        <p:txBody>
          <a:bodyPr wrap="square" lIns="0" tIns="0" rIns="0" bIns="0" rtlCol="0" anchor="t"/>
          <a:lstStyle/>
          <a:p>
            <a:pPr indent="0" marL="0">
              <a:lnSpc>
                <a:spcPct val="95000"/>
              </a:lnSpc>
              <a:buNone/>
            </a:pPr>
            <a:r>
              <a:rPr lang="en-US" sz="1550" b="1" dirty="0">
                <a:solidFill>
                  <a:srgbClr val="ECF1F5"/>
                </a:solidFill>
                <a:latin typeface="Calibri" pitchFamily="34" charset="0"/>
                <a:ea typeface="Calibri" pitchFamily="34" charset="-122"/>
                <a:cs typeface="Calibri" pitchFamily="34" charset="-120"/>
              </a:rPr>
              <a:t>Les ordres envoyés aux machines ne sont pas vérifiés</a:t>
            </a:r>
            <a:endParaRPr lang="en-US" sz="1550" dirty="0"/>
          </a:p>
        </p:txBody>
      </p:sp>
      <p:sp>
        <p:nvSpPr>
          <p:cNvPr id="14" name="Text 12"/>
          <p:cNvSpPr txBox="1"/>
          <p:nvPr/>
        </p:nvSpPr>
        <p:spPr>
          <a:xfrm>
            <a:off x="6428232" y="2450592"/>
            <a:ext cx="4992624" cy="182880"/>
          </a:xfrm>
          <a:prstGeom prst="rect">
            <a:avLst/>
          </a:prstGeom>
          <a:noFill/>
          <a:ln/>
        </p:spPr>
        <p:txBody>
          <a:bodyPr wrap="square" lIns="0" tIns="0" rIns="0" bIns="0" rtlCol="0" anchor="t"/>
          <a:lstStyle/>
          <a:p>
            <a:pPr indent="0" marL="0">
              <a:buNone/>
            </a:pPr>
            <a:r>
              <a:rPr lang="en-US" sz="1000" dirty="0">
                <a:solidFill>
                  <a:srgbClr val="E4796F"/>
                </a:solidFill>
                <a:latin typeface="Calibri" pitchFamily="34" charset="0"/>
                <a:ea typeface="Calibri" pitchFamily="34" charset="-122"/>
                <a:cs typeface="Calibri" pitchFamily="34" charset="-120"/>
              </a:rPr>
              <a:t>V3 — Modbus sans authentification</a:t>
            </a:r>
            <a:endParaRPr lang="en-US" sz="1000" dirty="0"/>
          </a:p>
        </p:txBody>
      </p:sp>
      <p:sp>
        <p:nvSpPr>
          <p:cNvPr id="15" name="Text 13"/>
          <p:cNvSpPr txBox="1"/>
          <p:nvPr/>
        </p:nvSpPr>
        <p:spPr>
          <a:xfrm>
            <a:off x="6428232" y="2706624"/>
            <a:ext cx="4992624" cy="713232"/>
          </a:xfrm>
          <a:prstGeom prst="rect">
            <a:avLst/>
          </a:prstGeom>
          <a:noFill/>
          <a:ln/>
        </p:spPr>
        <p:txBody>
          <a:bodyPr wrap="square" lIns="0" tIns="0" rIns="0" bIns="0" rtlCol="0" anchor="t"/>
          <a:lstStyle/>
          <a:p>
            <a:pPr indent="0" marL="0">
              <a:buNone/>
            </a:pPr>
            <a:r>
              <a:rPr lang="en-US" sz="1350" dirty="0">
                <a:solidFill>
                  <a:srgbClr val="9DABB6"/>
                </a:solidFill>
                <a:latin typeface="Calibri" pitchFamily="34" charset="0"/>
                <a:ea typeface="Calibri" pitchFamily="34" charset="-122"/>
                <a:cs typeface="Calibri" pitchFamily="34" charset="-120"/>
              </a:rPr>
              <a:t>N'importe qui peut commander une vanne : rien ne vérifie qui envoie l'ordre, et tout circule en clair.</a:t>
            </a:r>
            <a:endParaRPr lang="en-US" sz="1350" dirty="0"/>
          </a:p>
        </p:txBody>
      </p:sp>
      <p:sp>
        <p:nvSpPr>
          <p:cNvPr id="16" name="Text 14"/>
          <p:cNvSpPr txBox="1"/>
          <p:nvPr/>
        </p:nvSpPr>
        <p:spPr>
          <a:xfrm>
            <a:off x="6428232" y="3474720"/>
            <a:ext cx="4992624" cy="274320"/>
          </a:xfrm>
          <a:prstGeom prst="rect">
            <a:avLst/>
          </a:prstGeom>
          <a:noFill/>
          <a:ln/>
        </p:spPr>
        <p:txBody>
          <a:bodyPr wrap="square" lIns="0" tIns="0" rIns="0" bIns="0" rtlCol="0" anchor="ctr"/>
          <a:lstStyle/>
          <a:p>
            <a:pPr indent="0" marL="0">
              <a:buNone/>
            </a:pPr>
            <a:r>
              <a:rPr lang="en-US" sz="1250" b="1" dirty="0">
                <a:solidFill>
                  <a:srgbClr val="6FBF95"/>
                </a:solidFill>
                <a:latin typeface="Calibri" pitchFamily="34" charset="0"/>
                <a:ea typeface="Calibri" pitchFamily="34" charset="-122"/>
                <a:cs typeface="Calibri" pitchFamily="34" charset="-120"/>
              </a:rPr>
              <a:t>→  </a:t>
            </a:r>
            <a:pPr indent="0" marL="0">
              <a:buNone/>
            </a:pPr>
            <a:r>
              <a:rPr lang="en-US" sz="1250" dirty="0">
                <a:solidFill>
                  <a:srgbClr val="6FBF95"/>
                </a:solidFill>
                <a:latin typeface="Calibri" pitchFamily="34" charset="0"/>
                <a:ea typeface="Calibri" pitchFamily="34" charset="-122"/>
                <a:cs typeface="Calibri" pitchFamily="34" charset="-120"/>
              </a:rPr>
              <a:t>Un filtre qui comprend ces ordres et n'autorise que les bons</a:t>
            </a:r>
            <a:endParaRPr lang="en-US" sz="1250" dirty="0"/>
          </a:p>
        </p:txBody>
      </p:sp>
      <p:sp>
        <p:nvSpPr>
          <p:cNvPr id="17" name="Shape 15"/>
          <p:cNvSpPr/>
          <p:nvPr/>
        </p:nvSpPr>
        <p:spPr>
          <a:xfrm>
            <a:off x="502920" y="4059936"/>
            <a:ext cx="5468112" cy="2011680"/>
          </a:xfrm>
          <a:prstGeom prst="roundRect">
            <a:avLst>
              <a:gd name="adj" fmla="val 2727"/>
            </a:avLst>
          </a:prstGeom>
          <a:solidFill>
            <a:srgbClr val="1B242C"/>
          </a:solidFill>
          <a:ln w="12700">
            <a:solidFill>
              <a:srgbClr val="313D47"/>
            </a:solidFill>
            <a:prstDash val="solid"/>
          </a:ln>
        </p:spPr>
      </p:sp>
      <p:sp>
        <p:nvSpPr>
          <p:cNvPr id="18" name="Shape 16"/>
          <p:cNvSpPr/>
          <p:nvPr/>
        </p:nvSpPr>
        <p:spPr>
          <a:xfrm>
            <a:off x="502920" y="4059936"/>
            <a:ext cx="73152" cy="2011680"/>
          </a:xfrm>
          <a:prstGeom prst="rect">
            <a:avLst/>
          </a:prstGeom>
          <a:solidFill>
            <a:srgbClr val="E0A64A"/>
          </a:solidFill>
          <a:ln/>
        </p:spPr>
      </p:sp>
      <p:sp>
        <p:nvSpPr>
          <p:cNvPr id="19" name="Text 17"/>
          <p:cNvSpPr txBox="1"/>
          <p:nvPr/>
        </p:nvSpPr>
        <p:spPr>
          <a:xfrm>
            <a:off x="740664" y="4206240"/>
            <a:ext cx="4992624" cy="475488"/>
          </a:xfrm>
          <a:prstGeom prst="rect">
            <a:avLst/>
          </a:prstGeom>
          <a:noFill/>
          <a:ln/>
        </p:spPr>
        <p:txBody>
          <a:bodyPr wrap="square" lIns="0" tIns="0" rIns="0" bIns="0" rtlCol="0" anchor="t"/>
          <a:lstStyle/>
          <a:p>
            <a:pPr indent="0" marL="0">
              <a:lnSpc>
                <a:spcPct val="95000"/>
              </a:lnSpc>
              <a:buNone/>
            </a:pPr>
            <a:r>
              <a:rPr lang="en-US" sz="1550" b="1" dirty="0">
                <a:solidFill>
                  <a:srgbClr val="ECF1F5"/>
                </a:solidFill>
                <a:latin typeface="Calibri" pitchFamily="34" charset="0"/>
                <a:ea typeface="Calibri" pitchFamily="34" charset="-122"/>
                <a:cs typeface="Calibri" pitchFamily="34" charset="-120"/>
              </a:rPr>
              <a:t>Personne ne surveille, rien n'est enregistré</a:t>
            </a:r>
            <a:endParaRPr lang="en-US" sz="1550" dirty="0"/>
          </a:p>
        </p:txBody>
      </p:sp>
      <p:sp>
        <p:nvSpPr>
          <p:cNvPr id="20" name="Text 18"/>
          <p:cNvSpPr txBox="1"/>
          <p:nvPr/>
        </p:nvSpPr>
        <p:spPr>
          <a:xfrm>
            <a:off x="740664" y="4681728"/>
            <a:ext cx="4992624" cy="182880"/>
          </a:xfrm>
          <a:prstGeom prst="rect">
            <a:avLst/>
          </a:prstGeom>
          <a:noFill/>
          <a:ln/>
        </p:spPr>
        <p:txBody>
          <a:bodyPr wrap="square" lIns="0" tIns="0" rIns="0" bIns="0" rtlCol="0" anchor="t"/>
          <a:lstStyle/>
          <a:p>
            <a:pPr indent="0" marL="0">
              <a:buNone/>
            </a:pPr>
            <a:r>
              <a:rPr lang="en-US" sz="1000" dirty="0">
                <a:solidFill>
                  <a:srgbClr val="E0A64A"/>
                </a:solidFill>
                <a:latin typeface="Calibri" pitchFamily="34" charset="0"/>
                <a:ea typeface="Calibri" pitchFamily="34" charset="-122"/>
                <a:cs typeface="Calibri" pitchFamily="34" charset="-120"/>
              </a:rPr>
              <a:t>V7 · V8 — ni détection, ni journalisation</a:t>
            </a:r>
            <a:endParaRPr lang="en-US" sz="1000" dirty="0"/>
          </a:p>
        </p:txBody>
      </p:sp>
      <p:sp>
        <p:nvSpPr>
          <p:cNvPr id="21" name="Text 19"/>
          <p:cNvSpPr txBox="1"/>
          <p:nvPr/>
        </p:nvSpPr>
        <p:spPr>
          <a:xfrm>
            <a:off x="740664" y="4937760"/>
            <a:ext cx="4992624" cy="713232"/>
          </a:xfrm>
          <a:prstGeom prst="rect">
            <a:avLst/>
          </a:prstGeom>
          <a:noFill/>
          <a:ln/>
        </p:spPr>
        <p:txBody>
          <a:bodyPr wrap="square" lIns="0" tIns="0" rIns="0" bIns="0" rtlCol="0" anchor="t"/>
          <a:lstStyle/>
          <a:p>
            <a:pPr indent="0" marL="0">
              <a:buNone/>
            </a:pPr>
            <a:r>
              <a:rPr lang="en-US" sz="1350" dirty="0">
                <a:solidFill>
                  <a:srgbClr val="9DABB6"/>
                </a:solidFill>
                <a:latin typeface="Calibri" pitchFamily="34" charset="0"/>
                <a:ea typeface="Calibri" pitchFamily="34" charset="-122"/>
                <a:cs typeface="Calibri" pitchFamily="34" charset="-120"/>
              </a:rPr>
              <a:t>Aucun outil ne regarde le réseau de l'usine, et aucun historique n'est conservé.</a:t>
            </a:r>
            <a:endParaRPr lang="en-US" sz="1350" dirty="0"/>
          </a:p>
        </p:txBody>
      </p:sp>
      <p:sp>
        <p:nvSpPr>
          <p:cNvPr id="22" name="Text 20"/>
          <p:cNvSpPr txBox="1"/>
          <p:nvPr/>
        </p:nvSpPr>
        <p:spPr>
          <a:xfrm>
            <a:off x="740664" y="5705856"/>
            <a:ext cx="4992624" cy="274320"/>
          </a:xfrm>
          <a:prstGeom prst="rect">
            <a:avLst/>
          </a:prstGeom>
          <a:noFill/>
          <a:ln/>
        </p:spPr>
        <p:txBody>
          <a:bodyPr wrap="square" lIns="0" tIns="0" rIns="0" bIns="0" rtlCol="0" anchor="ctr"/>
          <a:lstStyle/>
          <a:p>
            <a:pPr indent="0" marL="0">
              <a:buNone/>
            </a:pPr>
            <a:r>
              <a:rPr lang="en-US" sz="1250" b="1" dirty="0">
                <a:solidFill>
                  <a:srgbClr val="6FBF95"/>
                </a:solidFill>
                <a:latin typeface="Calibri" pitchFamily="34" charset="0"/>
                <a:ea typeface="Calibri" pitchFamily="34" charset="-122"/>
                <a:cs typeface="Calibri" pitchFamily="34" charset="-120"/>
              </a:rPr>
              <a:t>→  </a:t>
            </a:r>
            <a:pPr indent="0" marL="0">
              <a:buNone/>
            </a:pPr>
            <a:r>
              <a:rPr lang="en-US" sz="1250" dirty="0">
                <a:solidFill>
                  <a:srgbClr val="6FBF95"/>
                </a:solidFill>
                <a:latin typeface="Calibri" pitchFamily="34" charset="0"/>
                <a:ea typeface="Calibri" pitchFamily="34" charset="-122"/>
                <a:cs typeface="Calibri" pitchFamily="34" charset="-120"/>
              </a:rPr>
              <a:t>Une sonde sur le réseau industriel + un collecteur central</a:t>
            </a:r>
            <a:endParaRPr lang="en-US" sz="1250" dirty="0"/>
          </a:p>
        </p:txBody>
      </p:sp>
      <p:sp>
        <p:nvSpPr>
          <p:cNvPr id="23" name="Shape 21"/>
          <p:cNvSpPr/>
          <p:nvPr/>
        </p:nvSpPr>
        <p:spPr>
          <a:xfrm>
            <a:off x="6190488" y="4059936"/>
            <a:ext cx="5468112" cy="2011680"/>
          </a:xfrm>
          <a:prstGeom prst="roundRect">
            <a:avLst>
              <a:gd name="adj" fmla="val 2727"/>
            </a:avLst>
          </a:prstGeom>
          <a:solidFill>
            <a:srgbClr val="1B242C"/>
          </a:solidFill>
          <a:ln w="12700">
            <a:solidFill>
              <a:srgbClr val="313D47"/>
            </a:solidFill>
            <a:prstDash val="solid"/>
          </a:ln>
        </p:spPr>
      </p:sp>
      <p:sp>
        <p:nvSpPr>
          <p:cNvPr id="24" name="Shape 22"/>
          <p:cNvSpPr/>
          <p:nvPr/>
        </p:nvSpPr>
        <p:spPr>
          <a:xfrm>
            <a:off x="6190488" y="4059936"/>
            <a:ext cx="73152" cy="2011680"/>
          </a:xfrm>
          <a:prstGeom prst="rect">
            <a:avLst/>
          </a:prstGeom>
          <a:solidFill>
            <a:srgbClr val="E4796F"/>
          </a:solidFill>
          <a:ln/>
        </p:spPr>
      </p:sp>
      <p:sp>
        <p:nvSpPr>
          <p:cNvPr id="25" name="Text 23"/>
          <p:cNvSpPr txBox="1"/>
          <p:nvPr/>
        </p:nvSpPr>
        <p:spPr>
          <a:xfrm>
            <a:off x="6428232" y="4206240"/>
            <a:ext cx="4992624" cy="475488"/>
          </a:xfrm>
          <a:prstGeom prst="rect">
            <a:avLst/>
          </a:prstGeom>
          <a:noFill/>
          <a:ln/>
        </p:spPr>
        <p:txBody>
          <a:bodyPr wrap="square" lIns="0" tIns="0" rIns="0" bIns="0" rtlCol="0" anchor="t"/>
          <a:lstStyle/>
          <a:p>
            <a:pPr indent="0" marL="0">
              <a:lnSpc>
                <a:spcPct val="95000"/>
              </a:lnSpc>
              <a:buNone/>
            </a:pPr>
            <a:r>
              <a:rPr lang="en-US" sz="1550" b="1" dirty="0">
                <a:solidFill>
                  <a:srgbClr val="ECF1F5"/>
                </a:solidFill>
                <a:latin typeface="Calibri" pitchFamily="34" charset="0"/>
                <a:ea typeface="Calibri" pitchFamily="34" charset="-122"/>
                <a:cs typeface="Calibri" pitchFamily="34" charset="-120"/>
              </a:rPr>
              <a:t>Rien n'arrête le réacteur si l'automate est piraté</a:t>
            </a:r>
            <a:endParaRPr lang="en-US" sz="1550" dirty="0"/>
          </a:p>
        </p:txBody>
      </p:sp>
      <p:sp>
        <p:nvSpPr>
          <p:cNvPr id="26" name="Text 24"/>
          <p:cNvSpPr txBox="1"/>
          <p:nvPr/>
        </p:nvSpPr>
        <p:spPr>
          <a:xfrm>
            <a:off x="6428232" y="4681728"/>
            <a:ext cx="4992624" cy="182880"/>
          </a:xfrm>
          <a:prstGeom prst="rect">
            <a:avLst/>
          </a:prstGeom>
          <a:noFill/>
          <a:ln/>
        </p:spPr>
        <p:txBody>
          <a:bodyPr wrap="square" lIns="0" tIns="0" rIns="0" bIns="0" rtlCol="0" anchor="t"/>
          <a:lstStyle/>
          <a:p>
            <a:pPr indent="0" marL="0">
              <a:buNone/>
            </a:pPr>
            <a:r>
              <a:rPr lang="en-US" sz="1000" dirty="0">
                <a:solidFill>
                  <a:srgbClr val="E4796F"/>
                </a:solidFill>
                <a:latin typeface="Calibri" pitchFamily="34" charset="0"/>
                <a:ea typeface="Calibri" pitchFamily="34" charset="-122"/>
                <a:cs typeface="Calibri" pitchFamily="34" charset="-120"/>
              </a:rPr>
              <a:t>V12 — aucune sécurité indépendante</a:t>
            </a:r>
            <a:endParaRPr lang="en-US" sz="1000" dirty="0"/>
          </a:p>
        </p:txBody>
      </p:sp>
      <p:sp>
        <p:nvSpPr>
          <p:cNvPr id="27" name="Text 25"/>
          <p:cNvSpPr txBox="1"/>
          <p:nvPr/>
        </p:nvSpPr>
        <p:spPr>
          <a:xfrm>
            <a:off x="6428232" y="4937760"/>
            <a:ext cx="4992624" cy="713232"/>
          </a:xfrm>
          <a:prstGeom prst="rect">
            <a:avLst/>
          </a:prstGeom>
          <a:noFill/>
          <a:ln/>
        </p:spPr>
        <p:txBody>
          <a:bodyPr wrap="square" lIns="0" tIns="0" rIns="0" bIns="0" rtlCol="0" anchor="t"/>
          <a:lstStyle/>
          <a:p>
            <a:pPr indent="0" marL="0">
              <a:buNone/>
            </a:pPr>
            <a:r>
              <a:rPr lang="en-US" sz="1350" dirty="0">
                <a:solidFill>
                  <a:srgbClr val="9DABB6"/>
                </a:solidFill>
                <a:latin typeface="Calibri" pitchFamily="34" charset="0"/>
                <a:ea typeface="Calibri" pitchFamily="34" charset="-122"/>
                <a:cs typeface="Calibri" pitchFamily="34" charset="-120"/>
              </a:rPr>
              <a:t>La seule protection contre la surpression est le programme de l'automate — justement celui qu'on a modifié.</a:t>
            </a:r>
            <a:endParaRPr lang="en-US" sz="1350" dirty="0"/>
          </a:p>
        </p:txBody>
      </p:sp>
      <p:sp>
        <p:nvSpPr>
          <p:cNvPr id="28" name="Text 26"/>
          <p:cNvSpPr txBox="1"/>
          <p:nvPr/>
        </p:nvSpPr>
        <p:spPr>
          <a:xfrm>
            <a:off x="6428232" y="5705856"/>
            <a:ext cx="4992624" cy="274320"/>
          </a:xfrm>
          <a:prstGeom prst="rect">
            <a:avLst/>
          </a:prstGeom>
          <a:noFill/>
          <a:ln/>
        </p:spPr>
        <p:txBody>
          <a:bodyPr wrap="square" lIns="0" tIns="0" rIns="0" bIns="0" rtlCol="0" anchor="ctr"/>
          <a:lstStyle/>
          <a:p>
            <a:pPr indent="0" marL="0">
              <a:buNone/>
            </a:pPr>
            <a:r>
              <a:rPr lang="en-US" sz="1250" b="1" dirty="0">
                <a:solidFill>
                  <a:srgbClr val="6FBF95"/>
                </a:solidFill>
                <a:latin typeface="Calibri" pitchFamily="34" charset="0"/>
                <a:ea typeface="Calibri" pitchFamily="34" charset="-122"/>
                <a:cs typeface="Calibri" pitchFamily="34" charset="-120"/>
              </a:rPr>
              <a:t>→  </a:t>
            </a:r>
            <a:pPr indent="0" marL="0">
              <a:buNone/>
            </a:pPr>
            <a:r>
              <a:rPr lang="en-US" sz="1250" dirty="0">
                <a:solidFill>
                  <a:srgbClr val="6FBF95"/>
                </a:solidFill>
                <a:latin typeface="Calibri" pitchFamily="34" charset="0"/>
                <a:ea typeface="Calibri" pitchFamily="34" charset="-122"/>
                <a:cs typeface="Calibri" pitchFamily="34" charset="-120"/>
              </a:rPr>
              <a:t>Une sécurité câblée qui purge toute seule, hors réseau</a:t>
            </a:r>
            <a:endParaRPr lang="en-US" sz="1250" dirty="0"/>
          </a:p>
        </p:txBody>
      </p:sp>
      <p:sp>
        <p:nvSpPr>
          <p:cNvPr id="29" name="Text 27"/>
          <p:cNvSpPr txBox="1"/>
          <p:nvPr/>
        </p:nvSpPr>
        <p:spPr>
          <a:xfrm>
            <a:off x="502920" y="6355080"/>
            <a:ext cx="11155680" cy="274320"/>
          </a:xfrm>
          <a:prstGeom prst="rect">
            <a:avLst/>
          </a:prstGeom>
          <a:noFill/>
          <a:ln/>
        </p:spPr>
        <p:txBody>
          <a:bodyPr wrap="square" lIns="0" tIns="0" rIns="0" bIns="0" rtlCol="0" anchor="ctr"/>
          <a:lstStyle/>
          <a:p>
            <a:pPr indent="0" marL="0">
              <a:buNone/>
            </a:pPr>
            <a:r>
              <a:rPr lang="en-US" sz="950" dirty="0">
                <a:solidFill>
                  <a:srgbClr val="6E7C87"/>
                </a:solidFill>
                <a:latin typeface="Calibri" pitchFamily="34" charset="0"/>
                <a:ea typeface="Calibri" pitchFamily="34" charset="-122"/>
                <a:cs typeface="Calibri" pitchFamily="34" charset="-120"/>
              </a:rPr>
              <a:t>Vulnérabilités · 2/3 — Failles informatiques</a:t>
            </a:r>
            <a:pPr indent="0" marL="0">
              <a:buNone/>
            </a:pPr>
            <a:r>
              <a:rPr lang="en-US" sz="950" dirty="0">
                <a:solidFill>
                  <a:srgbClr val="6E7C87"/>
                </a:solidFill>
                <a:latin typeface="Calibri" pitchFamily="34" charset="0"/>
                <a:ea typeface="Calibri" pitchFamily="34" charset="-122"/>
                <a:cs typeface="Calibri" pitchFamily="34" charset="-120"/>
              </a:rPr>
              <a:t>        Chaque carte : le problème en clair, puis le correctif</a:t>
            </a:r>
            <a:endParaRPr lang="en-US" sz="950" dirty="0"/>
          </a:p>
        </p:txBody>
      </p:sp>
      <p:sp>
        <p:nvSpPr>
          <p:cNvPr id="30" name="Shape 28"/>
          <p:cNvSpPr/>
          <p:nvPr/>
        </p:nvSpPr>
        <p:spPr>
          <a:xfrm>
            <a:off x="502920" y="6291072"/>
            <a:ext cx="11155680" cy="0"/>
          </a:xfrm>
          <a:prstGeom prst="line">
            <a:avLst/>
          </a:prstGeom>
          <a:noFill/>
          <a:ln w="12700">
            <a:solidFill>
              <a:srgbClr val="313D47"/>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5AA6DC"/>
          </a:solidFill>
          <a:ln/>
        </p:spPr>
      </p:sp>
      <p:sp>
        <p:nvSpPr>
          <p:cNvPr id="3" name="Text 1"/>
          <p:cNvSpPr txBox="1"/>
          <p:nvPr/>
        </p:nvSpPr>
        <p:spPr>
          <a:xfrm>
            <a:off x="502920" y="384048"/>
            <a:ext cx="11155680" cy="292608"/>
          </a:xfrm>
          <a:prstGeom prst="rect">
            <a:avLst/>
          </a:prstGeom>
          <a:noFill/>
          <a:ln/>
        </p:spPr>
        <p:txBody>
          <a:bodyPr wrap="square" lIns="0" tIns="0" rIns="0" bIns="0" rtlCol="0" anchor="ctr"/>
          <a:lstStyle/>
          <a:p>
            <a:pPr indent="0" marL="0">
              <a:buNone/>
            </a:pPr>
            <a:r>
              <a:rPr lang="en-US" sz="1100" b="1" spc="200" kern="0" dirty="0">
                <a:solidFill>
                  <a:srgbClr val="5AA6DC"/>
                </a:solidFill>
                <a:latin typeface="Calibri" pitchFamily="34" charset="0"/>
                <a:ea typeface="Calibri" pitchFamily="34" charset="-122"/>
                <a:cs typeface="Calibri" pitchFamily="34" charset="-120"/>
              </a:rPr>
              <a:t>RÉCAP</a:t>
            </a:r>
            <a:pPr indent="0" marL="0">
              <a:buNone/>
            </a:pPr>
            <a:r>
              <a:rPr lang="en-US" sz="1100" spc="200" kern="0" dirty="0">
                <a:solidFill>
                  <a:srgbClr val="6E7C87"/>
                </a:solidFill>
                <a:latin typeface="Calibri" pitchFamily="34" charset="0"/>
                <a:ea typeface="Calibri" pitchFamily="34" charset="-122"/>
                <a:cs typeface="Calibri" pitchFamily="34" charset="-120"/>
              </a:rPr>
              <a:t>   L'ENCHAÎNEMENT, EN UNE PHRASE</a:t>
            </a:r>
            <a:endParaRPr lang="en-US" sz="1100" dirty="0"/>
          </a:p>
        </p:txBody>
      </p:sp>
      <p:sp>
        <p:nvSpPr>
          <p:cNvPr id="4" name="Text 2"/>
          <p:cNvSpPr txBox="1"/>
          <p:nvPr/>
        </p:nvSpPr>
        <p:spPr>
          <a:xfrm>
            <a:off x="502920" y="786384"/>
            <a:ext cx="11155680" cy="914400"/>
          </a:xfrm>
          <a:prstGeom prst="rect">
            <a:avLst/>
          </a:prstGeom>
          <a:noFill/>
          <a:ln/>
        </p:spPr>
        <p:txBody>
          <a:bodyPr wrap="square" lIns="0" tIns="0" rIns="0" bIns="0" rtlCol="0" anchor="t"/>
          <a:lstStyle/>
          <a:p>
            <a:pPr indent="0" marL="0">
              <a:lnSpc>
                <a:spcPct val="98000"/>
              </a:lnSpc>
              <a:buNone/>
            </a:pPr>
            <a:r>
              <a:rPr lang="en-US" sz="3200" b="1" dirty="0">
                <a:solidFill>
                  <a:srgbClr val="ECF1F5"/>
                </a:solidFill>
                <a:latin typeface="Cambria" pitchFamily="34" charset="0"/>
                <a:ea typeface="Cambria" pitchFamily="34" charset="-122"/>
                <a:cs typeface="Cambria" pitchFamily="34" charset="-120"/>
              </a:rPr>
              <a:t>Chaque maillon coupé fait échouer l'attaque</a:t>
            </a:r>
            <a:endParaRPr lang="en-US" sz="3200" dirty="0"/>
          </a:p>
        </p:txBody>
      </p:sp>
      <p:sp>
        <p:nvSpPr>
          <p:cNvPr id="5" name="Shape 3"/>
          <p:cNvSpPr/>
          <p:nvPr/>
        </p:nvSpPr>
        <p:spPr>
          <a:xfrm>
            <a:off x="502920" y="2103120"/>
            <a:ext cx="2651760" cy="1234440"/>
          </a:xfrm>
          <a:prstGeom prst="roundRect">
            <a:avLst>
              <a:gd name="adj" fmla="val 4444"/>
            </a:avLst>
          </a:prstGeom>
          <a:solidFill>
            <a:srgbClr val="1B242C"/>
          </a:solidFill>
          <a:ln w="12700">
            <a:solidFill>
              <a:srgbClr val="E0A64A"/>
            </a:solidFill>
            <a:prstDash val="solid"/>
          </a:ln>
        </p:spPr>
      </p:sp>
      <p:sp>
        <p:nvSpPr>
          <p:cNvPr id="6" name="Text 4"/>
          <p:cNvSpPr txBox="1"/>
          <p:nvPr/>
        </p:nvSpPr>
        <p:spPr>
          <a:xfrm>
            <a:off x="594360" y="2267712"/>
            <a:ext cx="2468880" cy="329184"/>
          </a:xfrm>
          <a:prstGeom prst="rect">
            <a:avLst/>
          </a:prstGeom>
          <a:noFill/>
          <a:ln/>
        </p:spPr>
        <p:txBody>
          <a:bodyPr wrap="square" lIns="0" tIns="0" rIns="0" bIns="0" rtlCol="0" anchor="ctr"/>
          <a:lstStyle/>
          <a:p>
            <a:pPr algn="ctr" indent="0" marL="0">
              <a:buNone/>
            </a:pPr>
            <a:r>
              <a:rPr lang="en-US" sz="1700" b="1" dirty="0">
                <a:solidFill>
                  <a:srgbClr val="E0A64A"/>
                </a:solidFill>
                <a:latin typeface="Cambria" pitchFamily="34" charset="0"/>
                <a:ea typeface="Cambria" pitchFamily="34" charset="-122"/>
                <a:cs typeface="Cambria" pitchFamily="34" charset="-120"/>
              </a:rPr>
              <a:t>ON ENTRE</a:t>
            </a:r>
            <a:endParaRPr lang="en-US" sz="1700" dirty="0"/>
          </a:p>
        </p:txBody>
      </p:sp>
      <p:sp>
        <p:nvSpPr>
          <p:cNvPr id="7" name="Text 5"/>
          <p:cNvSpPr txBox="1"/>
          <p:nvPr/>
        </p:nvSpPr>
        <p:spPr>
          <a:xfrm>
            <a:off x="640080" y="2651760"/>
            <a:ext cx="2377440" cy="566928"/>
          </a:xfrm>
          <a:prstGeom prst="rect">
            <a:avLst/>
          </a:prstGeom>
          <a:noFill/>
          <a:ln/>
        </p:spPr>
        <p:txBody>
          <a:bodyPr wrap="square" lIns="0" tIns="0" rIns="0" bIns="0" rtlCol="0" anchor="t"/>
          <a:lstStyle/>
          <a:p>
            <a:pPr algn="ctr" indent="0" marL="0">
              <a:buNone/>
            </a:pPr>
            <a:r>
              <a:rPr lang="en-US" sz="1200" dirty="0">
                <a:solidFill>
                  <a:srgbClr val="9DABB6"/>
                </a:solidFill>
                <a:latin typeface="Calibri" pitchFamily="34" charset="0"/>
                <a:ea typeface="Calibri" pitchFamily="34" charset="-122"/>
                <a:cs typeface="Calibri" pitchFamily="34" charset="-120"/>
              </a:rPr>
              <a:t>failles physiques : accès et mots de passe</a:t>
            </a:r>
            <a:endParaRPr lang="en-US" sz="1200" dirty="0"/>
          </a:p>
        </p:txBody>
      </p:sp>
      <p:sp>
        <p:nvSpPr>
          <p:cNvPr id="8" name="Text 6"/>
          <p:cNvSpPr txBox="1"/>
          <p:nvPr/>
        </p:nvSpPr>
        <p:spPr>
          <a:xfrm>
            <a:off x="3154680" y="2103120"/>
            <a:ext cx="320040" cy="1234440"/>
          </a:xfrm>
          <a:prstGeom prst="rect">
            <a:avLst/>
          </a:prstGeom>
          <a:noFill/>
          <a:ln/>
        </p:spPr>
        <p:txBody>
          <a:bodyPr wrap="square" lIns="0" tIns="0" rIns="0" bIns="0" rtlCol="0" anchor="ctr"/>
          <a:lstStyle/>
          <a:p>
            <a:pPr algn="ctr" indent="0" marL="0">
              <a:buNone/>
            </a:pPr>
            <a:r>
              <a:rPr lang="en-US" sz="2400" b="1" dirty="0">
                <a:solidFill>
                  <a:srgbClr val="6E7C87"/>
                </a:solidFill>
                <a:latin typeface="Cambria" pitchFamily="34" charset="0"/>
                <a:ea typeface="Cambria" pitchFamily="34" charset="-122"/>
                <a:cs typeface="Cambria" pitchFamily="34" charset="-120"/>
              </a:rPr>
              <a:t>→</a:t>
            </a:r>
            <a:endParaRPr lang="en-US" sz="2400" dirty="0"/>
          </a:p>
        </p:txBody>
      </p:sp>
      <p:sp>
        <p:nvSpPr>
          <p:cNvPr id="9" name="Shape 7"/>
          <p:cNvSpPr/>
          <p:nvPr/>
        </p:nvSpPr>
        <p:spPr>
          <a:xfrm>
            <a:off x="3474720" y="2103120"/>
            <a:ext cx="2651760" cy="1234440"/>
          </a:xfrm>
          <a:prstGeom prst="roundRect">
            <a:avLst>
              <a:gd name="adj" fmla="val 4444"/>
            </a:avLst>
          </a:prstGeom>
          <a:solidFill>
            <a:srgbClr val="1B242C"/>
          </a:solidFill>
          <a:ln w="12700">
            <a:solidFill>
              <a:srgbClr val="E4796F"/>
            </a:solidFill>
            <a:prstDash val="solid"/>
          </a:ln>
        </p:spPr>
      </p:sp>
      <p:sp>
        <p:nvSpPr>
          <p:cNvPr id="10" name="Text 8"/>
          <p:cNvSpPr txBox="1"/>
          <p:nvPr/>
        </p:nvSpPr>
        <p:spPr>
          <a:xfrm>
            <a:off x="3566160" y="2267712"/>
            <a:ext cx="2468880" cy="329184"/>
          </a:xfrm>
          <a:prstGeom prst="rect">
            <a:avLst/>
          </a:prstGeom>
          <a:noFill/>
          <a:ln/>
        </p:spPr>
        <p:txBody>
          <a:bodyPr wrap="square" lIns="0" tIns="0" rIns="0" bIns="0" rtlCol="0" anchor="ctr"/>
          <a:lstStyle/>
          <a:p>
            <a:pPr algn="ctr" indent="0" marL="0">
              <a:buNone/>
            </a:pPr>
            <a:r>
              <a:rPr lang="en-US" sz="1700" b="1" dirty="0">
                <a:solidFill>
                  <a:srgbClr val="E4796F"/>
                </a:solidFill>
                <a:latin typeface="Cambria" pitchFamily="34" charset="0"/>
                <a:ea typeface="Cambria" pitchFamily="34" charset="-122"/>
                <a:cs typeface="Cambria" pitchFamily="34" charset="-120"/>
              </a:rPr>
              <a:t>ON COMMANDE</a:t>
            </a:r>
            <a:endParaRPr lang="en-US" sz="1700" dirty="0"/>
          </a:p>
        </p:txBody>
      </p:sp>
      <p:sp>
        <p:nvSpPr>
          <p:cNvPr id="11" name="Text 9"/>
          <p:cNvSpPr txBox="1"/>
          <p:nvPr/>
        </p:nvSpPr>
        <p:spPr>
          <a:xfrm>
            <a:off x="3611880" y="2651760"/>
            <a:ext cx="2377440" cy="566928"/>
          </a:xfrm>
          <a:prstGeom prst="rect">
            <a:avLst/>
          </a:prstGeom>
          <a:noFill/>
          <a:ln/>
        </p:spPr>
        <p:txBody>
          <a:bodyPr wrap="square" lIns="0" tIns="0" rIns="0" bIns="0" rtlCol="0" anchor="t"/>
          <a:lstStyle/>
          <a:p>
            <a:pPr algn="ctr" indent="0" marL="0">
              <a:buNone/>
            </a:pPr>
            <a:r>
              <a:rPr lang="en-US" sz="1200" dirty="0">
                <a:solidFill>
                  <a:srgbClr val="9DABB6"/>
                </a:solidFill>
                <a:latin typeface="Calibri" pitchFamily="34" charset="0"/>
                <a:ea typeface="Calibri" pitchFamily="34" charset="-122"/>
                <a:cs typeface="Calibri" pitchFamily="34" charset="-120"/>
              </a:rPr>
              <a:t>le filtre est ouvert, les ordres non vérifiés</a:t>
            </a:r>
            <a:endParaRPr lang="en-US" sz="1200" dirty="0"/>
          </a:p>
        </p:txBody>
      </p:sp>
      <p:sp>
        <p:nvSpPr>
          <p:cNvPr id="12" name="Text 10"/>
          <p:cNvSpPr txBox="1"/>
          <p:nvPr/>
        </p:nvSpPr>
        <p:spPr>
          <a:xfrm>
            <a:off x="6126480" y="2103120"/>
            <a:ext cx="320040" cy="1234440"/>
          </a:xfrm>
          <a:prstGeom prst="rect">
            <a:avLst/>
          </a:prstGeom>
          <a:noFill/>
          <a:ln/>
        </p:spPr>
        <p:txBody>
          <a:bodyPr wrap="square" lIns="0" tIns="0" rIns="0" bIns="0" rtlCol="0" anchor="ctr"/>
          <a:lstStyle/>
          <a:p>
            <a:pPr algn="ctr" indent="0" marL="0">
              <a:buNone/>
            </a:pPr>
            <a:r>
              <a:rPr lang="en-US" sz="2400" b="1" dirty="0">
                <a:solidFill>
                  <a:srgbClr val="6E7C87"/>
                </a:solidFill>
                <a:latin typeface="Cambria" pitchFamily="34" charset="0"/>
                <a:ea typeface="Cambria" pitchFamily="34" charset="-122"/>
                <a:cs typeface="Cambria" pitchFamily="34" charset="-120"/>
              </a:rPr>
              <a:t>→</a:t>
            </a:r>
            <a:endParaRPr lang="en-US" sz="2400" dirty="0"/>
          </a:p>
        </p:txBody>
      </p:sp>
      <p:sp>
        <p:nvSpPr>
          <p:cNvPr id="13" name="Shape 11"/>
          <p:cNvSpPr/>
          <p:nvPr/>
        </p:nvSpPr>
        <p:spPr>
          <a:xfrm>
            <a:off x="6446520" y="2103120"/>
            <a:ext cx="2651760" cy="1234440"/>
          </a:xfrm>
          <a:prstGeom prst="roundRect">
            <a:avLst>
              <a:gd name="adj" fmla="val 4444"/>
            </a:avLst>
          </a:prstGeom>
          <a:solidFill>
            <a:srgbClr val="1B242C"/>
          </a:solidFill>
          <a:ln w="12700">
            <a:solidFill>
              <a:srgbClr val="E0A64A"/>
            </a:solidFill>
            <a:prstDash val="solid"/>
          </a:ln>
        </p:spPr>
      </p:sp>
      <p:sp>
        <p:nvSpPr>
          <p:cNvPr id="14" name="Text 12"/>
          <p:cNvSpPr txBox="1"/>
          <p:nvPr/>
        </p:nvSpPr>
        <p:spPr>
          <a:xfrm>
            <a:off x="6537960" y="2267712"/>
            <a:ext cx="2468880" cy="329184"/>
          </a:xfrm>
          <a:prstGeom prst="rect">
            <a:avLst/>
          </a:prstGeom>
          <a:noFill/>
          <a:ln/>
        </p:spPr>
        <p:txBody>
          <a:bodyPr wrap="square" lIns="0" tIns="0" rIns="0" bIns="0" rtlCol="0" anchor="ctr"/>
          <a:lstStyle/>
          <a:p>
            <a:pPr algn="ctr" indent="0" marL="0">
              <a:buNone/>
            </a:pPr>
            <a:r>
              <a:rPr lang="en-US" sz="1700" b="1" dirty="0">
                <a:solidFill>
                  <a:srgbClr val="E0A64A"/>
                </a:solidFill>
                <a:latin typeface="Cambria" pitchFamily="34" charset="0"/>
                <a:ea typeface="Cambria" pitchFamily="34" charset="-122"/>
                <a:cs typeface="Cambria" pitchFamily="34" charset="-120"/>
              </a:rPr>
              <a:t>PERSONNE NE VOIT</a:t>
            </a:r>
            <a:endParaRPr lang="en-US" sz="1700" dirty="0"/>
          </a:p>
        </p:txBody>
      </p:sp>
      <p:sp>
        <p:nvSpPr>
          <p:cNvPr id="15" name="Text 13"/>
          <p:cNvSpPr txBox="1"/>
          <p:nvPr/>
        </p:nvSpPr>
        <p:spPr>
          <a:xfrm>
            <a:off x="6583680" y="2651760"/>
            <a:ext cx="2377440" cy="566928"/>
          </a:xfrm>
          <a:prstGeom prst="rect">
            <a:avLst/>
          </a:prstGeom>
          <a:noFill/>
          <a:ln/>
        </p:spPr>
        <p:txBody>
          <a:bodyPr wrap="square" lIns="0" tIns="0" rIns="0" bIns="0" rtlCol="0" anchor="t"/>
          <a:lstStyle/>
          <a:p>
            <a:pPr algn="ctr" indent="0" marL="0">
              <a:buNone/>
            </a:pPr>
            <a:r>
              <a:rPr lang="en-US" sz="1200" dirty="0">
                <a:solidFill>
                  <a:srgbClr val="9DABB6"/>
                </a:solidFill>
                <a:latin typeface="Calibri" pitchFamily="34" charset="0"/>
                <a:ea typeface="Calibri" pitchFamily="34" charset="-122"/>
                <a:cs typeface="Calibri" pitchFamily="34" charset="-120"/>
              </a:rPr>
              <a:t>aucune surveillance, aucun historique</a:t>
            </a:r>
            <a:endParaRPr lang="en-US" sz="1200" dirty="0"/>
          </a:p>
        </p:txBody>
      </p:sp>
      <p:sp>
        <p:nvSpPr>
          <p:cNvPr id="16" name="Text 14"/>
          <p:cNvSpPr txBox="1"/>
          <p:nvPr/>
        </p:nvSpPr>
        <p:spPr>
          <a:xfrm>
            <a:off x="9098280" y="2103120"/>
            <a:ext cx="320040" cy="1234440"/>
          </a:xfrm>
          <a:prstGeom prst="rect">
            <a:avLst/>
          </a:prstGeom>
          <a:noFill/>
          <a:ln/>
        </p:spPr>
        <p:txBody>
          <a:bodyPr wrap="square" lIns="0" tIns="0" rIns="0" bIns="0" rtlCol="0" anchor="ctr"/>
          <a:lstStyle/>
          <a:p>
            <a:pPr algn="ctr" indent="0" marL="0">
              <a:buNone/>
            </a:pPr>
            <a:r>
              <a:rPr lang="en-US" sz="2400" b="1" dirty="0">
                <a:solidFill>
                  <a:srgbClr val="6E7C87"/>
                </a:solidFill>
                <a:latin typeface="Cambria" pitchFamily="34" charset="0"/>
                <a:ea typeface="Cambria" pitchFamily="34" charset="-122"/>
                <a:cs typeface="Cambria" pitchFamily="34" charset="-120"/>
              </a:rPr>
              <a:t>→</a:t>
            </a:r>
            <a:endParaRPr lang="en-US" sz="2400" dirty="0"/>
          </a:p>
        </p:txBody>
      </p:sp>
      <p:sp>
        <p:nvSpPr>
          <p:cNvPr id="17" name="Shape 15"/>
          <p:cNvSpPr/>
          <p:nvPr/>
        </p:nvSpPr>
        <p:spPr>
          <a:xfrm>
            <a:off x="9418320" y="2103120"/>
            <a:ext cx="2651760" cy="1234440"/>
          </a:xfrm>
          <a:prstGeom prst="roundRect">
            <a:avLst>
              <a:gd name="adj" fmla="val 4444"/>
            </a:avLst>
          </a:prstGeom>
          <a:solidFill>
            <a:srgbClr val="1B242C"/>
          </a:solidFill>
          <a:ln w="12700">
            <a:solidFill>
              <a:srgbClr val="E4796F"/>
            </a:solidFill>
            <a:prstDash val="solid"/>
          </a:ln>
        </p:spPr>
      </p:sp>
      <p:sp>
        <p:nvSpPr>
          <p:cNvPr id="18" name="Text 16"/>
          <p:cNvSpPr txBox="1"/>
          <p:nvPr/>
        </p:nvSpPr>
        <p:spPr>
          <a:xfrm>
            <a:off x="9509760" y="2267712"/>
            <a:ext cx="2468880" cy="329184"/>
          </a:xfrm>
          <a:prstGeom prst="rect">
            <a:avLst/>
          </a:prstGeom>
          <a:noFill/>
          <a:ln/>
        </p:spPr>
        <p:txBody>
          <a:bodyPr wrap="square" lIns="0" tIns="0" rIns="0" bIns="0" rtlCol="0" anchor="ctr"/>
          <a:lstStyle/>
          <a:p>
            <a:pPr algn="ctr" indent="0" marL="0">
              <a:buNone/>
            </a:pPr>
            <a:r>
              <a:rPr lang="en-US" sz="1700" b="1" dirty="0">
                <a:solidFill>
                  <a:srgbClr val="E4796F"/>
                </a:solidFill>
                <a:latin typeface="Cambria" pitchFamily="34" charset="0"/>
                <a:ea typeface="Cambria" pitchFamily="34" charset="-122"/>
                <a:cs typeface="Cambria" pitchFamily="34" charset="-120"/>
              </a:rPr>
              <a:t>ÇA EXPLOSE</a:t>
            </a:r>
            <a:endParaRPr lang="en-US" sz="1700" dirty="0"/>
          </a:p>
        </p:txBody>
      </p:sp>
      <p:sp>
        <p:nvSpPr>
          <p:cNvPr id="19" name="Text 17"/>
          <p:cNvSpPr txBox="1"/>
          <p:nvPr/>
        </p:nvSpPr>
        <p:spPr>
          <a:xfrm>
            <a:off x="9555480" y="2651760"/>
            <a:ext cx="2377440" cy="566928"/>
          </a:xfrm>
          <a:prstGeom prst="rect">
            <a:avLst/>
          </a:prstGeom>
          <a:noFill/>
          <a:ln/>
        </p:spPr>
        <p:txBody>
          <a:bodyPr wrap="square" lIns="0" tIns="0" rIns="0" bIns="0" rtlCol="0" anchor="t"/>
          <a:lstStyle/>
          <a:p>
            <a:pPr algn="ctr" indent="0" marL="0">
              <a:buNone/>
            </a:pPr>
            <a:r>
              <a:rPr lang="en-US" sz="1200" dirty="0">
                <a:solidFill>
                  <a:srgbClr val="9DABB6"/>
                </a:solidFill>
                <a:latin typeface="Calibri" pitchFamily="34" charset="0"/>
                <a:ea typeface="Calibri" pitchFamily="34" charset="-122"/>
                <a:cs typeface="Calibri" pitchFamily="34" charset="-120"/>
              </a:rPr>
              <a:t>aucune sécurité indépendante de l'automate</a:t>
            </a:r>
            <a:endParaRPr lang="en-US" sz="1200" dirty="0"/>
          </a:p>
        </p:txBody>
      </p:sp>
      <p:sp>
        <p:nvSpPr>
          <p:cNvPr id="20" name="Shape 18"/>
          <p:cNvSpPr/>
          <p:nvPr/>
        </p:nvSpPr>
        <p:spPr>
          <a:xfrm>
            <a:off x="502920" y="3794760"/>
            <a:ext cx="11155680" cy="1371600"/>
          </a:xfrm>
          <a:prstGeom prst="roundRect">
            <a:avLst>
              <a:gd name="adj" fmla="val 4000"/>
            </a:avLst>
          </a:prstGeom>
          <a:solidFill>
            <a:srgbClr val="222E38"/>
          </a:solidFill>
          <a:ln w="12700">
            <a:solidFill>
              <a:srgbClr val="5AA6DC"/>
            </a:solidFill>
            <a:prstDash val="solid"/>
          </a:ln>
        </p:spPr>
      </p:sp>
      <p:sp>
        <p:nvSpPr>
          <p:cNvPr id="21" name="Text 19"/>
          <p:cNvSpPr txBox="1"/>
          <p:nvPr/>
        </p:nvSpPr>
        <p:spPr>
          <a:xfrm>
            <a:off x="777240" y="3977640"/>
            <a:ext cx="10607040" cy="1005840"/>
          </a:xfrm>
          <a:prstGeom prst="rect">
            <a:avLst/>
          </a:prstGeom>
          <a:noFill/>
          <a:ln/>
        </p:spPr>
        <p:txBody>
          <a:bodyPr wrap="square" lIns="0" tIns="0" rIns="0" bIns="0" rtlCol="0" anchor="ctr"/>
          <a:lstStyle/>
          <a:p>
            <a:pPr indent="0" marL="0">
              <a:lnSpc>
                <a:spcPct val="115000"/>
              </a:lnSpc>
              <a:buNone/>
            </a:pPr>
            <a:r>
              <a:rPr lang="en-US" sz="1600" dirty="0">
                <a:solidFill>
                  <a:srgbClr val="9DABB6"/>
                </a:solidFill>
                <a:latin typeface="Calibri" pitchFamily="34" charset="0"/>
                <a:ea typeface="Calibri" pitchFamily="34" charset="-122"/>
                <a:cs typeface="Calibri" pitchFamily="34" charset="-120"/>
              </a:rPr>
              <a:t>Les failles physiques donnent l'accès et les mots de passe → </a:t>
            </a:r>
            <a:pPr indent="0" marL="0">
              <a:lnSpc>
                <a:spcPct val="115000"/>
              </a:lnSpc>
              <a:buNone/>
            </a:pPr>
            <a:r>
              <a:rPr lang="en-US" sz="1600" b="1" dirty="0">
                <a:solidFill>
                  <a:srgbClr val="ECF1F5"/>
                </a:solidFill>
                <a:latin typeface="Calibri" pitchFamily="34" charset="0"/>
                <a:ea typeface="Calibri" pitchFamily="34" charset="-122"/>
                <a:cs typeface="Calibri" pitchFamily="34" charset="-120"/>
              </a:rPr>
              <a:t>le filtre ouvert et les ordres non vérifiés</a:t>
            </a:r>
            <a:pPr indent="0" marL="0">
              <a:lnSpc>
                <a:spcPct val="115000"/>
              </a:lnSpc>
              <a:buNone/>
            </a:pPr>
            <a:r>
              <a:rPr lang="en-US" sz="1600" dirty="0">
                <a:solidFill>
                  <a:srgbClr val="9DABB6"/>
                </a:solidFill>
                <a:latin typeface="Calibri" pitchFamily="34" charset="0"/>
                <a:ea typeface="Calibri" pitchFamily="34" charset="-122"/>
                <a:cs typeface="Calibri" pitchFamily="34" charset="-120"/>
              </a:rPr>
              <a:t> mènent jusqu'à l'automate → </a:t>
            </a:r>
            <a:pPr indent="0" marL="0">
              <a:lnSpc>
                <a:spcPct val="115000"/>
              </a:lnSpc>
              <a:buNone/>
            </a:pPr>
            <a:r>
              <a:rPr lang="en-US" sz="1600" b="1" dirty="0">
                <a:solidFill>
                  <a:srgbClr val="ECF1F5"/>
                </a:solidFill>
                <a:latin typeface="Calibri" pitchFamily="34" charset="0"/>
                <a:ea typeface="Calibri" pitchFamily="34" charset="-122"/>
                <a:cs typeface="Calibri" pitchFamily="34" charset="-120"/>
              </a:rPr>
              <a:t>l'absence de surveillance</a:t>
            </a:r>
            <a:pPr indent="0" marL="0">
              <a:lnSpc>
                <a:spcPct val="115000"/>
              </a:lnSpc>
              <a:buNone/>
            </a:pPr>
            <a:r>
              <a:rPr lang="en-US" sz="1600" dirty="0">
                <a:solidFill>
                  <a:srgbClr val="9DABB6"/>
                </a:solidFill>
                <a:latin typeface="Calibri" pitchFamily="34" charset="0"/>
                <a:ea typeface="Calibri" pitchFamily="34" charset="-122"/>
                <a:cs typeface="Calibri" pitchFamily="34" charset="-120"/>
              </a:rPr>
              <a:t> laisse l'attaque passer inaperçue → </a:t>
            </a:r>
            <a:pPr indent="0" marL="0">
              <a:lnSpc>
                <a:spcPct val="115000"/>
              </a:lnSpc>
              <a:buNone/>
            </a:pPr>
            <a:r>
              <a:rPr lang="en-US" sz="1600" b="1" dirty="0">
                <a:solidFill>
                  <a:srgbClr val="ECF1F5"/>
                </a:solidFill>
                <a:latin typeface="Calibri" pitchFamily="34" charset="0"/>
                <a:ea typeface="Calibri" pitchFamily="34" charset="-122"/>
                <a:cs typeface="Calibri" pitchFamily="34" charset="-120"/>
              </a:rPr>
              <a:t>l'absence de sécurité indépendante</a:t>
            </a:r>
            <a:pPr indent="0" marL="0">
              <a:lnSpc>
                <a:spcPct val="115000"/>
              </a:lnSpc>
              <a:buNone/>
            </a:pPr>
            <a:r>
              <a:rPr lang="en-US" sz="1600" dirty="0">
                <a:solidFill>
                  <a:srgbClr val="9DABB6"/>
                </a:solidFill>
                <a:latin typeface="Calibri" pitchFamily="34" charset="0"/>
                <a:ea typeface="Calibri" pitchFamily="34" charset="-122"/>
                <a:cs typeface="Calibri" pitchFamily="34" charset="-120"/>
              </a:rPr>
              <a:t> transforme la prise de contrôle en explosion.</a:t>
            </a:r>
            <a:endParaRPr lang="en-US" sz="1600" dirty="0"/>
          </a:p>
        </p:txBody>
      </p:sp>
      <p:sp>
        <p:nvSpPr>
          <p:cNvPr id="22" name="Text 20"/>
          <p:cNvSpPr txBox="1"/>
          <p:nvPr/>
        </p:nvSpPr>
        <p:spPr>
          <a:xfrm>
            <a:off x="502920" y="5486400"/>
            <a:ext cx="11155680" cy="457200"/>
          </a:xfrm>
          <a:prstGeom prst="rect">
            <a:avLst/>
          </a:prstGeom>
          <a:noFill/>
          <a:ln/>
        </p:spPr>
        <p:txBody>
          <a:bodyPr wrap="square" lIns="0" tIns="0" rIns="0" bIns="0" rtlCol="0" anchor="ctr"/>
          <a:lstStyle/>
          <a:p>
            <a:pPr indent="0" marL="0">
              <a:buNone/>
            </a:pPr>
            <a:r>
              <a:rPr lang="en-US" sz="1400" b="1" i="1" dirty="0">
                <a:solidFill>
                  <a:srgbClr val="6FBF95"/>
                </a:solidFill>
                <a:latin typeface="Calibri" pitchFamily="34" charset="0"/>
                <a:ea typeface="Calibri" pitchFamily="34" charset="-122"/>
                <a:cs typeface="Calibri" pitchFamily="34" charset="-120"/>
              </a:rPr>
              <a:t>La sécurité câblée est le dernier rempart : </a:t>
            </a:r>
            <a:pPr indent="0" marL="0">
              <a:buNone/>
            </a:pPr>
            <a:r>
              <a:rPr lang="en-US" sz="1400" i="1" dirty="0">
                <a:solidFill>
                  <a:srgbClr val="9DABB6"/>
                </a:solidFill>
                <a:latin typeface="Calibri" pitchFamily="34" charset="0"/>
                <a:ea typeface="Calibri" pitchFamily="34" charset="-122"/>
                <a:cs typeface="Calibri" pitchFamily="34" charset="-120"/>
              </a:rPr>
              <a:t>elle arrête le réacteur même si toute l'informatique est piratée.</a:t>
            </a:r>
            <a:endParaRPr lang="en-US" sz="1400" dirty="0"/>
          </a:p>
        </p:txBody>
      </p:sp>
      <p:sp>
        <p:nvSpPr>
          <p:cNvPr id="23" name="Text 21"/>
          <p:cNvSpPr txBox="1"/>
          <p:nvPr/>
        </p:nvSpPr>
        <p:spPr>
          <a:xfrm>
            <a:off x="502920" y="6355080"/>
            <a:ext cx="11155680" cy="274320"/>
          </a:xfrm>
          <a:prstGeom prst="rect">
            <a:avLst/>
          </a:prstGeom>
          <a:noFill/>
          <a:ln/>
        </p:spPr>
        <p:txBody>
          <a:bodyPr wrap="square" lIns="0" tIns="0" rIns="0" bIns="0" rtlCol="0" anchor="ctr"/>
          <a:lstStyle/>
          <a:p>
            <a:pPr indent="0" marL="0">
              <a:buNone/>
            </a:pPr>
            <a:r>
              <a:rPr lang="en-US" sz="950" dirty="0">
                <a:solidFill>
                  <a:srgbClr val="6E7C87"/>
                </a:solidFill>
                <a:latin typeface="Calibri" pitchFamily="34" charset="0"/>
                <a:ea typeface="Calibri" pitchFamily="34" charset="-122"/>
                <a:cs typeface="Calibri" pitchFamily="34" charset="-120"/>
              </a:rPr>
              <a:t>Vulnérabilités · 3/3 — Récap</a:t>
            </a:r>
            <a:pPr indent="0" marL="0">
              <a:buNone/>
            </a:pPr>
            <a:r>
              <a:rPr lang="en-US" sz="950" dirty="0">
                <a:solidFill>
                  <a:srgbClr val="6E7C87"/>
                </a:solidFill>
                <a:latin typeface="Calibri" pitchFamily="34" charset="0"/>
                <a:ea typeface="Calibri" pitchFamily="34" charset="-122"/>
                <a:cs typeface="Calibri" pitchFamily="34" charset="-120"/>
              </a:rPr>
              <a:t>        On entre → on commande → personne ne voit → ça explose</a:t>
            </a:r>
            <a:endParaRPr lang="en-US" sz="950" dirty="0"/>
          </a:p>
        </p:txBody>
      </p:sp>
      <p:sp>
        <p:nvSpPr>
          <p:cNvPr id="24" name="Shape 22"/>
          <p:cNvSpPr/>
          <p:nvPr/>
        </p:nvSpPr>
        <p:spPr>
          <a:xfrm>
            <a:off x="502920" y="6291072"/>
            <a:ext cx="11155680" cy="0"/>
          </a:xfrm>
          <a:prstGeom prst="line">
            <a:avLst/>
          </a:prstGeom>
          <a:noFill/>
          <a:ln w="12700">
            <a:solidFill>
              <a:srgbClr val="313D47"/>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2026-09-21T11:06:17Z</dcterms:created>
  <dcterms:modified xsi:type="dcterms:W3CDTF">2026-09-21T11:06:17Z</dcterms:modified>
</cp:coreProperties>
</file>