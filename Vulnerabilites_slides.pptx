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vulnérabilités physiques : 5 failles repérées en visitant l'usine. C'est là que notre attaque a réellement commencé — on a ramassé les mots de passe du routeur et de l'automate à la main, avant toute manipulation réseau. La plupart de ces points relèvent du comportement, donc le correctif le plus efficace et le moins cher, c'est la formation et la sensibilisation.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cyber, on ne garde que 4 failles, les plus déterminantes. V1 le pare-feu ouvert et V3 le Modbus sans authentification permettent d'aller librement jusqu'à l'automate. V7-V8, l'absence de détection, fait que l'attaque passe inaperçue. Et V12, l'absence de barrière de sécurité physique indépendante, c'est ce qui transforme la prise de contrôle en explosion. Chaque carte donne le problème, l'effet, et le correctif en 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retenir : la chaîne se lit en une phrase. Les failles physiques donnent l'accès et les mots de passe. Le pare-feu ouvert et le Modbus en clair mènent librement à l'automate. L'absence de détection laisse l'attaque passer inaperçue. Et l'absence de barrière transforme la prise de contrôle en explosion. Message clé : couper un seul maillon casse l'attaque, et la barrière V12 reste le dernier rempart même si tout le reste tombe.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4796F"/>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indent="0" marL="0">
              <a:buNone/>
            </a:pPr>
            <a:r>
              <a:rPr lang="en-US" sz="1100" b="1" spc="200" kern="0" dirty="0">
                <a:solidFill>
                  <a:srgbClr val="E4796F"/>
                </a:solidFill>
                <a:latin typeface="Calibri" pitchFamily="34" charset="0"/>
                <a:ea typeface="Calibri" pitchFamily="34" charset="-122"/>
                <a:cs typeface="Calibri" pitchFamily="34" charset="-120"/>
              </a:rPr>
              <a:t>BARÈME /4</a:t>
            </a:r>
            <a:pPr indent="0" marL="0">
              <a:buNone/>
            </a:pPr>
            <a:r>
              <a:rPr lang="en-US" sz="1100" spc="200" kern="0" dirty="0">
                <a:solidFill>
                  <a:srgbClr val="6E7C87"/>
                </a:solidFill>
                <a:latin typeface="Calibri" pitchFamily="34" charset="0"/>
                <a:ea typeface="Calibri" pitchFamily="34" charset="-122"/>
                <a:cs typeface="Calibri" pitchFamily="34" charset="-120"/>
              </a:rPr>
              <a:t>   ANALYSE DES VULNÉRABILITÉS — PHYSIQUES</a:t>
            </a:r>
            <a:endParaRPr lang="en-US" sz="1100" dirty="0"/>
          </a:p>
        </p:txBody>
      </p:sp>
      <p:sp>
        <p:nvSpPr>
          <p:cNvPr id="4" name="Text 2"/>
          <p:cNvSpPr txBox="1"/>
          <p:nvPr/>
        </p:nvSpPr>
        <p:spPr>
          <a:xfrm>
            <a:off x="502920" y="786384"/>
            <a:ext cx="11155680" cy="914400"/>
          </a:xfrm>
          <a:prstGeom prst="rect">
            <a:avLst/>
          </a:prstGeom>
          <a:noFill/>
          <a:ln/>
        </p:spPr>
        <p:txBody>
          <a:bodyPr wrap="square" lIns="0" tIns="0" rIns="0" bIns="0" rtlCol="0" anchor="t"/>
          <a:lstStyle/>
          <a:p>
            <a:pPr indent="0" marL="0">
              <a:lnSpc>
                <a:spcPct val="98000"/>
              </a:lnSpc>
              <a:buNone/>
            </a:pPr>
            <a:r>
              <a:rPr lang="en-US" sz="3200" b="1" dirty="0">
                <a:solidFill>
                  <a:srgbClr val="ECF1F5"/>
                </a:solidFill>
                <a:latin typeface="Cambria" pitchFamily="34" charset="0"/>
                <a:ea typeface="Cambria" pitchFamily="34" charset="-122"/>
                <a:cs typeface="Cambria" pitchFamily="34" charset="-120"/>
              </a:rPr>
              <a:t>5 failles trouvées en se promenant dans l'usine</a:t>
            </a:r>
            <a:endParaRPr lang="en-US" sz="3200" dirty="0"/>
          </a:p>
        </p:txBody>
      </p:sp>
      <p:sp>
        <p:nvSpPr>
          <p:cNvPr id="5" name="Shape 3"/>
          <p:cNvSpPr/>
          <p:nvPr/>
        </p:nvSpPr>
        <p:spPr>
          <a:xfrm>
            <a:off x="502920" y="1874520"/>
            <a:ext cx="11155680" cy="822960"/>
          </a:xfrm>
          <a:prstGeom prst="roundRect">
            <a:avLst>
              <a:gd name="adj" fmla="val 6667"/>
            </a:avLst>
          </a:prstGeom>
          <a:solidFill>
            <a:srgbClr val="1B242C"/>
          </a:solidFill>
          <a:ln w="12700">
            <a:solidFill>
              <a:srgbClr val="313D47"/>
            </a:solidFill>
            <a:prstDash val="solid"/>
          </a:ln>
        </p:spPr>
      </p:sp>
      <p:sp>
        <p:nvSpPr>
          <p:cNvPr id="6" name="Text 4"/>
          <p:cNvSpPr txBox="1"/>
          <p:nvPr/>
        </p:nvSpPr>
        <p:spPr>
          <a:xfrm>
            <a:off x="548640" y="1874520"/>
            <a:ext cx="640080" cy="822960"/>
          </a:xfrm>
          <a:prstGeom prst="rect">
            <a:avLst/>
          </a:prstGeom>
          <a:noFill/>
          <a:ln/>
        </p:spPr>
        <p:txBody>
          <a:bodyPr wrap="square" lIns="0" tIns="0" rIns="0" bIns="0" rtlCol="0" anchor="ctr"/>
          <a:lstStyle/>
          <a:p>
            <a:pPr algn="ctr" indent="0" marL="0">
              <a:buNone/>
            </a:pPr>
            <a:r>
              <a:rPr lang="en-US" sz="2600" b="1" dirty="0">
                <a:solidFill>
                  <a:srgbClr val="E0A64A"/>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1280160" y="1874520"/>
            <a:ext cx="6035040" cy="822960"/>
          </a:xfrm>
          <a:prstGeom prst="rect">
            <a:avLst/>
          </a:prstGeom>
          <a:noFill/>
          <a:ln/>
        </p:spPr>
        <p:txBody>
          <a:bodyPr wrap="square" lIns="0" tIns="0" rIns="0" bIns="0" rtlCol="0" anchor="ctr"/>
          <a:lstStyle/>
          <a:p>
            <a:pPr indent="0" marL="0">
              <a:buNone/>
            </a:pPr>
            <a:r>
              <a:rPr lang="en-US" sz="1500" dirty="0">
                <a:solidFill>
                  <a:srgbClr val="ECF1F5"/>
                </a:solidFill>
                <a:latin typeface="Calibri" pitchFamily="34" charset="0"/>
                <a:ea typeface="Calibri" pitchFamily="34" charset="-122"/>
                <a:cs typeface="Calibri" pitchFamily="34" charset="-120"/>
              </a:rPr>
              <a:t>Porte à badge maintenue ouverte par un parpaing</a:t>
            </a:r>
            <a:endParaRPr lang="en-US" sz="1500" dirty="0"/>
          </a:p>
        </p:txBody>
      </p:sp>
      <p:sp>
        <p:nvSpPr>
          <p:cNvPr id="8" name="Shape 6"/>
          <p:cNvSpPr/>
          <p:nvPr/>
        </p:nvSpPr>
        <p:spPr>
          <a:xfrm>
            <a:off x="7452360" y="2020824"/>
            <a:ext cx="0" cy="530352"/>
          </a:xfrm>
          <a:prstGeom prst="line">
            <a:avLst/>
          </a:prstGeom>
          <a:noFill/>
          <a:ln w="12700">
            <a:solidFill>
              <a:srgbClr val="313D47"/>
            </a:solidFill>
            <a:prstDash val="solid"/>
          </a:ln>
        </p:spPr>
      </p:sp>
      <p:sp>
        <p:nvSpPr>
          <p:cNvPr id="9" name="Text 7"/>
          <p:cNvSpPr txBox="1"/>
          <p:nvPr/>
        </p:nvSpPr>
        <p:spPr>
          <a:xfrm>
            <a:off x="7635240" y="1874520"/>
            <a:ext cx="3977640" cy="822960"/>
          </a:xfrm>
          <a:prstGeom prst="rect">
            <a:avLst/>
          </a:prstGeom>
          <a:noFill/>
          <a:ln/>
        </p:spPr>
        <p:txBody>
          <a:bodyPr wrap="square" lIns="0" tIns="0" rIns="0" bIns="0" rtlCol="0" anchor="ctr"/>
          <a:lstStyle/>
          <a:p>
            <a:pPr indent="0" marL="0">
              <a:buNone/>
            </a:pPr>
            <a:r>
              <a:rPr lang="en-US" sz="1350" b="1" dirty="0">
                <a:solidFill>
                  <a:srgbClr val="6FBF95"/>
                </a:solidFill>
                <a:latin typeface="Calibri" pitchFamily="34" charset="0"/>
                <a:ea typeface="Calibri" pitchFamily="34" charset="-122"/>
                <a:cs typeface="Calibri" pitchFamily="34" charset="-120"/>
              </a:rPr>
              <a:t>→  </a:t>
            </a:r>
            <a:pPr indent="0" marL="0">
              <a:buNone/>
            </a:pPr>
            <a:r>
              <a:rPr lang="en-US" sz="1350" dirty="0">
                <a:solidFill>
                  <a:srgbClr val="6FBF95"/>
                </a:solidFill>
                <a:latin typeface="Calibri" pitchFamily="34" charset="0"/>
                <a:ea typeface="Calibri" pitchFamily="34" charset="-122"/>
                <a:cs typeface="Calibri" pitchFamily="34" charset="-120"/>
              </a:rPr>
              <a:t>Ferme-porte + alarme, sensibilisation</a:t>
            </a:r>
            <a:endParaRPr lang="en-US" sz="1350" dirty="0"/>
          </a:p>
        </p:txBody>
      </p:sp>
      <p:sp>
        <p:nvSpPr>
          <p:cNvPr id="10" name="Shape 8"/>
          <p:cNvSpPr/>
          <p:nvPr/>
        </p:nvSpPr>
        <p:spPr>
          <a:xfrm>
            <a:off x="502920" y="2807208"/>
            <a:ext cx="11155680" cy="822960"/>
          </a:xfrm>
          <a:prstGeom prst="roundRect">
            <a:avLst>
              <a:gd name="adj" fmla="val 6667"/>
            </a:avLst>
          </a:prstGeom>
          <a:solidFill>
            <a:srgbClr val="1B242C"/>
          </a:solidFill>
          <a:ln w="12700">
            <a:solidFill>
              <a:srgbClr val="313D47"/>
            </a:solidFill>
            <a:prstDash val="solid"/>
          </a:ln>
        </p:spPr>
      </p:sp>
      <p:sp>
        <p:nvSpPr>
          <p:cNvPr id="11" name="Text 9"/>
          <p:cNvSpPr txBox="1"/>
          <p:nvPr/>
        </p:nvSpPr>
        <p:spPr>
          <a:xfrm>
            <a:off x="548640" y="2807208"/>
            <a:ext cx="640080" cy="822960"/>
          </a:xfrm>
          <a:prstGeom prst="rect">
            <a:avLst/>
          </a:prstGeom>
          <a:noFill/>
          <a:ln/>
        </p:spPr>
        <p:txBody>
          <a:bodyPr wrap="square" lIns="0" tIns="0" rIns="0" bIns="0" rtlCol="0" anchor="ctr"/>
          <a:lstStyle/>
          <a:p>
            <a:pPr algn="ctr" indent="0" marL="0">
              <a:buNone/>
            </a:pPr>
            <a:r>
              <a:rPr lang="en-US" sz="2600" b="1" dirty="0">
                <a:solidFill>
                  <a:srgbClr val="E0A64A"/>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1280160" y="2807208"/>
            <a:ext cx="6035040" cy="822960"/>
          </a:xfrm>
          <a:prstGeom prst="rect">
            <a:avLst/>
          </a:prstGeom>
          <a:noFill/>
          <a:ln/>
        </p:spPr>
        <p:txBody>
          <a:bodyPr wrap="square" lIns="0" tIns="0" rIns="0" bIns="0" rtlCol="0" anchor="ctr"/>
          <a:lstStyle/>
          <a:p>
            <a:pPr indent="0" marL="0">
              <a:buNone/>
            </a:pPr>
            <a:r>
              <a:rPr lang="en-US" sz="1500" dirty="0">
                <a:solidFill>
                  <a:srgbClr val="ECF1F5"/>
                </a:solidFill>
                <a:latin typeface="Calibri" pitchFamily="34" charset="0"/>
                <a:ea typeface="Calibri" pitchFamily="34" charset="-122"/>
                <a:cs typeface="Calibri" pitchFamily="34" charset="-120"/>
              </a:rPr>
              <a:t>Mots de passe sur post-it (×2)</a:t>
            </a:r>
            <a:endParaRPr lang="en-US" sz="1500" dirty="0"/>
          </a:p>
        </p:txBody>
      </p:sp>
      <p:sp>
        <p:nvSpPr>
          <p:cNvPr id="13" name="Shape 11"/>
          <p:cNvSpPr/>
          <p:nvPr/>
        </p:nvSpPr>
        <p:spPr>
          <a:xfrm>
            <a:off x="7452360" y="2953512"/>
            <a:ext cx="0" cy="530352"/>
          </a:xfrm>
          <a:prstGeom prst="line">
            <a:avLst/>
          </a:prstGeom>
          <a:noFill/>
          <a:ln w="12700">
            <a:solidFill>
              <a:srgbClr val="313D47"/>
            </a:solidFill>
            <a:prstDash val="solid"/>
          </a:ln>
        </p:spPr>
      </p:sp>
      <p:sp>
        <p:nvSpPr>
          <p:cNvPr id="14" name="Text 12"/>
          <p:cNvSpPr txBox="1"/>
          <p:nvPr/>
        </p:nvSpPr>
        <p:spPr>
          <a:xfrm>
            <a:off x="7635240" y="2807208"/>
            <a:ext cx="3977640" cy="822960"/>
          </a:xfrm>
          <a:prstGeom prst="rect">
            <a:avLst/>
          </a:prstGeom>
          <a:noFill/>
          <a:ln/>
        </p:spPr>
        <p:txBody>
          <a:bodyPr wrap="square" lIns="0" tIns="0" rIns="0" bIns="0" rtlCol="0" anchor="ctr"/>
          <a:lstStyle/>
          <a:p>
            <a:pPr indent="0" marL="0">
              <a:buNone/>
            </a:pPr>
            <a:r>
              <a:rPr lang="en-US" sz="1350" b="1" dirty="0">
                <a:solidFill>
                  <a:srgbClr val="6FBF95"/>
                </a:solidFill>
                <a:latin typeface="Calibri" pitchFamily="34" charset="0"/>
                <a:ea typeface="Calibri" pitchFamily="34" charset="-122"/>
                <a:cs typeface="Calibri" pitchFamily="34" charset="-120"/>
              </a:rPr>
              <a:t>→  </a:t>
            </a:r>
            <a:pPr indent="0" marL="0">
              <a:buNone/>
            </a:pPr>
            <a:r>
              <a:rPr lang="en-US" sz="1350" dirty="0">
                <a:solidFill>
                  <a:srgbClr val="6FBF95"/>
                </a:solidFill>
                <a:latin typeface="Calibri" pitchFamily="34" charset="0"/>
                <a:ea typeface="Calibri" pitchFamily="34" charset="-122"/>
                <a:cs typeface="Calibri" pitchFamily="34" charset="-120"/>
              </a:rPr>
              <a:t>Coffre-fort de mots de passe, « clean desk »</a:t>
            </a:r>
            <a:endParaRPr lang="en-US" sz="1350" dirty="0"/>
          </a:p>
        </p:txBody>
      </p:sp>
      <p:sp>
        <p:nvSpPr>
          <p:cNvPr id="15" name="Shape 13"/>
          <p:cNvSpPr/>
          <p:nvPr/>
        </p:nvSpPr>
        <p:spPr>
          <a:xfrm>
            <a:off x="502920" y="3739896"/>
            <a:ext cx="11155680" cy="822960"/>
          </a:xfrm>
          <a:prstGeom prst="roundRect">
            <a:avLst>
              <a:gd name="adj" fmla="val 6667"/>
            </a:avLst>
          </a:prstGeom>
          <a:solidFill>
            <a:srgbClr val="1B242C"/>
          </a:solidFill>
          <a:ln w="12700">
            <a:solidFill>
              <a:srgbClr val="313D47"/>
            </a:solidFill>
            <a:prstDash val="solid"/>
          </a:ln>
        </p:spPr>
      </p:sp>
      <p:sp>
        <p:nvSpPr>
          <p:cNvPr id="16" name="Text 14"/>
          <p:cNvSpPr txBox="1"/>
          <p:nvPr/>
        </p:nvSpPr>
        <p:spPr>
          <a:xfrm>
            <a:off x="548640" y="3739896"/>
            <a:ext cx="640080" cy="822960"/>
          </a:xfrm>
          <a:prstGeom prst="rect">
            <a:avLst/>
          </a:prstGeom>
          <a:noFill/>
          <a:ln/>
        </p:spPr>
        <p:txBody>
          <a:bodyPr wrap="square" lIns="0" tIns="0" rIns="0" bIns="0" rtlCol="0" anchor="ctr"/>
          <a:lstStyle/>
          <a:p>
            <a:pPr algn="ctr" indent="0" marL="0">
              <a:buNone/>
            </a:pPr>
            <a:r>
              <a:rPr lang="en-US" sz="2600" b="1" dirty="0">
                <a:solidFill>
                  <a:srgbClr val="E0A64A"/>
                </a:solidFill>
                <a:latin typeface="Cambria" pitchFamily="34" charset="0"/>
                <a:ea typeface="Cambria" pitchFamily="34" charset="-122"/>
                <a:cs typeface="Cambria" pitchFamily="34" charset="-120"/>
              </a:rPr>
              <a:t>4</a:t>
            </a:r>
            <a:endParaRPr lang="en-US" sz="2600" dirty="0"/>
          </a:p>
        </p:txBody>
      </p:sp>
      <p:sp>
        <p:nvSpPr>
          <p:cNvPr id="17" name="Text 15"/>
          <p:cNvSpPr txBox="1"/>
          <p:nvPr/>
        </p:nvSpPr>
        <p:spPr>
          <a:xfrm>
            <a:off x="1280160" y="3739896"/>
            <a:ext cx="6035040" cy="822960"/>
          </a:xfrm>
          <a:prstGeom prst="rect">
            <a:avLst/>
          </a:prstGeom>
          <a:noFill/>
          <a:ln/>
        </p:spPr>
        <p:txBody>
          <a:bodyPr wrap="square" lIns="0" tIns="0" rIns="0" bIns="0" rtlCol="0" anchor="ctr"/>
          <a:lstStyle/>
          <a:p>
            <a:pPr indent="0" marL="0">
              <a:buNone/>
            </a:pPr>
            <a:r>
              <a:rPr lang="en-US" sz="1500" dirty="0">
                <a:solidFill>
                  <a:srgbClr val="ECF1F5"/>
                </a:solidFill>
                <a:latin typeface="Calibri" pitchFamily="34" charset="0"/>
                <a:ea typeface="Calibri" pitchFamily="34" charset="-122"/>
                <a:cs typeface="Calibri" pitchFamily="34" charset="-120"/>
              </a:rPr>
              <a:t>Carte d'accès laissée sur le bureau</a:t>
            </a:r>
            <a:endParaRPr lang="en-US" sz="1500" dirty="0"/>
          </a:p>
        </p:txBody>
      </p:sp>
      <p:sp>
        <p:nvSpPr>
          <p:cNvPr id="18" name="Shape 16"/>
          <p:cNvSpPr/>
          <p:nvPr/>
        </p:nvSpPr>
        <p:spPr>
          <a:xfrm>
            <a:off x="7452360" y="3886200"/>
            <a:ext cx="0" cy="530352"/>
          </a:xfrm>
          <a:prstGeom prst="line">
            <a:avLst/>
          </a:prstGeom>
          <a:noFill/>
          <a:ln w="12700">
            <a:solidFill>
              <a:srgbClr val="313D47"/>
            </a:solidFill>
            <a:prstDash val="solid"/>
          </a:ln>
        </p:spPr>
      </p:sp>
      <p:sp>
        <p:nvSpPr>
          <p:cNvPr id="19" name="Text 17"/>
          <p:cNvSpPr txBox="1"/>
          <p:nvPr/>
        </p:nvSpPr>
        <p:spPr>
          <a:xfrm>
            <a:off x="7635240" y="3739896"/>
            <a:ext cx="3977640" cy="822960"/>
          </a:xfrm>
          <a:prstGeom prst="rect">
            <a:avLst/>
          </a:prstGeom>
          <a:noFill/>
          <a:ln/>
        </p:spPr>
        <p:txBody>
          <a:bodyPr wrap="square" lIns="0" tIns="0" rIns="0" bIns="0" rtlCol="0" anchor="ctr"/>
          <a:lstStyle/>
          <a:p>
            <a:pPr indent="0" marL="0">
              <a:buNone/>
            </a:pPr>
            <a:r>
              <a:rPr lang="en-US" sz="1350" b="1" dirty="0">
                <a:solidFill>
                  <a:srgbClr val="6FBF95"/>
                </a:solidFill>
                <a:latin typeface="Calibri" pitchFamily="34" charset="0"/>
                <a:ea typeface="Calibri" pitchFamily="34" charset="-122"/>
                <a:cs typeface="Calibri" pitchFamily="34" charset="-120"/>
              </a:rPr>
              <a:t>→  </a:t>
            </a:r>
            <a:pPr indent="0" marL="0">
              <a:buNone/>
            </a:pPr>
            <a:r>
              <a:rPr lang="en-US" sz="1350" dirty="0">
                <a:solidFill>
                  <a:srgbClr val="6FBF95"/>
                </a:solidFill>
                <a:latin typeface="Calibri" pitchFamily="34" charset="0"/>
                <a:ea typeface="Calibri" pitchFamily="34" charset="-122"/>
                <a:cs typeface="Calibri" pitchFamily="34" charset="-120"/>
              </a:rPr>
              <a:t>Badge personnel porté sur soi</a:t>
            </a:r>
            <a:endParaRPr lang="en-US" sz="1350" dirty="0"/>
          </a:p>
        </p:txBody>
      </p:sp>
      <p:sp>
        <p:nvSpPr>
          <p:cNvPr id="20" name="Shape 18"/>
          <p:cNvSpPr/>
          <p:nvPr/>
        </p:nvSpPr>
        <p:spPr>
          <a:xfrm>
            <a:off x="502920" y="4672584"/>
            <a:ext cx="11155680" cy="822960"/>
          </a:xfrm>
          <a:prstGeom prst="roundRect">
            <a:avLst>
              <a:gd name="adj" fmla="val 6667"/>
            </a:avLst>
          </a:prstGeom>
          <a:solidFill>
            <a:srgbClr val="1B242C"/>
          </a:solidFill>
          <a:ln w="12700">
            <a:solidFill>
              <a:srgbClr val="313D47"/>
            </a:solidFill>
            <a:prstDash val="solid"/>
          </a:ln>
        </p:spPr>
      </p:sp>
      <p:sp>
        <p:nvSpPr>
          <p:cNvPr id="21" name="Text 19"/>
          <p:cNvSpPr txBox="1"/>
          <p:nvPr/>
        </p:nvSpPr>
        <p:spPr>
          <a:xfrm>
            <a:off x="548640" y="4672584"/>
            <a:ext cx="640080" cy="822960"/>
          </a:xfrm>
          <a:prstGeom prst="rect">
            <a:avLst/>
          </a:prstGeom>
          <a:noFill/>
          <a:ln/>
        </p:spPr>
        <p:txBody>
          <a:bodyPr wrap="square" lIns="0" tIns="0" rIns="0" bIns="0" rtlCol="0" anchor="ctr"/>
          <a:lstStyle/>
          <a:p>
            <a:pPr algn="ctr" indent="0" marL="0">
              <a:buNone/>
            </a:pPr>
            <a:r>
              <a:rPr lang="en-US" sz="2600" b="1" dirty="0">
                <a:solidFill>
                  <a:srgbClr val="E0A64A"/>
                </a:solidFill>
                <a:latin typeface="Cambria" pitchFamily="34" charset="0"/>
                <a:ea typeface="Cambria" pitchFamily="34" charset="-122"/>
                <a:cs typeface="Cambria" pitchFamily="34" charset="-120"/>
              </a:rPr>
              <a:t>6</a:t>
            </a:r>
            <a:endParaRPr lang="en-US" sz="2600" dirty="0"/>
          </a:p>
        </p:txBody>
      </p:sp>
      <p:sp>
        <p:nvSpPr>
          <p:cNvPr id="22" name="Text 20"/>
          <p:cNvSpPr txBox="1"/>
          <p:nvPr/>
        </p:nvSpPr>
        <p:spPr>
          <a:xfrm>
            <a:off x="1280160" y="4672584"/>
            <a:ext cx="6035040" cy="822960"/>
          </a:xfrm>
          <a:prstGeom prst="rect">
            <a:avLst/>
          </a:prstGeom>
          <a:noFill/>
          <a:ln/>
        </p:spPr>
        <p:txBody>
          <a:bodyPr wrap="square" lIns="0" tIns="0" rIns="0" bIns="0" rtlCol="0" anchor="ctr"/>
          <a:lstStyle/>
          <a:p>
            <a:pPr indent="0" marL="0">
              <a:buNone/>
            </a:pPr>
            <a:r>
              <a:rPr lang="en-US" sz="1500" dirty="0">
                <a:solidFill>
                  <a:srgbClr val="ECF1F5"/>
                </a:solidFill>
                <a:latin typeface="Calibri" pitchFamily="34" charset="0"/>
                <a:ea typeface="Calibri" pitchFamily="34" charset="-122"/>
                <a:cs typeface="Calibri" pitchFamily="34" charset="-120"/>
              </a:rPr>
              <a:t>Automate (PLC) laissé ouvert</a:t>
            </a:r>
            <a:endParaRPr lang="en-US" sz="1500" dirty="0"/>
          </a:p>
        </p:txBody>
      </p:sp>
      <p:sp>
        <p:nvSpPr>
          <p:cNvPr id="23" name="Shape 21"/>
          <p:cNvSpPr/>
          <p:nvPr/>
        </p:nvSpPr>
        <p:spPr>
          <a:xfrm>
            <a:off x="7452360" y="4818888"/>
            <a:ext cx="0" cy="530352"/>
          </a:xfrm>
          <a:prstGeom prst="line">
            <a:avLst/>
          </a:prstGeom>
          <a:noFill/>
          <a:ln w="12700">
            <a:solidFill>
              <a:srgbClr val="313D47"/>
            </a:solidFill>
            <a:prstDash val="solid"/>
          </a:ln>
        </p:spPr>
      </p:sp>
      <p:sp>
        <p:nvSpPr>
          <p:cNvPr id="24" name="Text 22"/>
          <p:cNvSpPr txBox="1"/>
          <p:nvPr/>
        </p:nvSpPr>
        <p:spPr>
          <a:xfrm>
            <a:off x="7635240" y="4672584"/>
            <a:ext cx="3977640" cy="822960"/>
          </a:xfrm>
          <a:prstGeom prst="rect">
            <a:avLst/>
          </a:prstGeom>
          <a:noFill/>
          <a:ln/>
        </p:spPr>
        <p:txBody>
          <a:bodyPr wrap="square" lIns="0" tIns="0" rIns="0" bIns="0" rtlCol="0" anchor="ctr"/>
          <a:lstStyle/>
          <a:p>
            <a:pPr indent="0" marL="0">
              <a:buNone/>
            </a:pPr>
            <a:r>
              <a:rPr lang="en-US" sz="1350" b="1" dirty="0">
                <a:solidFill>
                  <a:srgbClr val="6FBF95"/>
                </a:solidFill>
                <a:latin typeface="Calibri" pitchFamily="34" charset="0"/>
                <a:ea typeface="Calibri" pitchFamily="34" charset="-122"/>
                <a:cs typeface="Calibri" pitchFamily="34" charset="-120"/>
              </a:rPr>
              <a:t>→  </a:t>
            </a:r>
            <a:pPr indent="0" marL="0">
              <a:buNone/>
            </a:pPr>
            <a:r>
              <a:rPr lang="en-US" sz="1350" dirty="0">
                <a:solidFill>
                  <a:srgbClr val="6FBF95"/>
                </a:solidFill>
                <a:latin typeface="Calibri" pitchFamily="34" charset="0"/>
                <a:ea typeface="Calibri" pitchFamily="34" charset="-122"/>
                <a:cs typeface="Calibri" pitchFamily="34" charset="-120"/>
              </a:rPr>
              <a:t>Armoire à clé, commutateur RUN/PROG</a:t>
            </a:r>
            <a:endParaRPr lang="en-US" sz="1350" dirty="0"/>
          </a:p>
        </p:txBody>
      </p:sp>
      <p:sp>
        <p:nvSpPr>
          <p:cNvPr id="25" name="Shape 23"/>
          <p:cNvSpPr/>
          <p:nvPr/>
        </p:nvSpPr>
        <p:spPr>
          <a:xfrm>
            <a:off x="502920" y="5605272"/>
            <a:ext cx="11155680" cy="822960"/>
          </a:xfrm>
          <a:prstGeom prst="roundRect">
            <a:avLst>
              <a:gd name="adj" fmla="val 6667"/>
            </a:avLst>
          </a:prstGeom>
          <a:solidFill>
            <a:srgbClr val="1B242C"/>
          </a:solidFill>
          <a:ln w="12700">
            <a:solidFill>
              <a:srgbClr val="313D47"/>
            </a:solidFill>
            <a:prstDash val="solid"/>
          </a:ln>
        </p:spPr>
      </p:sp>
      <p:sp>
        <p:nvSpPr>
          <p:cNvPr id="26" name="Text 24"/>
          <p:cNvSpPr txBox="1"/>
          <p:nvPr/>
        </p:nvSpPr>
        <p:spPr>
          <a:xfrm>
            <a:off x="548640" y="5605272"/>
            <a:ext cx="640080" cy="822960"/>
          </a:xfrm>
          <a:prstGeom prst="rect">
            <a:avLst/>
          </a:prstGeom>
          <a:noFill/>
          <a:ln/>
        </p:spPr>
        <p:txBody>
          <a:bodyPr wrap="square" lIns="0" tIns="0" rIns="0" bIns="0" rtlCol="0" anchor="ctr"/>
          <a:lstStyle/>
          <a:p>
            <a:pPr algn="ctr" indent="0" marL="0">
              <a:buNone/>
            </a:pPr>
            <a:r>
              <a:rPr lang="en-US" sz="2600" b="1" dirty="0">
                <a:solidFill>
                  <a:srgbClr val="E0A64A"/>
                </a:solidFill>
                <a:latin typeface="Cambria" pitchFamily="34" charset="0"/>
                <a:ea typeface="Cambria" pitchFamily="34" charset="-122"/>
                <a:cs typeface="Cambria" pitchFamily="34" charset="-120"/>
              </a:rPr>
              <a:t>7</a:t>
            </a:r>
            <a:endParaRPr lang="en-US" sz="2600" dirty="0"/>
          </a:p>
        </p:txBody>
      </p:sp>
      <p:sp>
        <p:nvSpPr>
          <p:cNvPr id="27" name="Text 25"/>
          <p:cNvSpPr txBox="1"/>
          <p:nvPr/>
        </p:nvSpPr>
        <p:spPr>
          <a:xfrm>
            <a:off x="1280160" y="5605272"/>
            <a:ext cx="6035040" cy="822960"/>
          </a:xfrm>
          <a:prstGeom prst="rect">
            <a:avLst/>
          </a:prstGeom>
          <a:noFill/>
          <a:ln/>
        </p:spPr>
        <p:txBody>
          <a:bodyPr wrap="square" lIns="0" tIns="0" rIns="0" bIns="0" rtlCol="0" anchor="ctr"/>
          <a:lstStyle/>
          <a:p>
            <a:pPr indent="0" marL="0">
              <a:buNone/>
            </a:pPr>
            <a:r>
              <a:rPr lang="en-US" sz="1500" dirty="0">
                <a:solidFill>
                  <a:srgbClr val="ECF1F5"/>
                </a:solidFill>
                <a:latin typeface="Calibri" pitchFamily="34" charset="0"/>
                <a:ea typeface="Calibri" pitchFamily="34" charset="-122"/>
                <a:cs typeface="Calibri" pitchFamily="34" charset="-120"/>
              </a:rPr>
              <a:t>IHM utilisable sans se connecter</a:t>
            </a:r>
            <a:endParaRPr lang="en-US" sz="1500" dirty="0"/>
          </a:p>
        </p:txBody>
      </p:sp>
      <p:sp>
        <p:nvSpPr>
          <p:cNvPr id="28" name="Shape 26"/>
          <p:cNvSpPr/>
          <p:nvPr/>
        </p:nvSpPr>
        <p:spPr>
          <a:xfrm>
            <a:off x="7452360" y="5751576"/>
            <a:ext cx="0" cy="530352"/>
          </a:xfrm>
          <a:prstGeom prst="line">
            <a:avLst/>
          </a:prstGeom>
          <a:noFill/>
          <a:ln w="12700">
            <a:solidFill>
              <a:srgbClr val="313D47"/>
            </a:solidFill>
            <a:prstDash val="solid"/>
          </a:ln>
        </p:spPr>
      </p:sp>
      <p:sp>
        <p:nvSpPr>
          <p:cNvPr id="29" name="Text 27"/>
          <p:cNvSpPr txBox="1"/>
          <p:nvPr/>
        </p:nvSpPr>
        <p:spPr>
          <a:xfrm>
            <a:off x="7635240" y="5605272"/>
            <a:ext cx="3977640" cy="822960"/>
          </a:xfrm>
          <a:prstGeom prst="rect">
            <a:avLst/>
          </a:prstGeom>
          <a:noFill/>
          <a:ln/>
        </p:spPr>
        <p:txBody>
          <a:bodyPr wrap="square" lIns="0" tIns="0" rIns="0" bIns="0" rtlCol="0" anchor="ctr"/>
          <a:lstStyle/>
          <a:p>
            <a:pPr indent="0" marL="0">
              <a:buNone/>
            </a:pPr>
            <a:r>
              <a:rPr lang="en-US" sz="1350" b="1" dirty="0">
                <a:solidFill>
                  <a:srgbClr val="6FBF95"/>
                </a:solidFill>
                <a:latin typeface="Calibri" pitchFamily="34" charset="0"/>
                <a:ea typeface="Calibri" pitchFamily="34" charset="-122"/>
                <a:cs typeface="Calibri" pitchFamily="34" charset="-120"/>
              </a:rPr>
              <a:t>→  </a:t>
            </a:r>
            <a:pPr indent="0" marL="0">
              <a:buNone/>
            </a:pPr>
            <a:r>
              <a:rPr lang="en-US" sz="1350" dirty="0">
                <a:solidFill>
                  <a:srgbClr val="6FBF95"/>
                </a:solidFill>
                <a:latin typeface="Calibri" pitchFamily="34" charset="0"/>
                <a:ea typeface="Calibri" pitchFamily="34" charset="-122"/>
                <a:cs typeface="Calibri" pitchFamily="34" charset="-120"/>
              </a:rPr>
              <a:t>Verrouillage de session, authentification</a:t>
            </a:r>
            <a:endParaRPr lang="en-US" sz="1350" dirty="0"/>
          </a:p>
        </p:txBody>
      </p:sp>
      <p:sp>
        <p:nvSpPr>
          <p:cNvPr id="30" name="Text 28"/>
          <p:cNvSpPr txBox="1"/>
          <p:nvPr/>
        </p:nvSpPr>
        <p:spPr>
          <a:xfrm>
            <a:off x="502920" y="5989320"/>
            <a:ext cx="11155680" cy="365760"/>
          </a:xfrm>
          <a:prstGeom prst="rect">
            <a:avLst/>
          </a:prstGeom>
          <a:noFill/>
          <a:ln/>
        </p:spPr>
        <p:txBody>
          <a:bodyPr wrap="square" lIns="0" tIns="0" rIns="0" bIns="0" rtlCol="0" anchor="ctr"/>
          <a:lstStyle/>
          <a:p>
            <a:pPr indent="0" marL="0">
              <a:buNone/>
            </a:pPr>
            <a:r>
              <a:rPr lang="en-US" sz="1200" i="1" dirty="0">
                <a:solidFill>
                  <a:srgbClr val="6E7C87"/>
                </a:solidFill>
                <a:latin typeface="Calibri" pitchFamily="34" charset="0"/>
                <a:ea typeface="Calibri" pitchFamily="34" charset="-122"/>
                <a:cs typeface="Calibri" pitchFamily="34" charset="-120"/>
              </a:rPr>
              <a:t>La plupart relèvent du comportement → le correctif transverse est la formation &amp; la sensibilisation (chiffrée en partie 3).</a:t>
            </a:r>
            <a:endParaRPr lang="en-US" sz="1200" dirty="0"/>
          </a:p>
        </p:txBody>
      </p:sp>
      <p:sp>
        <p:nvSpPr>
          <p:cNvPr id="31" name="Text 29"/>
          <p:cNvSpPr txBox="1"/>
          <p:nvPr/>
        </p:nvSpPr>
        <p:spPr>
          <a:xfrm>
            <a:off x="502920" y="6355080"/>
            <a:ext cx="11155680" cy="274320"/>
          </a:xfrm>
          <a:prstGeom prst="rect">
            <a:avLst/>
          </a:prstGeom>
          <a:noFill/>
          <a:ln/>
        </p:spPr>
        <p:txBody>
          <a:bodyPr wrap="square" lIns="0" tIns="0" rIns="0" bIns="0" rtlCol="0" anchor="ctr"/>
          <a:lstStyle/>
          <a:p>
            <a:pPr indent="0" marL="0">
              <a:buNone/>
            </a:pPr>
            <a:r>
              <a:rPr lang="en-US" sz="950" dirty="0">
                <a:solidFill>
                  <a:srgbClr val="6E7C87"/>
                </a:solidFill>
                <a:latin typeface="Calibri" pitchFamily="34" charset="0"/>
                <a:ea typeface="Calibri" pitchFamily="34" charset="-122"/>
                <a:cs typeface="Calibri" pitchFamily="34" charset="-120"/>
              </a:rPr>
              <a:t>Vulnérabilités · 1/3 — Physiques</a:t>
            </a:r>
            <a:pPr indent="0" marL="0">
              <a:buNone/>
            </a:pPr>
            <a:r>
              <a:rPr lang="en-US" sz="950" dirty="0">
                <a:solidFill>
                  <a:srgbClr val="6E7C87"/>
                </a:solidFill>
                <a:latin typeface="Calibri" pitchFamily="34" charset="0"/>
                <a:ea typeface="Calibri" pitchFamily="34" charset="-122"/>
                <a:cs typeface="Calibri" pitchFamily="34" charset="-120"/>
              </a:rPr>
              <a:t>        L'attaque a commencé ici : mots de passe ramassés à la main</a:t>
            </a:r>
            <a:endParaRPr lang="en-US" sz="950" dirty="0"/>
          </a:p>
        </p:txBody>
      </p:sp>
      <p:sp>
        <p:nvSpPr>
          <p:cNvPr id="32" name="Shape 30"/>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0A64A"/>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indent="0" marL="0">
              <a:buNone/>
            </a:pPr>
            <a:r>
              <a:rPr lang="en-US" sz="1100" b="1" spc="200" kern="0" dirty="0">
                <a:solidFill>
                  <a:srgbClr val="E0A64A"/>
                </a:solidFill>
                <a:latin typeface="Calibri" pitchFamily="34" charset="0"/>
                <a:ea typeface="Calibri" pitchFamily="34" charset="-122"/>
                <a:cs typeface="Calibri" pitchFamily="34" charset="-120"/>
              </a:rPr>
              <a:t>BARÈME /4</a:t>
            </a:r>
            <a:pPr indent="0" marL="0">
              <a:buNone/>
            </a:pPr>
            <a:r>
              <a:rPr lang="en-US" sz="1100" spc="200" kern="0" dirty="0">
                <a:solidFill>
                  <a:srgbClr val="6E7C87"/>
                </a:solidFill>
                <a:latin typeface="Calibri" pitchFamily="34" charset="0"/>
                <a:ea typeface="Calibri" pitchFamily="34" charset="-122"/>
                <a:cs typeface="Calibri" pitchFamily="34" charset="-120"/>
              </a:rPr>
              <a:t>   ANALYSE DES VULNÉRABILITÉS — LOGIQUES &amp; LOGICIELLES</a:t>
            </a:r>
            <a:endParaRPr lang="en-US" sz="1100" dirty="0"/>
          </a:p>
        </p:txBody>
      </p:sp>
      <p:sp>
        <p:nvSpPr>
          <p:cNvPr id="4" name="Text 2"/>
          <p:cNvSpPr txBox="1"/>
          <p:nvPr/>
        </p:nvSpPr>
        <p:spPr>
          <a:xfrm>
            <a:off x="502920" y="786384"/>
            <a:ext cx="11155680" cy="914400"/>
          </a:xfrm>
          <a:prstGeom prst="rect">
            <a:avLst/>
          </a:prstGeom>
          <a:noFill/>
          <a:ln/>
        </p:spPr>
        <p:txBody>
          <a:bodyPr wrap="square" lIns="0" tIns="0" rIns="0" bIns="0" rtlCol="0" anchor="t"/>
          <a:lstStyle/>
          <a:p>
            <a:pPr indent="0" marL="0">
              <a:lnSpc>
                <a:spcPct val="98000"/>
              </a:lnSpc>
              <a:buNone/>
            </a:pPr>
            <a:r>
              <a:rPr lang="en-US" sz="3200" b="1" dirty="0">
                <a:solidFill>
                  <a:srgbClr val="ECF1F5"/>
                </a:solidFill>
                <a:latin typeface="Cambria" pitchFamily="34" charset="0"/>
                <a:ea typeface="Cambria" pitchFamily="34" charset="-122"/>
                <a:cs typeface="Cambria" pitchFamily="34" charset="-120"/>
              </a:rPr>
              <a:t>4 failles mènent de la DMZ à l'explosion</a:t>
            </a:r>
            <a:endParaRPr lang="en-US" sz="3200" dirty="0"/>
          </a:p>
        </p:txBody>
      </p:sp>
      <p:sp>
        <p:nvSpPr>
          <p:cNvPr id="5" name="Shape 3"/>
          <p:cNvSpPr/>
          <p:nvPr/>
        </p:nvSpPr>
        <p:spPr>
          <a:xfrm>
            <a:off x="502920" y="1874520"/>
            <a:ext cx="5468112" cy="2084832"/>
          </a:xfrm>
          <a:prstGeom prst="roundRect">
            <a:avLst>
              <a:gd name="adj" fmla="val 2632"/>
            </a:avLst>
          </a:prstGeom>
          <a:solidFill>
            <a:srgbClr val="1B242C"/>
          </a:solidFill>
          <a:ln w="12700">
            <a:solidFill>
              <a:srgbClr val="313D47"/>
            </a:solidFill>
            <a:prstDash val="solid"/>
          </a:ln>
        </p:spPr>
      </p:sp>
      <p:sp>
        <p:nvSpPr>
          <p:cNvPr id="6" name="Shape 4"/>
          <p:cNvSpPr/>
          <p:nvPr/>
        </p:nvSpPr>
        <p:spPr>
          <a:xfrm>
            <a:off x="502920" y="1874520"/>
            <a:ext cx="73152" cy="2084832"/>
          </a:xfrm>
          <a:prstGeom prst="rect">
            <a:avLst/>
          </a:prstGeom>
          <a:solidFill>
            <a:srgbClr val="E4796F"/>
          </a:solidFill>
          <a:ln/>
        </p:spPr>
      </p:sp>
      <p:sp>
        <p:nvSpPr>
          <p:cNvPr id="7" name="Text 5"/>
          <p:cNvSpPr txBox="1"/>
          <p:nvPr/>
        </p:nvSpPr>
        <p:spPr>
          <a:xfrm>
            <a:off x="731520" y="2020824"/>
            <a:ext cx="5010912" cy="365760"/>
          </a:xfrm>
          <a:prstGeom prst="rect">
            <a:avLst/>
          </a:prstGeom>
          <a:noFill/>
          <a:ln/>
        </p:spPr>
        <p:txBody>
          <a:bodyPr wrap="square" lIns="0" tIns="0" rIns="0" bIns="0" rtlCol="0" anchor="ctr"/>
          <a:lstStyle/>
          <a:p>
            <a:pPr indent="0" marL="0">
              <a:buNone/>
            </a:pPr>
            <a:r>
              <a:rPr lang="en-US" sz="1700" b="1" dirty="0">
                <a:solidFill>
                  <a:srgbClr val="E4796F"/>
                </a:solidFill>
                <a:latin typeface="Calibri" pitchFamily="34" charset="0"/>
                <a:ea typeface="Calibri" pitchFamily="34" charset="-122"/>
                <a:cs typeface="Calibri" pitchFamily="34" charset="-120"/>
              </a:rPr>
              <a:t>V1  </a:t>
            </a:r>
            <a:pPr indent="0" marL="0">
              <a:buNone/>
            </a:pPr>
            <a:r>
              <a:rPr lang="en-US" sz="1700" b="1" dirty="0">
                <a:solidFill>
                  <a:srgbClr val="ECF1F5"/>
                </a:solidFill>
                <a:latin typeface="Calibri" pitchFamily="34" charset="0"/>
                <a:ea typeface="Calibri" pitchFamily="34" charset="-122"/>
                <a:cs typeface="Calibri" pitchFamily="34" charset="-120"/>
              </a:rPr>
              <a:t>Pare-feu ouvert</a:t>
            </a:r>
            <a:endParaRPr lang="en-US" sz="1700" dirty="0"/>
          </a:p>
        </p:txBody>
      </p:sp>
      <p:sp>
        <p:nvSpPr>
          <p:cNvPr id="8" name="Text 6"/>
          <p:cNvSpPr txBox="1"/>
          <p:nvPr/>
        </p:nvSpPr>
        <p:spPr>
          <a:xfrm>
            <a:off x="731520" y="2441448"/>
            <a:ext cx="5010912" cy="603504"/>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C'est   </a:t>
            </a:r>
            <a:pPr indent="0" marL="0">
              <a:buNone/>
            </a:pPr>
            <a:r>
              <a:rPr lang="en-US" sz="1300" dirty="0">
                <a:solidFill>
                  <a:srgbClr val="9DABB6"/>
                </a:solidFill>
                <a:latin typeface="Calibri" pitchFamily="34" charset="0"/>
                <a:ea typeface="Calibri" pitchFamily="34" charset="-122"/>
                <a:cs typeface="Calibri" pitchFamily="34" charset="-120"/>
              </a:rPr>
              <a:t>Règle « ACCEPT all » : la DMZ atteint directement la zone procédé.</a:t>
            </a:r>
            <a:endParaRPr lang="en-US" sz="1300" dirty="0"/>
          </a:p>
        </p:txBody>
      </p:sp>
      <p:sp>
        <p:nvSpPr>
          <p:cNvPr id="9" name="Text 7"/>
          <p:cNvSpPr txBox="1"/>
          <p:nvPr/>
        </p:nvSpPr>
        <p:spPr>
          <a:xfrm>
            <a:off x="731520" y="3044952"/>
            <a:ext cx="5010912" cy="402336"/>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Effet   </a:t>
            </a:r>
            <a:pPr indent="0" marL="0">
              <a:buNone/>
            </a:pPr>
            <a:r>
              <a:rPr lang="en-US" sz="1300" dirty="0">
                <a:solidFill>
                  <a:srgbClr val="9DABB6"/>
                </a:solidFill>
                <a:latin typeface="Calibri" pitchFamily="34" charset="0"/>
                <a:ea typeface="Calibri" pitchFamily="34" charset="-122"/>
                <a:cs typeface="Calibri" pitchFamily="34" charset="-120"/>
              </a:rPr>
              <a:t>Aucune séparation réelle.</a:t>
            </a:r>
            <a:endParaRPr lang="en-US" sz="1300" dirty="0"/>
          </a:p>
        </p:txBody>
      </p:sp>
      <p:sp>
        <p:nvSpPr>
          <p:cNvPr id="10" name="Text 8"/>
          <p:cNvSpPr txBox="1"/>
          <p:nvPr/>
        </p:nvSpPr>
        <p:spPr>
          <a:xfrm>
            <a:off x="731520" y="3502152"/>
            <a:ext cx="5010912" cy="384048"/>
          </a:xfrm>
          <a:prstGeom prst="rect">
            <a:avLst/>
          </a:prstGeom>
          <a:noFill/>
          <a:ln/>
        </p:spPr>
        <p:txBody>
          <a:bodyPr wrap="square" lIns="0" tIns="0" rIns="0" bIns="0" rtlCol="0" anchor="t"/>
          <a:lstStyle/>
          <a:p>
            <a:pPr indent="0" marL="0">
              <a:buNone/>
            </a:pPr>
            <a:r>
              <a:rPr lang="en-US" sz="1250" b="1" dirty="0">
                <a:solidFill>
                  <a:srgbClr val="6FBF95"/>
                </a:solidFill>
                <a:latin typeface="Calibri" pitchFamily="34" charset="0"/>
                <a:ea typeface="Calibri" pitchFamily="34" charset="-122"/>
                <a:cs typeface="Calibri" pitchFamily="34" charset="-120"/>
              </a:rPr>
              <a:t>→  </a:t>
            </a:r>
            <a:pPr indent="0" marL="0">
              <a:buNone/>
            </a:pPr>
            <a:r>
              <a:rPr lang="en-US" sz="1250" dirty="0">
                <a:solidFill>
                  <a:srgbClr val="6FBF95"/>
                </a:solidFill>
                <a:latin typeface="Calibri" pitchFamily="34" charset="0"/>
                <a:ea typeface="Calibri" pitchFamily="34" charset="-122"/>
                <a:cs typeface="Calibri" pitchFamily="34" charset="-120"/>
              </a:rPr>
              <a:t>Refus par défaut, une règle par flux</a:t>
            </a:r>
            <a:endParaRPr lang="en-US" sz="1250" dirty="0"/>
          </a:p>
        </p:txBody>
      </p:sp>
      <p:sp>
        <p:nvSpPr>
          <p:cNvPr id="11" name="Shape 9"/>
          <p:cNvSpPr/>
          <p:nvPr/>
        </p:nvSpPr>
        <p:spPr>
          <a:xfrm>
            <a:off x="6190488" y="1874520"/>
            <a:ext cx="5468112" cy="2084832"/>
          </a:xfrm>
          <a:prstGeom prst="roundRect">
            <a:avLst>
              <a:gd name="adj" fmla="val 2632"/>
            </a:avLst>
          </a:prstGeom>
          <a:solidFill>
            <a:srgbClr val="1B242C"/>
          </a:solidFill>
          <a:ln w="12700">
            <a:solidFill>
              <a:srgbClr val="313D47"/>
            </a:solidFill>
            <a:prstDash val="solid"/>
          </a:ln>
        </p:spPr>
      </p:sp>
      <p:sp>
        <p:nvSpPr>
          <p:cNvPr id="12" name="Shape 10"/>
          <p:cNvSpPr/>
          <p:nvPr/>
        </p:nvSpPr>
        <p:spPr>
          <a:xfrm>
            <a:off x="6190488" y="1874520"/>
            <a:ext cx="73152" cy="2084832"/>
          </a:xfrm>
          <a:prstGeom prst="rect">
            <a:avLst/>
          </a:prstGeom>
          <a:solidFill>
            <a:srgbClr val="E4796F"/>
          </a:solidFill>
          <a:ln/>
        </p:spPr>
      </p:sp>
      <p:sp>
        <p:nvSpPr>
          <p:cNvPr id="13" name="Text 11"/>
          <p:cNvSpPr txBox="1"/>
          <p:nvPr/>
        </p:nvSpPr>
        <p:spPr>
          <a:xfrm>
            <a:off x="6419088" y="2020824"/>
            <a:ext cx="5010912" cy="365760"/>
          </a:xfrm>
          <a:prstGeom prst="rect">
            <a:avLst/>
          </a:prstGeom>
          <a:noFill/>
          <a:ln/>
        </p:spPr>
        <p:txBody>
          <a:bodyPr wrap="square" lIns="0" tIns="0" rIns="0" bIns="0" rtlCol="0" anchor="ctr"/>
          <a:lstStyle/>
          <a:p>
            <a:pPr indent="0" marL="0">
              <a:buNone/>
            </a:pPr>
            <a:r>
              <a:rPr lang="en-US" sz="1700" b="1" dirty="0">
                <a:solidFill>
                  <a:srgbClr val="E4796F"/>
                </a:solidFill>
                <a:latin typeface="Calibri" pitchFamily="34" charset="0"/>
                <a:ea typeface="Calibri" pitchFamily="34" charset="-122"/>
                <a:cs typeface="Calibri" pitchFamily="34" charset="-120"/>
              </a:rPr>
              <a:t>V3  </a:t>
            </a:r>
            <a:pPr indent="0" marL="0">
              <a:buNone/>
            </a:pPr>
            <a:r>
              <a:rPr lang="en-US" sz="1700" b="1" dirty="0">
                <a:solidFill>
                  <a:srgbClr val="ECF1F5"/>
                </a:solidFill>
                <a:latin typeface="Calibri" pitchFamily="34" charset="0"/>
                <a:ea typeface="Calibri" pitchFamily="34" charset="-122"/>
                <a:cs typeface="Calibri" pitchFamily="34" charset="-120"/>
              </a:rPr>
              <a:t>Modbus sans authentification</a:t>
            </a:r>
            <a:endParaRPr lang="en-US" sz="1700" dirty="0"/>
          </a:p>
        </p:txBody>
      </p:sp>
      <p:sp>
        <p:nvSpPr>
          <p:cNvPr id="14" name="Text 12"/>
          <p:cNvSpPr txBox="1"/>
          <p:nvPr/>
        </p:nvSpPr>
        <p:spPr>
          <a:xfrm>
            <a:off x="6419088" y="2441448"/>
            <a:ext cx="5010912" cy="603504"/>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C'est   </a:t>
            </a:r>
            <a:pPr indent="0" marL="0">
              <a:buNone/>
            </a:pPr>
            <a:r>
              <a:rPr lang="en-US" sz="1300" dirty="0">
                <a:solidFill>
                  <a:srgbClr val="9DABB6"/>
                </a:solidFill>
                <a:latin typeface="Calibri" pitchFamily="34" charset="0"/>
                <a:ea typeface="Calibri" pitchFamily="34" charset="-122"/>
                <a:cs typeface="Calibri" pitchFamily="34" charset="-120"/>
              </a:rPr>
              <a:t>Le port 502 circule en clair, sans identité ni signature.</a:t>
            </a:r>
            <a:endParaRPr lang="en-US" sz="1300" dirty="0"/>
          </a:p>
        </p:txBody>
      </p:sp>
      <p:sp>
        <p:nvSpPr>
          <p:cNvPr id="15" name="Text 13"/>
          <p:cNvSpPr txBox="1"/>
          <p:nvPr/>
        </p:nvSpPr>
        <p:spPr>
          <a:xfrm>
            <a:off x="6419088" y="3044952"/>
            <a:ext cx="5010912" cy="402336"/>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Effet   </a:t>
            </a:r>
            <a:pPr indent="0" marL="0">
              <a:buNone/>
            </a:pPr>
            <a:r>
              <a:rPr lang="en-US" sz="1300" dirty="0">
                <a:solidFill>
                  <a:srgbClr val="9DABB6"/>
                </a:solidFill>
                <a:latin typeface="Calibri" pitchFamily="34" charset="0"/>
                <a:ea typeface="Calibri" pitchFamily="34" charset="-122"/>
                <a:cs typeface="Calibri" pitchFamily="34" charset="-120"/>
              </a:rPr>
              <a:t>Quiconque l'atteint lit et écrit les vannes.</a:t>
            </a:r>
            <a:endParaRPr lang="en-US" sz="1300" dirty="0"/>
          </a:p>
        </p:txBody>
      </p:sp>
      <p:sp>
        <p:nvSpPr>
          <p:cNvPr id="16" name="Text 14"/>
          <p:cNvSpPr txBox="1"/>
          <p:nvPr/>
        </p:nvSpPr>
        <p:spPr>
          <a:xfrm>
            <a:off x="6419088" y="3502152"/>
            <a:ext cx="5010912" cy="384048"/>
          </a:xfrm>
          <a:prstGeom prst="rect">
            <a:avLst/>
          </a:prstGeom>
          <a:noFill/>
          <a:ln/>
        </p:spPr>
        <p:txBody>
          <a:bodyPr wrap="square" lIns="0" tIns="0" rIns="0" bIns="0" rtlCol="0" anchor="t"/>
          <a:lstStyle/>
          <a:p>
            <a:pPr indent="0" marL="0">
              <a:buNone/>
            </a:pPr>
            <a:r>
              <a:rPr lang="en-US" sz="1250" b="1" dirty="0">
                <a:solidFill>
                  <a:srgbClr val="6FBF95"/>
                </a:solidFill>
                <a:latin typeface="Calibri" pitchFamily="34" charset="0"/>
                <a:ea typeface="Calibri" pitchFamily="34" charset="-122"/>
                <a:cs typeface="Calibri" pitchFamily="34" charset="-120"/>
              </a:rPr>
              <a:t>→  </a:t>
            </a:r>
            <a:pPr indent="0" marL="0">
              <a:buNone/>
            </a:pPr>
            <a:r>
              <a:rPr lang="en-US" sz="1250" dirty="0">
                <a:solidFill>
                  <a:srgbClr val="6FBF95"/>
                </a:solidFill>
                <a:latin typeface="Calibri" pitchFamily="34" charset="0"/>
                <a:ea typeface="Calibri" pitchFamily="34" charset="-122"/>
                <a:cs typeface="Calibri" pitchFamily="34" charset="-120"/>
              </a:rPr>
              <a:t>Pare-feu à inspection Modbus, à terme Modbus/TLS</a:t>
            </a:r>
            <a:endParaRPr lang="en-US" sz="1250" dirty="0"/>
          </a:p>
        </p:txBody>
      </p:sp>
      <p:sp>
        <p:nvSpPr>
          <p:cNvPr id="17" name="Shape 15"/>
          <p:cNvSpPr/>
          <p:nvPr/>
        </p:nvSpPr>
        <p:spPr>
          <a:xfrm>
            <a:off x="502920" y="4160520"/>
            <a:ext cx="5468112" cy="2084832"/>
          </a:xfrm>
          <a:prstGeom prst="roundRect">
            <a:avLst>
              <a:gd name="adj" fmla="val 2632"/>
            </a:avLst>
          </a:prstGeom>
          <a:solidFill>
            <a:srgbClr val="1B242C"/>
          </a:solidFill>
          <a:ln w="12700">
            <a:solidFill>
              <a:srgbClr val="313D47"/>
            </a:solidFill>
            <a:prstDash val="solid"/>
          </a:ln>
        </p:spPr>
      </p:sp>
      <p:sp>
        <p:nvSpPr>
          <p:cNvPr id="18" name="Shape 16"/>
          <p:cNvSpPr/>
          <p:nvPr/>
        </p:nvSpPr>
        <p:spPr>
          <a:xfrm>
            <a:off x="502920" y="4160520"/>
            <a:ext cx="73152" cy="2084832"/>
          </a:xfrm>
          <a:prstGeom prst="rect">
            <a:avLst/>
          </a:prstGeom>
          <a:solidFill>
            <a:srgbClr val="E0A64A"/>
          </a:solidFill>
          <a:ln/>
        </p:spPr>
      </p:sp>
      <p:sp>
        <p:nvSpPr>
          <p:cNvPr id="19" name="Text 17"/>
          <p:cNvSpPr txBox="1"/>
          <p:nvPr/>
        </p:nvSpPr>
        <p:spPr>
          <a:xfrm>
            <a:off x="731520" y="4306824"/>
            <a:ext cx="5010912" cy="365760"/>
          </a:xfrm>
          <a:prstGeom prst="rect">
            <a:avLst/>
          </a:prstGeom>
          <a:noFill/>
          <a:ln/>
        </p:spPr>
        <p:txBody>
          <a:bodyPr wrap="square" lIns="0" tIns="0" rIns="0" bIns="0" rtlCol="0" anchor="ctr"/>
          <a:lstStyle/>
          <a:p>
            <a:pPr indent="0" marL="0">
              <a:buNone/>
            </a:pPr>
            <a:r>
              <a:rPr lang="en-US" sz="1700" b="1" dirty="0">
                <a:solidFill>
                  <a:srgbClr val="E0A64A"/>
                </a:solidFill>
                <a:latin typeface="Calibri" pitchFamily="34" charset="0"/>
                <a:ea typeface="Calibri" pitchFamily="34" charset="-122"/>
                <a:cs typeface="Calibri" pitchFamily="34" charset="-120"/>
              </a:rPr>
              <a:t>V7·V8  </a:t>
            </a:r>
            <a:pPr indent="0" marL="0">
              <a:buNone/>
            </a:pPr>
            <a:r>
              <a:rPr lang="en-US" sz="1700" b="1" dirty="0">
                <a:solidFill>
                  <a:srgbClr val="ECF1F5"/>
                </a:solidFill>
                <a:latin typeface="Calibri" pitchFamily="34" charset="0"/>
                <a:ea typeface="Calibri" pitchFamily="34" charset="-122"/>
                <a:cs typeface="Calibri" pitchFamily="34" charset="-120"/>
              </a:rPr>
              <a:t>Ni détection, ni journalisation</a:t>
            </a:r>
            <a:endParaRPr lang="en-US" sz="1700" dirty="0"/>
          </a:p>
        </p:txBody>
      </p:sp>
      <p:sp>
        <p:nvSpPr>
          <p:cNvPr id="20" name="Text 18"/>
          <p:cNvSpPr txBox="1"/>
          <p:nvPr/>
        </p:nvSpPr>
        <p:spPr>
          <a:xfrm>
            <a:off x="731520" y="4727448"/>
            <a:ext cx="5010912" cy="603504"/>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C'est   </a:t>
            </a:r>
            <a:pPr indent="0" marL="0">
              <a:buNone/>
            </a:pPr>
            <a:r>
              <a:rPr lang="en-US" sz="1300" dirty="0">
                <a:solidFill>
                  <a:srgbClr val="9DABB6"/>
                </a:solidFill>
                <a:latin typeface="Calibri" pitchFamily="34" charset="0"/>
                <a:ea typeface="Calibri" pitchFamily="34" charset="-122"/>
                <a:cs typeface="Calibri" pitchFamily="34" charset="-120"/>
              </a:rPr>
              <a:t>IDS aveugle sur l'OT, SIEM désactivé, aucun journal.</a:t>
            </a:r>
            <a:endParaRPr lang="en-US" sz="1300" dirty="0"/>
          </a:p>
        </p:txBody>
      </p:sp>
      <p:sp>
        <p:nvSpPr>
          <p:cNvPr id="21" name="Text 19"/>
          <p:cNvSpPr txBox="1"/>
          <p:nvPr/>
        </p:nvSpPr>
        <p:spPr>
          <a:xfrm>
            <a:off x="731520" y="5330952"/>
            <a:ext cx="5010912" cy="402336"/>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Effet   </a:t>
            </a:r>
            <a:pPr indent="0" marL="0">
              <a:buNone/>
            </a:pPr>
            <a:r>
              <a:rPr lang="en-US" sz="1300" dirty="0">
                <a:solidFill>
                  <a:srgbClr val="9DABB6"/>
                </a:solidFill>
                <a:latin typeface="Calibri" pitchFamily="34" charset="0"/>
                <a:ea typeface="Calibri" pitchFamily="34" charset="-122"/>
                <a:cs typeface="Calibri" pitchFamily="34" charset="-120"/>
              </a:rPr>
              <a:t>L'attaque passe totalement inaperçue.</a:t>
            </a:r>
            <a:endParaRPr lang="en-US" sz="1300" dirty="0"/>
          </a:p>
        </p:txBody>
      </p:sp>
      <p:sp>
        <p:nvSpPr>
          <p:cNvPr id="22" name="Text 20"/>
          <p:cNvSpPr txBox="1"/>
          <p:nvPr/>
        </p:nvSpPr>
        <p:spPr>
          <a:xfrm>
            <a:off x="731520" y="5788152"/>
            <a:ext cx="5010912" cy="384048"/>
          </a:xfrm>
          <a:prstGeom prst="rect">
            <a:avLst/>
          </a:prstGeom>
          <a:noFill/>
          <a:ln/>
        </p:spPr>
        <p:txBody>
          <a:bodyPr wrap="square" lIns="0" tIns="0" rIns="0" bIns="0" rtlCol="0" anchor="t"/>
          <a:lstStyle/>
          <a:p>
            <a:pPr indent="0" marL="0">
              <a:buNone/>
            </a:pPr>
            <a:r>
              <a:rPr lang="en-US" sz="1250" b="1" dirty="0">
                <a:solidFill>
                  <a:srgbClr val="6FBF95"/>
                </a:solidFill>
                <a:latin typeface="Calibri" pitchFamily="34" charset="0"/>
                <a:ea typeface="Calibri" pitchFamily="34" charset="-122"/>
                <a:cs typeface="Calibri" pitchFamily="34" charset="-120"/>
              </a:rPr>
              <a:t>→  </a:t>
            </a:r>
            <a:pPr indent="0" marL="0">
              <a:buNone/>
            </a:pPr>
            <a:r>
              <a:rPr lang="en-US" sz="1250" dirty="0">
                <a:solidFill>
                  <a:srgbClr val="6FBF95"/>
                </a:solidFill>
                <a:latin typeface="Calibri" pitchFamily="34" charset="0"/>
                <a:ea typeface="Calibri" pitchFamily="34" charset="-122"/>
                <a:cs typeface="Calibri" pitchFamily="34" charset="-120"/>
              </a:rPr>
              <a:t>IDS étendu à l'OT + SIEM centralisé</a:t>
            </a:r>
            <a:endParaRPr lang="en-US" sz="1250" dirty="0"/>
          </a:p>
        </p:txBody>
      </p:sp>
      <p:sp>
        <p:nvSpPr>
          <p:cNvPr id="23" name="Shape 21"/>
          <p:cNvSpPr/>
          <p:nvPr/>
        </p:nvSpPr>
        <p:spPr>
          <a:xfrm>
            <a:off x="6190488" y="4160520"/>
            <a:ext cx="5468112" cy="2084832"/>
          </a:xfrm>
          <a:prstGeom prst="roundRect">
            <a:avLst>
              <a:gd name="adj" fmla="val 2632"/>
            </a:avLst>
          </a:prstGeom>
          <a:solidFill>
            <a:srgbClr val="1B242C"/>
          </a:solidFill>
          <a:ln w="12700">
            <a:solidFill>
              <a:srgbClr val="313D47"/>
            </a:solidFill>
            <a:prstDash val="solid"/>
          </a:ln>
        </p:spPr>
      </p:sp>
      <p:sp>
        <p:nvSpPr>
          <p:cNvPr id="24" name="Shape 22"/>
          <p:cNvSpPr/>
          <p:nvPr/>
        </p:nvSpPr>
        <p:spPr>
          <a:xfrm>
            <a:off x="6190488" y="4160520"/>
            <a:ext cx="73152" cy="2084832"/>
          </a:xfrm>
          <a:prstGeom prst="rect">
            <a:avLst/>
          </a:prstGeom>
          <a:solidFill>
            <a:srgbClr val="E4796F"/>
          </a:solidFill>
          <a:ln/>
        </p:spPr>
      </p:sp>
      <p:sp>
        <p:nvSpPr>
          <p:cNvPr id="25" name="Text 23"/>
          <p:cNvSpPr txBox="1"/>
          <p:nvPr/>
        </p:nvSpPr>
        <p:spPr>
          <a:xfrm>
            <a:off x="6419088" y="4306824"/>
            <a:ext cx="5010912" cy="365760"/>
          </a:xfrm>
          <a:prstGeom prst="rect">
            <a:avLst/>
          </a:prstGeom>
          <a:noFill/>
          <a:ln/>
        </p:spPr>
        <p:txBody>
          <a:bodyPr wrap="square" lIns="0" tIns="0" rIns="0" bIns="0" rtlCol="0" anchor="ctr"/>
          <a:lstStyle/>
          <a:p>
            <a:pPr indent="0" marL="0">
              <a:buNone/>
            </a:pPr>
            <a:r>
              <a:rPr lang="en-US" sz="1700" b="1" dirty="0">
                <a:solidFill>
                  <a:srgbClr val="E4796F"/>
                </a:solidFill>
                <a:latin typeface="Calibri" pitchFamily="34" charset="0"/>
                <a:ea typeface="Calibri" pitchFamily="34" charset="-122"/>
                <a:cs typeface="Calibri" pitchFamily="34" charset="-120"/>
              </a:rPr>
              <a:t>V12  </a:t>
            </a:r>
            <a:pPr indent="0" marL="0">
              <a:buNone/>
            </a:pPr>
            <a:r>
              <a:rPr lang="en-US" sz="1700" b="1" dirty="0">
                <a:solidFill>
                  <a:srgbClr val="ECF1F5"/>
                </a:solidFill>
                <a:latin typeface="Calibri" pitchFamily="34" charset="0"/>
                <a:ea typeface="Calibri" pitchFamily="34" charset="-122"/>
                <a:cs typeface="Calibri" pitchFamily="34" charset="-120"/>
              </a:rPr>
              <a:t>Aucune barrière de sécurité physique</a:t>
            </a:r>
            <a:endParaRPr lang="en-US" sz="1700" dirty="0"/>
          </a:p>
        </p:txBody>
      </p:sp>
      <p:sp>
        <p:nvSpPr>
          <p:cNvPr id="26" name="Text 24"/>
          <p:cNvSpPr txBox="1"/>
          <p:nvPr/>
        </p:nvSpPr>
        <p:spPr>
          <a:xfrm>
            <a:off x="6419088" y="4727448"/>
            <a:ext cx="5010912" cy="603504"/>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C'est   </a:t>
            </a:r>
            <a:pPr indent="0" marL="0">
              <a:buNone/>
            </a:pPr>
            <a:r>
              <a:rPr lang="en-US" sz="1300" dirty="0">
                <a:solidFill>
                  <a:srgbClr val="9DABB6"/>
                </a:solidFill>
                <a:latin typeface="Calibri" pitchFamily="34" charset="0"/>
                <a:ea typeface="Calibri" pitchFamily="34" charset="-122"/>
                <a:cs typeface="Calibri" pitchFamily="34" charset="-120"/>
              </a:rPr>
              <a:t>La seule protection est le programme de l'automate — celui qu'on pirate.</a:t>
            </a:r>
            <a:endParaRPr lang="en-US" sz="1300" dirty="0"/>
          </a:p>
        </p:txBody>
      </p:sp>
      <p:sp>
        <p:nvSpPr>
          <p:cNvPr id="27" name="Text 25"/>
          <p:cNvSpPr txBox="1"/>
          <p:nvPr/>
        </p:nvSpPr>
        <p:spPr>
          <a:xfrm>
            <a:off x="6419088" y="5330952"/>
            <a:ext cx="5010912" cy="402336"/>
          </a:xfrm>
          <a:prstGeom prst="rect">
            <a:avLst/>
          </a:prstGeom>
          <a:noFill/>
          <a:ln/>
        </p:spPr>
        <p:txBody>
          <a:bodyPr wrap="square" lIns="0" tIns="0" rIns="0" bIns="0" rtlCol="0" anchor="t"/>
          <a:lstStyle/>
          <a:p>
            <a:pPr indent="0" marL="0">
              <a:buNone/>
            </a:pPr>
            <a:r>
              <a:rPr lang="en-US" sz="1300" b="1" dirty="0">
                <a:solidFill>
                  <a:srgbClr val="6E7C87"/>
                </a:solidFill>
                <a:latin typeface="Calibri" pitchFamily="34" charset="0"/>
                <a:ea typeface="Calibri" pitchFamily="34" charset="-122"/>
                <a:cs typeface="Calibri" pitchFamily="34" charset="-120"/>
              </a:rPr>
              <a:t>Effet   </a:t>
            </a:r>
            <a:pPr indent="0" marL="0">
              <a:buNone/>
            </a:pPr>
            <a:r>
              <a:rPr lang="en-US" sz="1300" dirty="0">
                <a:solidFill>
                  <a:srgbClr val="9DABB6"/>
                </a:solidFill>
                <a:latin typeface="Calibri" pitchFamily="34" charset="0"/>
                <a:ea typeface="Calibri" pitchFamily="34" charset="-122"/>
                <a:cs typeface="Calibri" pitchFamily="34" charset="-120"/>
              </a:rPr>
              <a:t>Rien n'arrête l'emballement : explosion.</a:t>
            </a:r>
            <a:endParaRPr lang="en-US" sz="1300" dirty="0"/>
          </a:p>
        </p:txBody>
      </p:sp>
      <p:sp>
        <p:nvSpPr>
          <p:cNvPr id="28" name="Text 26"/>
          <p:cNvSpPr txBox="1"/>
          <p:nvPr/>
        </p:nvSpPr>
        <p:spPr>
          <a:xfrm>
            <a:off x="6419088" y="5788152"/>
            <a:ext cx="5010912" cy="384048"/>
          </a:xfrm>
          <a:prstGeom prst="rect">
            <a:avLst/>
          </a:prstGeom>
          <a:noFill/>
          <a:ln/>
        </p:spPr>
        <p:txBody>
          <a:bodyPr wrap="square" lIns="0" tIns="0" rIns="0" bIns="0" rtlCol="0" anchor="t"/>
          <a:lstStyle/>
          <a:p>
            <a:pPr indent="0" marL="0">
              <a:buNone/>
            </a:pPr>
            <a:r>
              <a:rPr lang="en-US" sz="1250" b="1" dirty="0">
                <a:solidFill>
                  <a:srgbClr val="6FBF95"/>
                </a:solidFill>
                <a:latin typeface="Calibri" pitchFamily="34" charset="0"/>
                <a:ea typeface="Calibri" pitchFamily="34" charset="-122"/>
                <a:cs typeface="Calibri" pitchFamily="34" charset="-120"/>
              </a:rPr>
              <a:t>→  </a:t>
            </a:r>
            <a:pPr indent="0" marL="0">
              <a:buNone/>
            </a:pPr>
            <a:r>
              <a:rPr lang="en-US" sz="1250" dirty="0">
                <a:solidFill>
                  <a:srgbClr val="6FBF95"/>
                </a:solidFill>
                <a:latin typeface="Calibri" pitchFamily="34" charset="0"/>
                <a:ea typeface="Calibri" pitchFamily="34" charset="-122"/>
                <a:cs typeface="Calibri" pitchFamily="34" charset="-120"/>
              </a:rPr>
              <a:t>Barrière SIL 2 indépendante (interlock câblé)</a:t>
            </a:r>
            <a:endParaRPr lang="en-US" sz="1250" dirty="0"/>
          </a:p>
        </p:txBody>
      </p:sp>
      <p:sp>
        <p:nvSpPr>
          <p:cNvPr id="29" name="Text 27"/>
          <p:cNvSpPr txBox="1"/>
          <p:nvPr/>
        </p:nvSpPr>
        <p:spPr>
          <a:xfrm>
            <a:off x="502920" y="6355080"/>
            <a:ext cx="11155680" cy="274320"/>
          </a:xfrm>
          <a:prstGeom prst="rect">
            <a:avLst/>
          </a:prstGeom>
          <a:noFill/>
          <a:ln/>
        </p:spPr>
        <p:txBody>
          <a:bodyPr wrap="square" lIns="0" tIns="0" rIns="0" bIns="0" rtlCol="0" anchor="ctr"/>
          <a:lstStyle/>
          <a:p>
            <a:pPr indent="0" marL="0">
              <a:buNone/>
            </a:pPr>
            <a:r>
              <a:rPr lang="en-US" sz="950" dirty="0">
                <a:solidFill>
                  <a:srgbClr val="6E7C87"/>
                </a:solidFill>
                <a:latin typeface="Calibri" pitchFamily="34" charset="0"/>
                <a:ea typeface="Calibri" pitchFamily="34" charset="-122"/>
                <a:cs typeface="Calibri" pitchFamily="34" charset="-120"/>
              </a:rPr>
              <a:t>Vulnérabilités · 2/3 — Logiques &amp; logicielles</a:t>
            </a:r>
            <a:pPr indent="0" marL="0">
              <a:buNone/>
            </a:pPr>
            <a:r>
              <a:rPr lang="en-US" sz="950" dirty="0">
                <a:solidFill>
                  <a:srgbClr val="6E7C87"/>
                </a:solidFill>
                <a:latin typeface="Calibri" pitchFamily="34" charset="0"/>
                <a:ea typeface="Calibri" pitchFamily="34" charset="-122"/>
                <a:cs typeface="Calibri" pitchFamily="34" charset="-120"/>
              </a:rPr>
              <a:t>        Chaque carte : le problème, l'effet, le correctif</a:t>
            </a:r>
            <a:endParaRPr lang="en-US" sz="950" dirty="0"/>
          </a:p>
        </p:txBody>
      </p:sp>
      <p:sp>
        <p:nvSpPr>
          <p:cNvPr id="30" name="Shape 28"/>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AA6DC"/>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indent="0" marL="0">
              <a:buNone/>
            </a:pPr>
            <a:r>
              <a:rPr lang="en-US" sz="1100" b="1" spc="200" kern="0" dirty="0">
                <a:solidFill>
                  <a:srgbClr val="5AA6DC"/>
                </a:solidFill>
                <a:latin typeface="Calibri" pitchFamily="34" charset="0"/>
                <a:ea typeface="Calibri" pitchFamily="34" charset="-122"/>
                <a:cs typeface="Calibri" pitchFamily="34" charset="-120"/>
              </a:rPr>
              <a:t>RÉCAP</a:t>
            </a:r>
            <a:pPr indent="0" marL="0">
              <a:buNone/>
            </a:pPr>
            <a:r>
              <a:rPr lang="en-US" sz="1100" spc="200" kern="0" dirty="0">
                <a:solidFill>
                  <a:srgbClr val="6E7C87"/>
                </a:solidFill>
                <a:latin typeface="Calibri" pitchFamily="34" charset="0"/>
                <a:ea typeface="Calibri" pitchFamily="34" charset="-122"/>
                <a:cs typeface="Calibri" pitchFamily="34" charset="-120"/>
              </a:rPr>
              <a:t>   LA CHAÎNE, EN UNE PHRASE</a:t>
            </a:r>
            <a:endParaRPr lang="en-US" sz="1100" dirty="0"/>
          </a:p>
        </p:txBody>
      </p:sp>
      <p:sp>
        <p:nvSpPr>
          <p:cNvPr id="4" name="Text 2"/>
          <p:cNvSpPr txBox="1"/>
          <p:nvPr/>
        </p:nvSpPr>
        <p:spPr>
          <a:xfrm>
            <a:off x="502920" y="786384"/>
            <a:ext cx="11155680" cy="914400"/>
          </a:xfrm>
          <a:prstGeom prst="rect">
            <a:avLst/>
          </a:prstGeom>
          <a:noFill/>
          <a:ln/>
        </p:spPr>
        <p:txBody>
          <a:bodyPr wrap="square" lIns="0" tIns="0" rIns="0" bIns="0" rtlCol="0" anchor="t"/>
          <a:lstStyle/>
          <a:p>
            <a:pPr indent="0" marL="0">
              <a:lnSpc>
                <a:spcPct val="98000"/>
              </a:lnSpc>
              <a:buNone/>
            </a:pPr>
            <a:r>
              <a:rPr lang="en-US" sz="3200" b="1" dirty="0">
                <a:solidFill>
                  <a:srgbClr val="ECF1F5"/>
                </a:solidFill>
                <a:latin typeface="Cambria" pitchFamily="34" charset="0"/>
                <a:ea typeface="Cambria" pitchFamily="34" charset="-122"/>
                <a:cs typeface="Cambria" pitchFamily="34" charset="-120"/>
              </a:rPr>
              <a:t>Chaque maillon coupé casse l'attaque</a:t>
            </a:r>
            <a:endParaRPr lang="en-US" sz="3200" dirty="0"/>
          </a:p>
        </p:txBody>
      </p:sp>
      <p:sp>
        <p:nvSpPr>
          <p:cNvPr id="5" name="Shape 3"/>
          <p:cNvSpPr/>
          <p:nvPr/>
        </p:nvSpPr>
        <p:spPr>
          <a:xfrm>
            <a:off x="502920" y="2148840"/>
            <a:ext cx="2651760" cy="1051560"/>
          </a:xfrm>
          <a:prstGeom prst="roundRect">
            <a:avLst>
              <a:gd name="adj" fmla="val 5217"/>
            </a:avLst>
          </a:prstGeom>
          <a:solidFill>
            <a:srgbClr val="1B242C"/>
          </a:solidFill>
          <a:ln w="12700">
            <a:solidFill>
              <a:srgbClr val="E0A64A"/>
            </a:solidFill>
            <a:prstDash val="solid"/>
          </a:ln>
        </p:spPr>
      </p:sp>
      <p:sp>
        <p:nvSpPr>
          <p:cNvPr id="6" name="Text 4"/>
          <p:cNvSpPr txBox="1"/>
          <p:nvPr/>
        </p:nvSpPr>
        <p:spPr>
          <a:xfrm>
            <a:off x="502920" y="2313432"/>
            <a:ext cx="2651760" cy="365760"/>
          </a:xfrm>
          <a:prstGeom prst="rect">
            <a:avLst/>
          </a:prstGeom>
          <a:noFill/>
          <a:ln/>
        </p:spPr>
        <p:txBody>
          <a:bodyPr wrap="square" lIns="0" tIns="0" rIns="0" bIns="0" rtlCol="0" anchor="ctr"/>
          <a:lstStyle/>
          <a:p>
            <a:pPr algn="ctr" indent="0" marL="0">
              <a:buNone/>
            </a:pPr>
            <a:r>
              <a:rPr lang="en-US" sz="1900" b="1" dirty="0">
                <a:solidFill>
                  <a:srgbClr val="E0A64A"/>
                </a:solidFill>
                <a:latin typeface="Cambria" pitchFamily="34" charset="0"/>
                <a:ea typeface="Cambria" pitchFamily="34" charset="-122"/>
                <a:cs typeface="Cambria" pitchFamily="34" charset="-120"/>
              </a:rPr>
              <a:t>PHYSIQUE</a:t>
            </a:r>
            <a:endParaRPr lang="en-US" sz="1900" dirty="0"/>
          </a:p>
        </p:txBody>
      </p:sp>
      <p:sp>
        <p:nvSpPr>
          <p:cNvPr id="7" name="Text 5"/>
          <p:cNvSpPr txBox="1"/>
          <p:nvPr/>
        </p:nvSpPr>
        <p:spPr>
          <a:xfrm>
            <a:off x="594360" y="2697480"/>
            <a:ext cx="2468880" cy="411480"/>
          </a:xfrm>
          <a:prstGeom prst="rect">
            <a:avLst/>
          </a:prstGeom>
          <a:noFill/>
          <a:ln/>
        </p:spPr>
        <p:txBody>
          <a:bodyPr wrap="square" lIns="0" tIns="0" rIns="0" bIns="0" rtlCol="0" anchor="t"/>
          <a:lstStyle/>
          <a:p>
            <a:pPr algn="ctr" indent="0" marL="0">
              <a:buNone/>
            </a:pPr>
            <a:r>
              <a:rPr lang="en-US" sz="1250" dirty="0">
                <a:solidFill>
                  <a:srgbClr val="9DABB6"/>
                </a:solidFill>
                <a:latin typeface="Calibri" pitchFamily="34" charset="0"/>
                <a:ea typeface="Calibri" pitchFamily="34" charset="-122"/>
                <a:cs typeface="Calibri" pitchFamily="34" charset="-120"/>
              </a:rPr>
              <a:t>accès + mots de passe</a:t>
            </a:r>
            <a:endParaRPr lang="en-US" sz="1250" dirty="0"/>
          </a:p>
        </p:txBody>
      </p:sp>
      <p:sp>
        <p:nvSpPr>
          <p:cNvPr id="8" name="Text 6"/>
          <p:cNvSpPr txBox="1"/>
          <p:nvPr/>
        </p:nvSpPr>
        <p:spPr>
          <a:xfrm>
            <a:off x="3154680" y="2148840"/>
            <a:ext cx="320040" cy="1051560"/>
          </a:xfrm>
          <a:prstGeom prst="rect">
            <a:avLst/>
          </a:prstGeom>
          <a:noFill/>
          <a:ln/>
        </p:spPr>
        <p:txBody>
          <a:bodyPr wrap="square" lIns="0" tIns="0" rIns="0" bIns="0" rtlCol="0" anchor="ctr"/>
          <a:lstStyle/>
          <a:p>
            <a:pPr algn="ctr" indent="0" marL="0">
              <a:buNone/>
            </a:pPr>
            <a:r>
              <a:rPr lang="en-US" sz="2400" b="1" dirty="0">
                <a:solidFill>
                  <a:srgbClr val="6E7C87"/>
                </a:solidFill>
                <a:latin typeface="Cambria" pitchFamily="34" charset="0"/>
                <a:ea typeface="Cambria" pitchFamily="34" charset="-122"/>
                <a:cs typeface="Cambria" pitchFamily="34" charset="-120"/>
              </a:rPr>
              <a:t>→</a:t>
            </a:r>
            <a:endParaRPr lang="en-US" sz="2400" dirty="0"/>
          </a:p>
        </p:txBody>
      </p:sp>
      <p:sp>
        <p:nvSpPr>
          <p:cNvPr id="9" name="Shape 7"/>
          <p:cNvSpPr/>
          <p:nvPr/>
        </p:nvSpPr>
        <p:spPr>
          <a:xfrm>
            <a:off x="3474720" y="2148840"/>
            <a:ext cx="2651760" cy="1051560"/>
          </a:xfrm>
          <a:prstGeom prst="roundRect">
            <a:avLst>
              <a:gd name="adj" fmla="val 5217"/>
            </a:avLst>
          </a:prstGeom>
          <a:solidFill>
            <a:srgbClr val="1B242C"/>
          </a:solidFill>
          <a:ln w="12700">
            <a:solidFill>
              <a:srgbClr val="E4796F"/>
            </a:solidFill>
            <a:prstDash val="solid"/>
          </a:ln>
        </p:spPr>
      </p:sp>
      <p:sp>
        <p:nvSpPr>
          <p:cNvPr id="10" name="Text 8"/>
          <p:cNvSpPr txBox="1"/>
          <p:nvPr/>
        </p:nvSpPr>
        <p:spPr>
          <a:xfrm>
            <a:off x="3474720" y="2313432"/>
            <a:ext cx="2651760" cy="365760"/>
          </a:xfrm>
          <a:prstGeom prst="rect">
            <a:avLst/>
          </a:prstGeom>
          <a:noFill/>
          <a:ln/>
        </p:spPr>
        <p:txBody>
          <a:bodyPr wrap="square" lIns="0" tIns="0" rIns="0" bIns="0" rtlCol="0" anchor="ctr"/>
          <a:lstStyle/>
          <a:p>
            <a:pPr algn="ctr" indent="0" marL="0">
              <a:buNone/>
            </a:pPr>
            <a:r>
              <a:rPr lang="en-US" sz="1900" b="1" dirty="0">
                <a:solidFill>
                  <a:srgbClr val="E4796F"/>
                </a:solidFill>
                <a:latin typeface="Cambria" pitchFamily="34" charset="0"/>
                <a:ea typeface="Cambria" pitchFamily="34" charset="-122"/>
                <a:cs typeface="Cambria" pitchFamily="34" charset="-120"/>
              </a:rPr>
              <a:t>V1 + V3</a:t>
            </a:r>
            <a:endParaRPr lang="en-US" sz="1900" dirty="0"/>
          </a:p>
        </p:txBody>
      </p:sp>
      <p:sp>
        <p:nvSpPr>
          <p:cNvPr id="11" name="Text 9"/>
          <p:cNvSpPr txBox="1"/>
          <p:nvPr/>
        </p:nvSpPr>
        <p:spPr>
          <a:xfrm>
            <a:off x="3566160" y="2697480"/>
            <a:ext cx="2468880" cy="411480"/>
          </a:xfrm>
          <a:prstGeom prst="rect">
            <a:avLst/>
          </a:prstGeom>
          <a:noFill/>
          <a:ln/>
        </p:spPr>
        <p:txBody>
          <a:bodyPr wrap="square" lIns="0" tIns="0" rIns="0" bIns="0" rtlCol="0" anchor="t"/>
          <a:lstStyle/>
          <a:p>
            <a:pPr algn="ctr" indent="0" marL="0">
              <a:buNone/>
            </a:pPr>
            <a:r>
              <a:rPr lang="en-US" sz="1250" dirty="0">
                <a:solidFill>
                  <a:srgbClr val="9DABB6"/>
                </a:solidFill>
                <a:latin typeface="Calibri" pitchFamily="34" charset="0"/>
                <a:ea typeface="Calibri" pitchFamily="34" charset="-122"/>
                <a:cs typeface="Calibri" pitchFamily="34" charset="-120"/>
              </a:rPr>
              <a:t>on atteint l'automate</a:t>
            </a:r>
            <a:endParaRPr lang="en-US" sz="1250" dirty="0"/>
          </a:p>
        </p:txBody>
      </p:sp>
      <p:sp>
        <p:nvSpPr>
          <p:cNvPr id="12" name="Text 10"/>
          <p:cNvSpPr txBox="1"/>
          <p:nvPr/>
        </p:nvSpPr>
        <p:spPr>
          <a:xfrm>
            <a:off x="6126480" y="2148840"/>
            <a:ext cx="320040" cy="1051560"/>
          </a:xfrm>
          <a:prstGeom prst="rect">
            <a:avLst/>
          </a:prstGeom>
          <a:noFill/>
          <a:ln/>
        </p:spPr>
        <p:txBody>
          <a:bodyPr wrap="square" lIns="0" tIns="0" rIns="0" bIns="0" rtlCol="0" anchor="ctr"/>
          <a:lstStyle/>
          <a:p>
            <a:pPr algn="ctr" indent="0" marL="0">
              <a:buNone/>
            </a:pPr>
            <a:r>
              <a:rPr lang="en-US" sz="2400" b="1" dirty="0">
                <a:solidFill>
                  <a:srgbClr val="6E7C87"/>
                </a:solidFill>
                <a:latin typeface="Cambria" pitchFamily="34" charset="0"/>
                <a:ea typeface="Cambria" pitchFamily="34" charset="-122"/>
                <a:cs typeface="Cambria" pitchFamily="34" charset="-120"/>
              </a:rPr>
              <a:t>→</a:t>
            </a:r>
            <a:endParaRPr lang="en-US" sz="2400" dirty="0"/>
          </a:p>
        </p:txBody>
      </p:sp>
      <p:sp>
        <p:nvSpPr>
          <p:cNvPr id="13" name="Shape 11"/>
          <p:cNvSpPr/>
          <p:nvPr/>
        </p:nvSpPr>
        <p:spPr>
          <a:xfrm>
            <a:off x="6446520" y="2148840"/>
            <a:ext cx="2651760" cy="1051560"/>
          </a:xfrm>
          <a:prstGeom prst="roundRect">
            <a:avLst>
              <a:gd name="adj" fmla="val 5217"/>
            </a:avLst>
          </a:prstGeom>
          <a:solidFill>
            <a:srgbClr val="1B242C"/>
          </a:solidFill>
          <a:ln w="12700">
            <a:solidFill>
              <a:srgbClr val="E0A64A"/>
            </a:solidFill>
            <a:prstDash val="solid"/>
          </a:ln>
        </p:spPr>
      </p:sp>
      <p:sp>
        <p:nvSpPr>
          <p:cNvPr id="14" name="Text 12"/>
          <p:cNvSpPr txBox="1"/>
          <p:nvPr/>
        </p:nvSpPr>
        <p:spPr>
          <a:xfrm>
            <a:off x="6446520" y="2313432"/>
            <a:ext cx="2651760" cy="365760"/>
          </a:xfrm>
          <a:prstGeom prst="rect">
            <a:avLst/>
          </a:prstGeom>
          <a:noFill/>
          <a:ln/>
        </p:spPr>
        <p:txBody>
          <a:bodyPr wrap="square" lIns="0" tIns="0" rIns="0" bIns="0" rtlCol="0" anchor="ctr"/>
          <a:lstStyle/>
          <a:p>
            <a:pPr algn="ctr" indent="0" marL="0">
              <a:buNone/>
            </a:pPr>
            <a:r>
              <a:rPr lang="en-US" sz="1900" b="1" dirty="0">
                <a:solidFill>
                  <a:srgbClr val="E0A64A"/>
                </a:solidFill>
                <a:latin typeface="Cambria" pitchFamily="34" charset="0"/>
                <a:ea typeface="Cambria" pitchFamily="34" charset="-122"/>
                <a:cs typeface="Cambria" pitchFamily="34" charset="-120"/>
              </a:rPr>
              <a:t>V7 · V8</a:t>
            </a:r>
            <a:endParaRPr lang="en-US" sz="1900" dirty="0"/>
          </a:p>
        </p:txBody>
      </p:sp>
      <p:sp>
        <p:nvSpPr>
          <p:cNvPr id="15" name="Text 13"/>
          <p:cNvSpPr txBox="1"/>
          <p:nvPr/>
        </p:nvSpPr>
        <p:spPr>
          <a:xfrm>
            <a:off x="6537960" y="2697480"/>
            <a:ext cx="2468880" cy="411480"/>
          </a:xfrm>
          <a:prstGeom prst="rect">
            <a:avLst/>
          </a:prstGeom>
          <a:noFill/>
          <a:ln/>
        </p:spPr>
        <p:txBody>
          <a:bodyPr wrap="square" lIns="0" tIns="0" rIns="0" bIns="0" rtlCol="0" anchor="t"/>
          <a:lstStyle/>
          <a:p>
            <a:pPr algn="ctr" indent="0" marL="0">
              <a:buNone/>
            </a:pPr>
            <a:r>
              <a:rPr lang="en-US" sz="1250" dirty="0">
                <a:solidFill>
                  <a:srgbClr val="9DABB6"/>
                </a:solidFill>
                <a:latin typeface="Calibri" pitchFamily="34" charset="0"/>
                <a:ea typeface="Calibri" pitchFamily="34" charset="-122"/>
                <a:cs typeface="Calibri" pitchFamily="34" charset="-120"/>
              </a:rPr>
              <a:t>personne ne voit rien</a:t>
            </a:r>
            <a:endParaRPr lang="en-US" sz="1250" dirty="0"/>
          </a:p>
        </p:txBody>
      </p:sp>
      <p:sp>
        <p:nvSpPr>
          <p:cNvPr id="16" name="Text 14"/>
          <p:cNvSpPr txBox="1"/>
          <p:nvPr/>
        </p:nvSpPr>
        <p:spPr>
          <a:xfrm>
            <a:off x="9098280" y="2148840"/>
            <a:ext cx="320040" cy="1051560"/>
          </a:xfrm>
          <a:prstGeom prst="rect">
            <a:avLst/>
          </a:prstGeom>
          <a:noFill/>
          <a:ln/>
        </p:spPr>
        <p:txBody>
          <a:bodyPr wrap="square" lIns="0" tIns="0" rIns="0" bIns="0" rtlCol="0" anchor="ctr"/>
          <a:lstStyle/>
          <a:p>
            <a:pPr algn="ctr" indent="0" marL="0">
              <a:buNone/>
            </a:pPr>
            <a:r>
              <a:rPr lang="en-US" sz="2400" b="1" dirty="0">
                <a:solidFill>
                  <a:srgbClr val="6E7C87"/>
                </a:solidFill>
                <a:latin typeface="Cambria" pitchFamily="34" charset="0"/>
                <a:ea typeface="Cambria" pitchFamily="34" charset="-122"/>
                <a:cs typeface="Cambria" pitchFamily="34" charset="-120"/>
              </a:rPr>
              <a:t>→</a:t>
            </a:r>
            <a:endParaRPr lang="en-US" sz="2400" dirty="0"/>
          </a:p>
        </p:txBody>
      </p:sp>
      <p:sp>
        <p:nvSpPr>
          <p:cNvPr id="17" name="Shape 15"/>
          <p:cNvSpPr/>
          <p:nvPr/>
        </p:nvSpPr>
        <p:spPr>
          <a:xfrm>
            <a:off x="9418320" y="2148840"/>
            <a:ext cx="2651760" cy="1051560"/>
          </a:xfrm>
          <a:prstGeom prst="roundRect">
            <a:avLst>
              <a:gd name="adj" fmla="val 5217"/>
            </a:avLst>
          </a:prstGeom>
          <a:solidFill>
            <a:srgbClr val="1B242C"/>
          </a:solidFill>
          <a:ln w="12700">
            <a:solidFill>
              <a:srgbClr val="E4796F"/>
            </a:solidFill>
            <a:prstDash val="solid"/>
          </a:ln>
        </p:spPr>
      </p:sp>
      <p:sp>
        <p:nvSpPr>
          <p:cNvPr id="18" name="Text 16"/>
          <p:cNvSpPr txBox="1"/>
          <p:nvPr/>
        </p:nvSpPr>
        <p:spPr>
          <a:xfrm>
            <a:off x="9418320" y="2313432"/>
            <a:ext cx="2651760" cy="365760"/>
          </a:xfrm>
          <a:prstGeom prst="rect">
            <a:avLst/>
          </a:prstGeom>
          <a:noFill/>
          <a:ln/>
        </p:spPr>
        <p:txBody>
          <a:bodyPr wrap="square" lIns="0" tIns="0" rIns="0" bIns="0" rtlCol="0" anchor="ctr"/>
          <a:lstStyle/>
          <a:p>
            <a:pPr algn="ctr" indent="0" marL="0">
              <a:buNone/>
            </a:pPr>
            <a:r>
              <a:rPr lang="en-US" sz="1900" b="1" dirty="0">
                <a:solidFill>
                  <a:srgbClr val="E4796F"/>
                </a:solidFill>
                <a:latin typeface="Cambria" pitchFamily="34" charset="0"/>
                <a:ea typeface="Cambria" pitchFamily="34" charset="-122"/>
                <a:cs typeface="Cambria" pitchFamily="34" charset="-120"/>
              </a:rPr>
              <a:t>V12</a:t>
            </a:r>
            <a:endParaRPr lang="en-US" sz="1900" dirty="0"/>
          </a:p>
        </p:txBody>
      </p:sp>
      <p:sp>
        <p:nvSpPr>
          <p:cNvPr id="19" name="Text 17"/>
          <p:cNvSpPr txBox="1"/>
          <p:nvPr/>
        </p:nvSpPr>
        <p:spPr>
          <a:xfrm>
            <a:off x="9509760" y="2697480"/>
            <a:ext cx="2468880" cy="411480"/>
          </a:xfrm>
          <a:prstGeom prst="rect">
            <a:avLst/>
          </a:prstGeom>
          <a:noFill/>
          <a:ln/>
        </p:spPr>
        <p:txBody>
          <a:bodyPr wrap="square" lIns="0" tIns="0" rIns="0" bIns="0" rtlCol="0" anchor="t"/>
          <a:lstStyle/>
          <a:p>
            <a:pPr algn="ctr" indent="0" marL="0">
              <a:buNone/>
            </a:pPr>
            <a:r>
              <a:rPr lang="en-US" sz="1250" dirty="0">
                <a:solidFill>
                  <a:srgbClr val="9DABB6"/>
                </a:solidFill>
                <a:latin typeface="Calibri" pitchFamily="34" charset="0"/>
                <a:ea typeface="Calibri" pitchFamily="34" charset="-122"/>
                <a:cs typeface="Calibri" pitchFamily="34" charset="-120"/>
              </a:rPr>
              <a:t>→ explosion</a:t>
            </a:r>
            <a:endParaRPr lang="en-US" sz="1250" dirty="0"/>
          </a:p>
        </p:txBody>
      </p:sp>
      <p:sp>
        <p:nvSpPr>
          <p:cNvPr id="20" name="Shape 18"/>
          <p:cNvSpPr/>
          <p:nvPr/>
        </p:nvSpPr>
        <p:spPr>
          <a:xfrm>
            <a:off x="502920" y="3703320"/>
            <a:ext cx="11155680" cy="1417320"/>
          </a:xfrm>
          <a:prstGeom prst="roundRect">
            <a:avLst>
              <a:gd name="adj" fmla="val 3871"/>
            </a:avLst>
          </a:prstGeom>
          <a:solidFill>
            <a:srgbClr val="222E38"/>
          </a:solidFill>
          <a:ln w="12700">
            <a:solidFill>
              <a:srgbClr val="5AA6DC"/>
            </a:solidFill>
            <a:prstDash val="solid"/>
          </a:ln>
        </p:spPr>
      </p:sp>
      <p:sp>
        <p:nvSpPr>
          <p:cNvPr id="21" name="Text 19"/>
          <p:cNvSpPr txBox="1"/>
          <p:nvPr/>
        </p:nvSpPr>
        <p:spPr>
          <a:xfrm>
            <a:off x="777240" y="3886200"/>
            <a:ext cx="10607040" cy="1051560"/>
          </a:xfrm>
          <a:prstGeom prst="rect">
            <a:avLst/>
          </a:prstGeom>
          <a:noFill/>
          <a:ln/>
        </p:spPr>
        <p:txBody>
          <a:bodyPr wrap="square" lIns="0" tIns="0" rIns="0" bIns="0" rtlCol="0" anchor="ctr"/>
          <a:lstStyle/>
          <a:p>
            <a:pPr indent="0" marL="0">
              <a:lnSpc>
                <a:spcPct val="115000"/>
              </a:lnSpc>
              <a:buNone/>
            </a:pPr>
            <a:r>
              <a:rPr lang="en-US" sz="1600" dirty="0">
                <a:solidFill>
                  <a:srgbClr val="9DABB6"/>
                </a:solidFill>
                <a:latin typeface="Calibri" pitchFamily="34" charset="0"/>
                <a:ea typeface="Calibri" pitchFamily="34" charset="-122"/>
                <a:cs typeface="Calibri" pitchFamily="34" charset="-120"/>
              </a:rPr>
              <a:t>Les failles physiques donnent l'accès et les mots de passe → </a:t>
            </a:r>
            <a:pPr indent="0" marL="0">
              <a:lnSpc>
                <a:spcPct val="115000"/>
              </a:lnSpc>
              <a:buNone/>
            </a:pPr>
            <a:r>
              <a:rPr lang="en-US" sz="1600" b="1" dirty="0">
                <a:solidFill>
                  <a:srgbClr val="ECF1F5"/>
                </a:solidFill>
                <a:latin typeface="Calibri" pitchFamily="34" charset="0"/>
                <a:ea typeface="Calibri" pitchFamily="34" charset="-122"/>
                <a:cs typeface="Calibri" pitchFamily="34" charset="-120"/>
              </a:rPr>
              <a:t>le pare-feu ouvert (V1) et le Modbus en clair (V3)</a:t>
            </a:r>
            <a:pPr indent="0" marL="0">
              <a:lnSpc>
                <a:spcPct val="115000"/>
              </a:lnSpc>
              <a:buNone/>
            </a:pPr>
            <a:r>
              <a:rPr lang="en-US" sz="1600" dirty="0">
                <a:solidFill>
                  <a:srgbClr val="9DABB6"/>
                </a:solidFill>
                <a:latin typeface="Calibri" pitchFamily="34" charset="0"/>
                <a:ea typeface="Calibri" pitchFamily="34" charset="-122"/>
                <a:cs typeface="Calibri" pitchFamily="34" charset="-120"/>
              </a:rPr>
              <a:t> mènent librement à l'automate → </a:t>
            </a:r>
            <a:pPr indent="0" marL="0">
              <a:lnSpc>
                <a:spcPct val="115000"/>
              </a:lnSpc>
              <a:buNone/>
            </a:pPr>
            <a:r>
              <a:rPr lang="en-US" sz="1600" b="1" dirty="0">
                <a:solidFill>
                  <a:srgbClr val="ECF1F5"/>
                </a:solidFill>
                <a:latin typeface="Calibri" pitchFamily="34" charset="0"/>
                <a:ea typeface="Calibri" pitchFamily="34" charset="-122"/>
                <a:cs typeface="Calibri" pitchFamily="34" charset="-120"/>
              </a:rPr>
              <a:t>l'absence de détection (V7·V8)</a:t>
            </a:r>
            <a:pPr indent="0" marL="0">
              <a:lnSpc>
                <a:spcPct val="115000"/>
              </a:lnSpc>
              <a:buNone/>
            </a:pPr>
            <a:r>
              <a:rPr lang="en-US" sz="1600" dirty="0">
                <a:solidFill>
                  <a:srgbClr val="9DABB6"/>
                </a:solidFill>
                <a:latin typeface="Calibri" pitchFamily="34" charset="0"/>
                <a:ea typeface="Calibri" pitchFamily="34" charset="-122"/>
                <a:cs typeface="Calibri" pitchFamily="34" charset="-120"/>
              </a:rPr>
              <a:t> laisse l'attaque passer inaperçue → </a:t>
            </a:r>
            <a:pPr indent="0" marL="0">
              <a:lnSpc>
                <a:spcPct val="115000"/>
              </a:lnSpc>
              <a:buNone/>
            </a:pPr>
            <a:r>
              <a:rPr lang="en-US" sz="1600" b="1" dirty="0">
                <a:solidFill>
                  <a:srgbClr val="ECF1F5"/>
                </a:solidFill>
                <a:latin typeface="Calibri" pitchFamily="34" charset="0"/>
                <a:ea typeface="Calibri" pitchFamily="34" charset="-122"/>
                <a:cs typeface="Calibri" pitchFamily="34" charset="-120"/>
              </a:rPr>
              <a:t>l'absence de barrière (V12)</a:t>
            </a:r>
            <a:pPr indent="0" marL="0">
              <a:lnSpc>
                <a:spcPct val="115000"/>
              </a:lnSpc>
              <a:buNone/>
            </a:pPr>
            <a:r>
              <a:rPr lang="en-US" sz="1600" dirty="0">
                <a:solidFill>
                  <a:srgbClr val="9DABB6"/>
                </a:solidFill>
                <a:latin typeface="Calibri" pitchFamily="34" charset="0"/>
                <a:ea typeface="Calibri" pitchFamily="34" charset="-122"/>
                <a:cs typeface="Calibri" pitchFamily="34" charset="-120"/>
              </a:rPr>
              <a:t> transforme la prise de contrôle en explosion.</a:t>
            </a:r>
            <a:endParaRPr lang="en-US" sz="1600" dirty="0"/>
          </a:p>
        </p:txBody>
      </p:sp>
      <p:sp>
        <p:nvSpPr>
          <p:cNvPr id="22" name="Text 20"/>
          <p:cNvSpPr txBox="1"/>
          <p:nvPr/>
        </p:nvSpPr>
        <p:spPr>
          <a:xfrm>
            <a:off x="502920" y="5440680"/>
            <a:ext cx="11155680" cy="457200"/>
          </a:xfrm>
          <a:prstGeom prst="rect">
            <a:avLst/>
          </a:prstGeom>
          <a:noFill/>
          <a:ln/>
        </p:spPr>
        <p:txBody>
          <a:bodyPr wrap="square" lIns="0" tIns="0" rIns="0" bIns="0" rtlCol="0" anchor="ctr"/>
          <a:lstStyle/>
          <a:p>
            <a:pPr indent="0" marL="0">
              <a:buNone/>
            </a:pPr>
            <a:r>
              <a:rPr lang="en-US" sz="1400" b="1" i="1" dirty="0">
                <a:solidFill>
                  <a:srgbClr val="6FBF95"/>
                </a:solidFill>
                <a:latin typeface="Calibri" pitchFamily="34" charset="0"/>
                <a:ea typeface="Calibri" pitchFamily="34" charset="-122"/>
                <a:cs typeface="Calibri" pitchFamily="34" charset="-120"/>
              </a:rPr>
              <a:t>La barrière V12 est le dernier rempart : </a:t>
            </a:r>
            <a:pPr indent="0" marL="0">
              <a:buNone/>
            </a:pPr>
            <a:r>
              <a:rPr lang="en-US" sz="1400" i="1" dirty="0">
                <a:solidFill>
                  <a:srgbClr val="9DABB6"/>
                </a:solidFill>
                <a:latin typeface="Calibri" pitchFamily="34" charset="0"/>
                <a:ea typeface="Calibri" pitchFamily="34" charset="-122"/>
                <a:cs typeface="Calibri" pitchFamily="34" charset="-120"/>
              </a:rPr>
              <a:t>elle arrête le procédé même si tout le numérique est compromis.</a:t>
            </a:r>
            <a:endParaRPr lang="en-US" sz="1400" dirty="0"/>
          </a:p>
        </p:txBody>
      </p:sp>
      <p:sp>
        <p:nvSpPr>
          <p:cNvPr id="23" name="Text 21"/>
          <p:cNvSpPr txBox="1"/>
          <p:nvPr/>
        </p:nvSpPr>
        <p:spPr>
          <a:xfrm>
            <a:off x="502920" y="6355080"/>
            <a:ext cx="11155680" cy="274320"/>
          </a:xfrm>
          <a:prstGeom prst="rect">
            <a:avLst/>
          </a:prstGeom>
          <a:noFill/>
          <a:ln/>
        </p:spPr>
        <p:txBody>
          <a:bodyPr wrap="square" lIns="0" tIns="0" rIns="0" bIns="0" rtlCol="0" anchor="ctr"/>
          <a:lstStyle/>
          <a:p>
            <a:pPr indent="0" marL="0">
              <a:buNone/>
            </a:pPr>
            <a:r>
              <a:rPr lang="en-US" sz="950" dirty="0">
                <a:solidFill>
                  <a:srgbClr val="6E7C87"/>
                </a:solidFill>
                <a:latin typeface="Calibri" pitchFamily="34" charset="0"/>
                <a:ea typeface="Calibri" pitchFamily="34" charset="-122"/>
                <a:cs typeface="Calibri" pitchFamily="34" charset="-120"/>
              </a:rPr>
              <a:t>Vulnérabilités · 3/3 — Récap</a:t>
            </a:r>
            <a:pPr indent="0" marL="0">
              <a:buNone/>
            </a:pPr>
            <a:r>
              <a:rPr lang="en-US" sz="950" dirty="0">
                <a:solidFill>
                  <a:srgbClr val="6E7C87"/>
                </a:solidFill>
                <a:latin typeface="Calibri" pitchFamily="34" charset="0"/>
                <a:ea typeface="Calibri" pitchFamily="34" charset="-122"/>
                <a:cs typeface="Calibri" pitchFamily="34" charset="-120"/>
              </a:rPr>
              <a:t>        Physique → réseau → détection → sûreté</a:t>
            </a:r>
            <a:endParaRPr lang="en-US" sz="950" dirty="0"/>
          </a:p>
        </p:txBody>
      </p:sp>
      <p:sp>
        <p:nvSpPr>
          <p:cNvPr id="24" name="Shape 22"/>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2026-09-21T10:46:57Z</dcterms:created>
  <dcterms:modified xsi:type="dcterms:W3CDTF">2026-09-21T10:46:57Z</dcterms:modified>
</cp:coreProperties>
</file>