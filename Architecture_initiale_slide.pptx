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l'architecture de l'usine telle que nous l'avons trouvée. Deux zones : la DMZ côté bureaux en 192.168.90, et la zone industrielle ICS en 192.168.95. Entre les deux, un pare-feu dont la règle est ACCEPT ALL : il laisse absolument tout passer, donc la séparation n'existe que sur le schéma. L'IHM pilote l'automate en Modbus TCP à travers ce pare-feu. L'automate interroge ensuite les six entrées-sorties déportées, dont le réacteur en .95.14. Et le poste d'ingénierie dépose le programme dans l'automate par une simple interface web en HTTP — c'est par là qu'est passé notre sabotage.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4796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/3</a:t>
            </a:r>
            <a:pPr indent="0" marL="0">
              <a:buNone/>
            </a:pPr>
            <a:r>
              <a:rPr lang="en-US" sz="1100" spc="200" kern="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ARCHITECTURE INITIALE — MACHINES, PROTOCOLES, PORTS, ZONES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C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L'usine avant durcissement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1261872"/>
          </a:xfrm>
          <a:prstGeom prst="rect">
            <a:avLst/>
          </a:prstGeom>
          <a:solidFill>
            <a:srgbClr val="0B1116"/>
          </a:solidFill>
          <a:ln w="19050">
            <a:solidFill>
              <a:srgbClr val="5AA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1371600" cy="274320"/>
          </a:xfrm>
          <a:prstGeom prst="rect">
            <a:avLst/>
          </a:prstGeom>
          <a:solidFill>
            <a:srgbClr val="5AA6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609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6093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192.168.90.0/24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4206240" cy="868680"/>
          </a:xfrm>
          <a:prstGeom prst="rect">
            <a:avLst/>
          </a:prstGeom>
          <a:solidFill>
            <a:srgbClr val="1B242C"/>
          </a:solidFill>
          <a:ln w="15875">
            <a:solidFill>
              <a:srgbClr val="ECF1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9293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IHM Scada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67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192.168.90.107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68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8080   ·   Modbus / TCP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551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· alarmes · consignes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2926080" cy="502920"/>
          </a:xfrm>
          <a:prstGeom prst="rect">
            <a:avLst/>
          </a:prstGeom>
          <a:solidFill>
            <a:srgbClr val="1B242C"/>
          </a:solidFill>
          <a:ln w="15875">
            <a:solidFill>
              <a:srgbClr val="ECF1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19293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Kali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167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192.168.90.6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1929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opérateur &amp; navigateurs  ·  tout en HTTP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395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 DMZ : 192.168.90.200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971800"/>
            <a:ext cx="11155680" cy="658368"/>
          </a:xfrm>
          <a:prstGeom prst="rect">
            <a:avLst/>
          </a:prstGeom>
          <a:solidFill>
            <a:srgbClr val="2A1614"/>
          </a:solidFill>
          <a:ln w="22225">
            <a:solidFill>
              <a:srgbClr val="E479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05409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/ Routeur  —  192.168.90.200  ·  192.168.95.200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31927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ACCEPT ALL   (laisse tout passer)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767328"/>
            <a:ext cx="11155680" cy="2340864"/>
          </a:xfrm>
          <a:prstGeom prst="rect">
            <a:avLst/>
          </a:prstGeom>
          <a:solidFill>
            <a:srgbClr val="0B1116"/>
          </a:solidFill>
          <a:ln w="19050">
            <a:solidFill>
              <a:srgbClr val="5AA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67328"/>
            <a:ext cx="1371600" cy="274320"/>
          </a:xfrm>
          <a:prstGeom prst="rect">
            <a:avLst/>
          </a:prstGeom>
          <a:solidFill>
            <a:srgbClr val="5AA6D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3803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192.168.95.0/24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096512"/>
            <a:ext cx="3291840" cy="960120"/>
          </a:xfrm>
          <a:prstGeom prst="rect">
            <a:avLst/>
          </a:prstGeom>
          <a:solidFill>
            <a:srgbClr val="1B242C"/>
          </a:solidFill>
          <a:ln w="15875">
            <a:solidFill>
              <a:srgbClr val="ECF1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1513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PLC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389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192.168.95.2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5902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/ TCP (502)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773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HTTP 8080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5394960"/>
            <a:ext cx="3291840" cy="502920"/>
          </a:xfrm>
          <a:prstGeom prst="rect">
            <a:avLst/>
          </a:prstGeom>
          <a:solidFill>
            <a:srgbClr val="1B242C"/>
          </a:solidFill>
          <a:ln w="15875">
            <a:solidFill>
              <a:srgbClr val="ECF1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449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Ingénierie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6784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192.168.95.5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4096512"/>
            <a:ext cx="4023360" cy="1874520"/>
          </a:xfrm>
          <a:prstGeom prst="rect">
            <a:avLst/>
          </a:prstGeom>
          <a:solidFill>
            <a:srgbClr val="222E38"/>
          </a:solidFill>
          <a:ln w="15875">
            <a:solidFill>
              <a:srgbClr val="ECF1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0560" y="4151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S déportées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48056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.95.10  —  Alim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46817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.95.11  —  Alim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480560" y="49194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.95.12  —  Vanne de purge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5157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.95.13  —  Soutirage / Produit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5394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4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.95.14  —  Réacteur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480560" y="5632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DA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.95.15  —  Analyser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641080" y="41513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0-1-2 sur un même réseau plat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641080" y="4617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4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authentification sur le Modbus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641080" y="508406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esclave 247  ·  port 502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2743200"/>
            <a:ext cx="0" cy="228600"/>
          </a:xfrm>
          <a:prstGeom prst="line">
            <a:avLst/>
          </a:prstGeom>
          <a:noFill/>
          <a:ln w="22225">
            <a:solidFill>
              <a:srgbClr val="5AA6DC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291840" y="3630168"/>
            <a:ext cx="0" cy="466344"/>
          </a:xfrm>
          <a:prstGeom prst="line">
            <a:avLst/>
          </a:prstGeom>
          <a:noFill/>
          <a:ln w="22225">
            <a:solidFill>
              <a:srgbClr val="5AA6DC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429000" y="2752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/ TCP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977640" y="4553712"/>
            <a:ext cx="365760" cy="0"/>
          </a:xfrm>
          <a:prstGeom prst="line">
            <a:avLst/>
          </a:prstGeom>
          <a:noFill/>
          <a:ln w="22225">
            <a:solidFill>
              <a:srgbClr val="5AA6DC"/>
            </a:solidFill>
            <a:prstDash val="solid"/>
            <a:headEnd type="triangle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3913632" y="43159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828800" y="5056632"/>
            <a:ext cx="0" cy="338328"/>
          </a:xfrm>
          <a:prstGeom prst="line">
            <a:avLst/>
          </a:prstGeom>
          <a:noFill/>
          <a:ln w="19050">
            <a:solidFill>
              <a:srgbClr val="5AA6DC"/>
            </a:solidFill>
            <a:prstDash val="dash"/>
            <a:headEnd type="triangle"/>
          </a:ln>
        </p:spPr>
      </p:sp>
      <p:sp>
        <p:nvSpPr>
          <p:cNvPr id="51" name="Text 49"/>
          <p:cNvSpPr txBox="1"/>
          <p:nvPr/>
        </p:nvSpPr>
        <p:spPr>
          <a:xfrm>
            <a:off x="1965960" y="5138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dépôt du programme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initiale — schéma</a:t>
            </a:r>
            <a:pPr indent="0" marL="0">
              <a:buNone/>
            </a:pPr>
            <a:r>
              <a:rPr lang="en-US" sz="95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L'IHM pilote l'automate en Modbus à travers un pare-feu qui laisse tout passer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313D4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2026-09-21T13:12:11Z</dcterms:created>
  <dcterms:modified xsi:type="dcterms:W3CDTF">2026-09-21T13:12:11Z</dcterms:modified>
</cp:coreProperties>
</file>